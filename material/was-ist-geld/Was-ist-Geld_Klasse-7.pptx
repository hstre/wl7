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790688" y="1298448"/>
            <a:ext cx="3566160" cy="3566160"/>
          </a:xfrm>
          <a:prstGeom prst="ellipse">
            <a:avLst/>
          </a:prstGeom>
          <a:ln w="19050">
            <a:solidFill>
              <a:srgbClr val="2B4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1847088"/>
            <a:ext cx="2468880" cy="2468880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339328" y="184708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</a:t>
            </a:r>
            <a:endParaRPr lang="en-US" sz="9200" dirty="0"/>
          </a:p>
        </p:txBody>
      </p:sp>
      <p:sp>
        <p:nvSpPr>
          <p:cNvPr id="7" name="Shape 5"/>
          <p:cNvSpPr/>
          <p:nvPr/>
        </p:nvSpPr>
        <p:spPr>
          <a:xfrm>
            <a:off x="10332720" y="4315968"/>
            <a:ext cx="1188720" cy="1188720"/>
          </a:xfrm>
          <a:prstGeom prst="ellipse">
            <a:avLst/>
          </a:prstGeom>
          <a:solidFill>
            <a:srgbClr val="E7B8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0" y="431596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7589520" y="4206240"/>
            <a:ext cx="914400" cy="914400"/>
          </a:xfrm>
          <a:prstGeom prst="ellipse">
            <a:avLst/>
          </a:prstGeom>
          <a:solidFill>
            <a:srgbClr val="1B2B40"/>
          </a:solidFill>
          <a:ln w="15875">
            <a:solidFill>
              <a:srgbClr val="2A3C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0" y="4206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9601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8C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WIRTSCHAFT · BERUF · KLASSE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141732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eigentlich Geld?</a:t>
            </a:r>
            <a:endParaRPr lang="en-US" sz="50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alles, womit man bezahlen kann, ist Geld.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66928" y="4553712"/>
            <a:ext cx="3977640" cy="603504"/>
          </a:xfrm>
          <a:prstGeom prst="roundRect">
            <a:avLst>
              <a:gd name="adj" fmla="val 50000"/>
            </a:avLst>
          </a:prstGeom>
          <a:ln w="15875">
            <a:solidFill>
              <a:srgbClr val="28C69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55371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C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gemeinsame Entdeckungsreise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GELD?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davon ist Geld?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Entscheidet zuerst allein – dann vergleicht ihr zu zweit.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49528" y="1874520"/>
            <a:ext cx="969264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pic>
        <p:nvPicPr>
          <p:cNvPr id="8" name="Image 0" descr="/home/user/WL7/assets/money-obje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13536" y="1938528"/>
            <a:ext cx="9564624" cy="35295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4647" y="56784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Euro-Schein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981023" y="56784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15534" y="56784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063283" y="56784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885499" y="56784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Gutschein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TAUSCH ZUM GELD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Direkter Tausch: ein schwieriger Zufall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977640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331720"/>
            <a:ext cx="566928" cy="566928"/>
          </a:xfrm>
          <a:prstGeom prst="ellipse">
            <a:avLst/>
          </a:prstGeom>
          <a:solidFill>
            <a:srgbClr val="E7F8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7840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1729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566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Äpfel.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möchte Schuhe.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47127" y="1874520"/>
            <a:ext cx="3977640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8607" y="2331720"/>
            <a:ext cx="566928" cy="566928"/>
          </a:xfrm>
          <a:prstGeom prst="ellipse">
            <a:avLst/>
          </a:prstGeom>
          <a:solidFill>
            <a:srgbClr val="E7F8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58607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058607" y="31729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Noah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058607" y="3566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Schuhe.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möchte keine Äpfel.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84368" y="2478024"/>
            <a:ext cx="822960" cy="822960"/>
          </a:xfrm>
          <a:prstGeom prst="ellipse">
            <a:avLst/>
          </a:prstGeom>
          <a:solidFill>
            <a:srgbClr val="FAE8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84368" y="24780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3538728"/>
            <a:ext cx="25722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BF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Tausch</a:t>
            </a:r>
            <a:endParaRPr lang="en-US" sz="1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BF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scheitert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0D17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Wünsche müssten gleichzeitig zusammenpassen.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TAUSCH ZUM GELD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 steht dazwischen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401568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0976" y="2377440"/>
            <a:ext cx="530352" cy="530352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0976" y="2377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3558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gibt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68503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Äpfel ab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3995928" y="3040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71416" y="1874520"/>
            <a:ext cx="3401568" cy="2788920"/>
          </a:xfrm>
          <a:prstGeom prst="roundRect">
            <a:avLst>
              <a:gd name="adj" fmla="val 5246"/>
            </a:avLst>
          </a:prstGeom>
          <a:solidFill>
            <a:srgbClr val="E7F8F3"/>
          </a:solidFill>
          <a:ln w="15875">
            <a:solidFill>
              <a:srgbClr val="28C69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55464" y="2377440"/>
            <a:ext cx="530352" cy="530352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2377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855464" y="33558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erhält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55464" y="368503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7900416" y="3040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375904" y="1874520"/>
            <a:ext cx="3401568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59952" y="2377440"/>
            <a:ext cx="530352" cy="530352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59952" y="2377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2" y="33558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kauft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2" y="368503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Schuhe</a:t>
            </a:r>
            <a:endParaRPr lang="en-US" sz="2500" dirty="0"/>
          </a:p>
        </p:txBody>
      </p:sp>
      <p:sp>
        <p:nvSpPr>
          <p:cNvPr id="23" name="Shape 21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E7F8F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und der zweite Tausch müssen nicht gleichzeitig stattfinden.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8C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KERN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Darum: Zwischentauschmittel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 wird nicht genommen, weil man es verbrauchen will.</a:t>
            </a:r>
            <a:endParaRPr lang="en-US" sz="2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8C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nimmt es, um es später wieder einzutauschen.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3703320"/>
            <a:ext cx="3401568" cy="1325880"/>
          </a:xfrm>
          <a:prstGeom prst="roundRect">
            <a:avLst>
              <a:gd name="adj" fmla="val 11034"/>
            </a:avLst>
          </a:prstGeom>
          <a:solidFill>
            <a:srgbClr val="1B2B40"/>
          </a:solidFill>
          <a:ln w="12700">
            <a:solidFill>
              <a:srgbClr val="2A3C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2889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 oder Arbeit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995928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C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71416" y="3703320"/>
            <a:ext cx="3401568" cy="1325880"/>
          </a:xfrm>
          <a:prstGeom prst="roundRect">
            <a:avLst>
              <a:gd name="adj" fmla="val 11034"/>
            </a:avLst>
          </a:prstGeom>
          <a:solidFill>
            <a:srgbClr val="28C6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27448" y="3703320"/>
            <a:ext cx="2889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900416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C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375904" y="3703320"/>
            <a:ext cx="3401568" cy="1325880"/>
          </a:xfrm>
          <a:prstGeom prst="roundRect">
            <a:avLst>
              <a:gd name="adj" fmla="val 11034"/>
            </a:avLst>
          </a:prstGeom>
          <a:solidFill>
            <a:srgbClr val="1B2B40"/>
          </a:solidFill>
          <a:ln w="12700">
            <a:solidFill>
              <a:srgbClr val="2A3C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31936" y="3703320"/>
            <a:ext cx="2889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 oder Dienstleistung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1324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beiden Tauschvorgängen darf Zeit vergehen.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DEFINITION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Geldprobe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Prüffragen entscheiden, ob etwas Geld ist.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49240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2071116"/>
            <a:ext cx="457200" cy="457200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20711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1874520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Staatlicher Währung zugeordnet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2784" y="1874520"/>
            <a:ext cx="5349240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65392" y="2071116"/>
            <a:ext cx="457200" cy="457200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65392" y="20711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87184" y="1874520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Allgemein anerkannt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2944368"/>
            <a:ext cx="5349240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3140964"/>
            <a:ext cx="457200" cy="457200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3140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2944368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Erzeugung geregelt und knapp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72784" y="2944368"/>
            <a:ext cx="5349240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3140964"/>
            <a:ext cx="457200" cy="457200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3140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2944368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Teilbar und stückelbar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" y="4014216"/>
            <a:ext cx="5349240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9536" y="4210812"/>
            <a:ext cx="457200" cy="457200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9536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4014216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 übertragbar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72784" y="4014216"/>
            <a:ext cx="5349240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65392" y="4210812"/>
            <a:ext cx="457200" cy="457200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65392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187184" y="4014216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 Wertaufbewahrung geeignet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6928" y="5084064"/>
            <a:ext cx="5349240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9536" y="5280660"/>
            <a:ext cx="457200" cy="457200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9536" y="528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481328" y="5084064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Recheneinheit und Wertmaßstab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72784" y="5084064"/>
            <a:ext cx="5349240" cy="850392"/>
          </a:xfrm>
          <a:prstGeom prst="roundRect">
            <a:avLst>
              <a:gd name="adj" fmla="val 15054"/>
            </a:avLst>
          </a:prstGeom>
          <a:solidFill>
            <a:srgbClr val="E7F8F3"/>
          </a:solidFill>
          <a:ln w="15875">
            <a:solidFill>
              <a:srgbClr val="28C69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65392" y="5280660"/>
            <a:ext cx="457200" cy="457200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65392" y="5280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187184" y="5084064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Zwischentauschmittel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ENTSCHEIDENDE REGEL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Bedingungen müssen gelten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acht Bedingungen sind UND-verknüpft – sie gelten nur gemeinsam.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11057839" cy="1234440"/>
          </a:xfrm>
          <a:prstGeom prst="roundRect">
            <a:avLst>
              <a:gd name="adj" fmla="val 11852"/>
            </a:avLst>
          </a:prstGeom>
          <a:solidFill>
            <a:srgbClr val="FAE8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" y="2212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Siebenmal Ja und einmal Nein?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24128" y="2651760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600200" y="2651760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0020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176272" y="2651760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76272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752344" y="2651760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52344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328416" y="2651760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28416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904488" y="2651760"/>
            <a:ext cx="420624" cy="420624"/>
          </a:xfrm>
          <a:prstGeom prst="ellipse">
            <a:avLst/>
          </a:prstGeom>
          <a:solidFill>
            <a:srgbClr val="BF44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90448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480560" y="2651760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8056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056632" y="2651760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56632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74243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259689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F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Geld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66928" y="3529584"/>
            <a:ext cx="11057839" cy="1234440"/>
          </a:xfrm>
          <a:prstGeom prst="roundRect">
            <a:avLst>
              <a:gd name="adj" fmla="val 11852"/>
            </a:avLst>
          </a:prstGeom>
          <a:solidFill>
            <a:srgbClr val="E7F8F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24128" y="3685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Achtmal Ja?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24128" y="4123944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4128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600200" y="4123944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60020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2176272" y="4123944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176272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2752344" y="4123944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752344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328416" y="4123944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328416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3904488" y="4123944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904488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4480560" y="4123944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48056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5056632" y="4123944"/>
            <a:ext cx="420624" cy="420624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056632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5742432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6309360" y="406908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0D172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Merkmal allein reicht niemals aus.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GELDPROBE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630936"/>
            <a:ext cx="603504" cy="603504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630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64008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Einer staatlichen Währung zugeordnet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3246120" cy="2788920"/>
          </a:xfrm>
          <a:prstGeom prst="roundRect">
            <a:avLst>
              <a:gd name="adj" fmla="val 5902"/>
            </a:avLst>
          </a:prstGeom>
          <a:solidFill>
            <a:srgbClr val="0D17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011680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28C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</a:t>
            </a:r>
            <a:endParaRPr lang="en-US" sz="1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0233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· Währung der EU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97096" y="1874520"/>
            <a:ext cx="74276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Euro gehört zur Währungsordnung des Staatenbundes EU.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97096" y="2971800"/>
            <a:ext cx="7427671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81144" y="2971800"/>
            <a:ext cx="6659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Bargeld und Giralgeld lauten beide auf Euro.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197096" y="4069080"/>
            <a:ext cx="74276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der Gegenstand entscheidet – sondern seine Einordnung in die Währung.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E7F8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staatliche Währung fehlt die erste Bedingung.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GELDPROBE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630936"/>
            <a:ext cx="603504" cy="603504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630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64008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Allgemein anerkannt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5394960" cy="2788920"/>
          </a:xfrm>
          <a:prstGeom prst="roundRect">
            <a:avLst>
              <a:gd name="adj" fmla="val 5902"/>
            </a:avLst>
          </a:prstGeom>
          <a:solidFill>
            <a:srgbClr val="0D17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8408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8C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DENKEN ALLE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69748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nehme es an,</a:t>
            </a:r>
            <a:endParaRPr lang="en-US" sz="2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weil ich weiß:</a:t>
            </a:r>
            <a:endParaRPr lang="en-US" sz="2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nehmen es auch an.“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345936" y="1874520"/>
            <a:ext cx="5278831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29984" y="1874520"/>
            <a:ext cx="451073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D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Ladengutschein gilt nur in wenigen Geschäften.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45936" y="3364992"/>
            <a:ext cx="5278831" cy="1298448"/>
          </a:xfrm>
          <a:prstGeom prst="roundRect">
            <a:avLst>
              <a:gd name="adj" fmla="val 9859"/>
            </a:avLst>
          </a:prstGeom>
          <a:solidFill>
            <a:srgbClr val="FAE8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9984" y="3364992"/>
            <a:ext cx="451073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BF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Darum ist ein Gutschein kein allgemein anerkanntes Geld.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0D17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Anerkennung entsteht aus der Erwartung, dass auch alle anderen annehmen.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GELDPROBE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630936"/>
            <a:ext cx="603504" cy="603504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630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64008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Erzeugung geregelt und knapp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7452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Könnte jeder beliebig neues Geld erzeugen,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würde niemand mehr darauf vertrauen.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161727" y="1737360"/>
            <a:ext cx="1463040" cy="1463040"/>
          </a:xfrm>
          <a:prstGeom prst="ellipse">
            <a:avLst/>
          </a:prstGeom>
          <a:solidFill>
            <a:srgbClr val="FBF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61727" y="1737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A6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566928" y="3429000"/>
            <a:ext cx="5336896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50976" y="361188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Knapp heißt nicht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3950208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nur wenig.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87872" y="3429000"/>
            <a:ext cx="5336896" cy="1234440"/>
          </a:xfrm>
          <a:prstGeom prst="roundRect">
            <a:avLst>
              <a:gd name="adj" fmla="val 10370"/>
            </a:avLst>
          </a:prstGeom>
          <a:solidFill>
            <a:srgbClr val="E7F8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1920" y="361188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Knapp heißt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1920" y="3950208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Erzeugung ist begrenzt und geregelt.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FBF0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Fälschungssicherheit schützt diese geregelte Knappheit.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GELDPROBE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630936"/>
            <a:ext cx="603504" cy="603504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630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4·5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64008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Teilbar und leicht übertragbar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5336896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2240280"/>
            <a:ext cx="530352" cy="530352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" y="2240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64208" y="2240280"/>
            <a:ext cx="382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Teilbar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78408" y="3044952"/>
            <a:ext cx="4513936" cy="694944"/>
          </a:xfrm>
          <a:prstGeom prst="roundRect">
            <a:avLst>
              <a:gd name="adj" fmla="val 15789"/>
            </a:avLst>
          </a:prstGeom>
          <a:solidFill>
            <a:srgbClr val="E7F8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52728" y="3044952"/>
            <a:ext cx="396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Euro = 100 Cent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3931920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kleine Preise können bezahlt werden.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7872" y="1874520"/>
            <a:ext cx="5336896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99352" y="2240280"/>
            <a:ext cx="530352" cy="530352"/>
          </a:xfrm>
          <a:prstGeom prst="ellipse">
            <a:avLst/>
          </a:prstGeom>
          <a:solidFill>
            <a:srgbClr val="E7B8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9352" y="2240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385152" y="2240280"/>
            <a:ext cx="382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Übertragbar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699352" y="3044952"/>
            <a:ext cx="4513936" cy="694944"/>
          </a:xfrm>
          <a:prstGeom prst="roundRect">
            <a:avLst>
              <a:gd name="adj" fmla="val 15789"/>
            </a:avLst>
          </a:prstGeom>
          <a:solidFill>
            <a:srgbClr val="FBF0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73672" y="3044952"/>
            <a:ext cx="396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oder digital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699352" y="3931920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kann den Besitzer leicht wechseln.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0D172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Beides erleichtert den Tausch.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GELDPROBE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630936"/>
            <a:ext cx="603504" cy="603504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630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64008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 Wertaufbewahrung geeignet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66928" y="2057400"/>
            <a:ext cx="3017520" cy="1920240"/>
          </a:xfrm>
          <a:prstGeom prst="roundRect">
            <a:avLst>
              <a:gd name="adj" fmla="val 7619"/>
            </a:avLst>
          </a:prstGeom>
          <a:solidFill>
            <a:srgbClr val="0D17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057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607247" y="2057400"/>
            <a:ext cx="3017520" cy="1920240"/>
          </a:xfrm>
          <a:prstGeom prst="roundRect">
            <a:avLst>
              <a:gd name="adj" fmla="val 7619"/>
            </a:avLst>
          </a:prstGeom>
          <a:solidFill>
            <a:srgbClr val="28C6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07247" y="2057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50" kern="0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SPÄTER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950208" y="2624328"/>
            <a:ext cx="4291279" cy="78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24528" y="2624328"/>
            <a:ext cx="37426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 kann zwischen beiden Tauschen liegen.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168335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315968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zweite Tausch muss nicht sofort folgen – der Wert bleibt bis dahin erhalten.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FBF0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Aber: Inflation kann die Kaufkraft verringern.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GELDPROBE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630936"/>
            <a:ext cx="603504" cy="603504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630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64008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Recheneinheit und Wertmaßstab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1051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gemeinsame Einheit macht ganz verschiedene Dinge vergleichbar.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3429914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50976" y="2834640"/>
            <a:ext cx="2661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38328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3,50 €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4380890" y="2331720"/>
            <a:ext cx="3429914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64938" y="2834640"/>
            <a:ext cx="2661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Kinokarte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64938" y="338328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12,00 €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8194853" y="2331720"/>
            <a:ext cx="3429914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578901" y="2834640"/>
            <a:ext cx="2661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Schuhe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78901" y="338328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80,00 €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0D17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Preise werden berechnet, verglichen und zusammengezählt.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GELDPROBE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630936"/>
            <a:ext cx="603504" cy="603504"/>
          </a:xfrm>
          <a:prstGeom prst="ellipse">
            <a:avLst/>
          </a:prstGeom>
          <a:solidFill>
            <a:srgbClr val="0D17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630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64008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Zwischentauschmittel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3401568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1248" y="1874520"/>
            <a:ext cx="28529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Leistung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oder Ware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995928" y="3040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71416" y="1874520"/>
            <a:ext cx="3401568" cy="2788920"/>
          </a:xfrm>
          <a:prstGeom prst="roundRect">
            <a:avLst>
              <a:gd name="adj" fmla="val 5246"/>
            </a:avLst>
          </a:prstGeom>
          <a:solidFill>
            <a:srgbClr val="28C6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45736" y="1874520"/>
            <a:ext cx="28529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900416" y="3040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D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375904" y="1874520"/>
            <a:ext cx="3401568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50224" y="1874520"/>
            <a:ext cx="28529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Ware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oder Leistung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0D17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 überbrückt Zeit, Ort und unterschiedliche Wünsche.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prüfen: Geld oder nicht?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Begründet jede Entscheidung mit der fehlenden Eigenschaft.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0D17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8105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Gegenstand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28616" y="1810512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D17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02936" y="1810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9984" y="1810512"/>
            <a:ext cx="4894783" cy="457200"/>
          </a:xfrm>
          <a:prstGeom prst="roundRect">
            <a:avLst>
              <a:gd name="adj" fmla="val 20000"/>
            </a:avLst>
          </a:prstGeom>
          <a:solidFill>
            <a:srgbClr val="0D17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04304" y="1810512"/>
            <a:ext cx="43461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Begründung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2395728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Euro-Banknote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28616" y="2395728"/>
            <a:ext cx="16002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928616" y="239572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29984" y="2395728"/>
            <a:ext cx="4894783" cy="512064"/>
          </a:xfrm>
          <a:prstGeom prst="roundRect">
            <a:avLst>
              <a:gd name="adj" fmla="val 17857"/>
            </a:avLst>
          </a:prstGeom>
          <a:ln w="15875">
            <a:solidFill>
              <a:srgbClr val="DD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04304" y="2395728"/>
            <a:ext cx="43461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eintragen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017520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" y="3017520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Guthaben auf dem Girokonto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28616" y="3017520"/>
            <a:ext cx="16002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928616" y="301752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29984" y="3017520"/>
            <a:ext cx="4894783" cy="512064"/>
          </a:xfrm>
          <a:prstGeom prst="roundRect">
            <a:avLst>
              <a:gd name="adj" fmla="val 17857"/>
            </a:avLst>
          </a:prstGeom>
          <a:ln w="15875">
            <a:solidFill>
              <a:srgbClr val="DD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04304" y="3017520"/>
            <a:ext cx="43461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eintragen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3639312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1248" y="363931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Goldbarren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928616" y="3639312"/>
            <a:ext cx="16002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928616" y="363931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729984" y="3639312"/>
            <a:ext cx="4894783" cy="512064"/>
          </a:xfrm>
          <a:prstGeom prst="roundRect">
            <a:avLst>
              <a:gd name="adj" fmla="val 17857"/>
            </a:avLst>
          </a:prstGeom>
          <a:ln w="15875">
            <a:solidFill>
              <a:srgbClr val="DDE3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04304" y="3639312"/>
            <a:ext cx="43461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eintragen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4261104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41248" y="4261104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Kreditkarte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928616" y="4261104"/>
            <a:ext cx="16002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928616" y="426110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729984" y="4261104"/>
            <a:ext cx="4894783" cy="512064"/>
          </a:xfrm>
          <a:prstGeom prst="roundRect">
            <a:avLst>
              <a:gd name="adj" fmla="val 17857"/>
            </a:avLst>
          </a:prstGeom>
          <a:ln w="15875">
            <a:solidFill>
              <a:srgbClr val="DDE3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04304" y="4261104"/>
            <a:ext cx="43461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eintragen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66928" y="4882896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41248" y="4882896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928616" y="4882896"/>
            <a:ext cx="16002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4928616" y="488289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729984" y="4882896"/>
            <a:ext cx="4894783" cy="512064"/>
          </a:xfrm>
          <a:prstGeom prst="roundRect">
            <a:avLst>
              <a:gd name="adj" fmla="val 17857"/>
            </a:avLst>
          </a:prstGeom>
          <a:ln w="15875">
            <a:solidFill>
              <a:srgbClr val="DDE3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04304" y="4882896"/>
            <a:ext cx="43461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eintragen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5504688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41248" y="5504688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Einkaufsgutschein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928616" y="5504688"/>
            <a:ext cx="16002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4928616" y="55046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6729984" y="5504688"/>
            <a:ext cx="4894783" cy="512064"/>
          </a:xfrm>
          <a:prstGeom prst="roundRect">
            <a:avLst>
              <a:gd name="adj" fmla="val 17857"/>
            </a:avLst>
          </a:prstGeom>
          <a:ln w="15875">
            <a:solidFill>
              <a:srgbClr val="DDE3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04304" y="5504688"/>
            <a:ext cx="43461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eintragen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46649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39112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28C69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0391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59736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Euro-Banknote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52344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62602" y="1783080"/>
            <a:ext cx="346649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0074" y="2039112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28C69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10074" y="20391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10074" y="2459736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Giroguthaben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10074" y="2752344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Giralgeld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58277" y="1783080"/>
            <a:ext cx="346649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5749" y="2039112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BF44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5749" y="20391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05749" y="2459736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05749" y="2752344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Vermögenswert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364992"/>
            <a:ext cx="346649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62102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BF44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36210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041648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Kreditkarte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334256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Zahlungsinstrument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362602" y="3364992"/>
            <a:ext cx="346649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0074" y="362102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BF443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10074" y="36210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710074" y="4041648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710074" y="4334256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staatliche Währung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158277" y="3364992"/>
            <a:ext cx="346649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05749" y="362102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BF443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05749" y="36210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505749" y="4041648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Gutschein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505749" y="4334256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allgemein anerkannt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0D172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Entscheidend ist immer die vollständige Geldprobe.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WICHTIGE UNTERSCHEIDUNG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 oder Zugang zu Geld?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429914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286000"/>
            <a:ext cx="566928" cy="566928"/>
          </a:xfrm>
          <a:prstGeom prst="ellipse">
            <a:avLst/>
          </a:prstGeom>
          <a:solidFill>
            <a:srgbClr val="E7F8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7840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017520"/>
            <a:ext cx="2606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Bargeld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502152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Münzen und Banknoten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4178808"/>
            <a:ext cx="2606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Geld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80890" y="1874520"/>
            <a:ext cx="3429914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92370" y="2286000"/>
            <a:ext cx="566928" cy="566928"/>
          </a:xfrm>
          <a:prstGeom prst="ellipse">
            <a:avLst/>
          </a:prstGeom>
          <a:solidFill>
            <a:srgbClr val="E7F8F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9237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792370" y="3017520"/>
            <a:ext cx="2606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Giralgeld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792370" y="3502152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Guthaben auf dem Girokonto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92370" y="4178808"/>
            <a:ext cx="2606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Geld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94853" y="1874520"/>
            <a:ext cx="3429914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5875">
            <a:solidFill>
              <a:srgbClr val="BF4433"/>
            </a:solidFill>
            <a:prstDash val="solid"/>
          </a:ln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06333" y="2286000"/>
            <a:ext cx="566928" cy="566928"/>
          </a:xfrm>
          <a:prstGeom prst="ellipse">
            <a:avLst/>
          </a:prstGeom>
          <a:solidFill>
            <a:srgbClr val="FAE8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06333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606333" y="3017520"/>
            <a:ext cx="2606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Karte oder App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8606333" y="3502152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ermöglicht eine Zahlung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06333" y="4178808"/>
            <a:ext cx="2606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F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kein Geld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0D17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Zahlungsinstrument bewegt Geld – es ist selbst keines.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 2.300 JAHRE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Gedanke mit langer Geschichte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36896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258568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E7F8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78408" y="22585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384–322 v. Chr.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743200"/>
            <a:ext cx="451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Aristoteles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319272"/>
            <a:ext cx="451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Zwischentauschmittel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Wertmaßstab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späterer Tausch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87872" y="1874520"/>
            <a:ext cx="5336896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D1726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99352" y="2258568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FBF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99352" y="22585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1842–1926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99352" y="2743200"/>
            <a:ext cx="451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 Friedrich Knapp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6699352" y="3319272"/>
            <a:ext cx="451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als Teil einer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staatlichen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D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Rechtsordnung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E7F8F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Definition verbindet beide Gedanken.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· Beruf · Klasse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8C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EXIT-TICKET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Schluss: drei Sätze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11057839" cy="841248"/>
          </a:xfrm>
          <a:prstGeom prst="roundRect">
            <a:avLst>
              <a:gd name="adj" fmla="val 15217"/>
            </a:avLst>
          </a:prstGeom>
          <a:solidFill>
            <a:srgbClr val="1B2B40"/>
          </a:solidFill>
          <a:ln w="12700">
            <a:solidFill>
              <a:srgbClr val="2A3C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066544"/>
            <a:ext cx="457200" cy="457200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6968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27048" y="1874520"/>
            <a:ext cx="96862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Erkläre das Wort Zwischentauschmittel.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" y="2898648"/>
            <a:ext cx="11057839" cy="841248"/>
          </a:xfrm>
          <a:prstGeom prst="roundRect">
            <a:avLst>
              <a:gd name="adj" fmla="val 15217"/>
            </a:avLst>
          </a:prstGeom>
          <a:solidFill>
            <a:srgbClr val="1B2B40"/>
          </a:solidFill>
          <a:ln w="12700">
            <a:solidFill>
              <a:srgbClr val="2A3C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3090672"/>
            <a:ext cx="457200" cy="457200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27048" y="2898648"/>
            <a:ext cx="96862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eine Kreditkarte kein Geld?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6928" y="3922776"/>
            <a:ext cx="11057839" cy="841248"/>
          </a:xfrm>
          <a:prstGeom prst="roundRect">
            <a:avLst>
              <a:gd name="adj" fmla="val 15217"/>
            </a:avLst>
          </a:prstGeom>
          <a:solidFill>
            <a:srgbClr val="1B2B40"/>
          </a:solidFill>
          <a:ln w="12700">
            <a:solidFill>
              <a:srgbClr val="2A3C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4114800"/>
            <a:ext cx="457200" cy="457200"/>
          </a:xfrm>
          <a:prstGeom prst="ellipse">
            <a:avLst/>
          </a:prstGeom>
          <a:solidFill>
            <a:srgbClr val="28C69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27048" y="3922776"/>
            <a:ext cx="96862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reicht allgemeine Anerkennung allein nicht aus?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16327"/>
            </a:avLst>
          </a:prstGeom>
          <a:solidFill>
            <a:srgbClr val="28C6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4128" y="5138928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alle Eigenschaften zusammen ergeben Geld.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WL7 – Wirtschaft und Beruf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 ist Geld? – Klasse 7</dc:title>
  <dc:subject>Wirtschaft und Beruf, Klasse 7</dc:subject>
  <dc:creator>WL7</dc:creator>
  <cp:lastModifiedBy>WL7</cp:lastModifiedBy>
  <cp:revision>1</cp:revision>
  <dcterms:created xsi:type="dcterms:W3CDTF">2026-09-14T16:20:45Z</dcterms:created>
  <dcterms:modified xsi:type="dcterms:W3CDTF">2026-09-14T16:20:45Z</dcterms:modified>
</cp:coreProperties>
</file>