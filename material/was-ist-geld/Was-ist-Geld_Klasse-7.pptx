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 type="screen16x9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/>
  <p:slideViewPr/>
  <p:notesTextViewPr/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ableStyles" Target="tableStyles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Cle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lt2" folHlink="folHlink" hlink="hlink" tx1="dk1" tx2="dk2"/>
  <p:sldLayoutIdLst>
    <p:sldLayoutId id="1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7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658368" y="475488"/>
            <a:ext cx="2514600" cy="384048"/>
          </a:xfrm>
          <a:prstGeom prst="roundRect">
            <a:avLst/>
          </a:prstGeom>
          <a:solidFill>
            <a:srgbClr val="183047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1100" b="1">
                <a:solidFill>
                  <a:srgbClr val="7DE3C3"/>
                </a:solidFill>
                <a:latin typeface="Aptos"/>
              </a:rPr>
              <a:t>WIRTSCHAFT · BERUF · KLASSE 7</a:t>
            </a:r>
            <a:endParaRPr lang="de-DE" sz="1100"/>
          </a:p>
        </p:txBody>
      </p:sp>
      <p:sp>
        <p:nvSpPr>
          <p:cNvPr id="3" name="Text 3"/>
          <p:cNvSpPr txBox="1"/>
          <p:nvPr/>
        </p:nvSpPr>
        <p:spPr>
          <a:xfrm>
            <a:off x="658368" y="1325880"/>
            <a:ext cx="8869680" cy="13258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4200" b="1">
                <a:solidFill>
                  <a:srgbClr val="FFFFFF"/>
                </a:solidFill>
                <a:latin typeface="Aptos"/>
              </a:rPr>
              <a:t>Was ist</a:t>
            </a:r>
            <a:endParaRPr lang="de-DE" sz="4200"/>
          </a:p>
          <a:p>
            <a:pPr algn="l" marL="0" marR="0"/>
            <a:r>
              <a:rPr lang="de-DE" sz="4200" b="1">
                <a:solidFill>
                  <a:srgbClr val="FFFFFF"/>
                </a:solidFill>
                <a:latin typeface="Aptos"/>
              </a:rPr>
              <a:t>eigentlich Geld?</a:t>
            </a:r>
            <a:endParaRPr lang="de-DE" sz="4200"/>
          </a:p>
        </p:txBody>
      </p:sp>
      <p:sp>
        <p:nvSpPr>
          <p:cNvPr id="4" name="Text 4"/>
          <p:cNvSpPr txBox="1"/>
          <p:nvPr/>
        </p:nvSpPr>
        <p:spPr>
          <a:xfrm>
            <a:off x="694944" y="2907792"/>
            <a:ext cx="68580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2200" b="0">
                <a:solidFill>
                  <a:srgbClr val="C8D2DF"/>
                </a:solidFill>
                <a:latin typeface="Aptos"/>
              </a:rPr>
              <a:t>Nicht alles, womit man bezahlen kann, ist Geld.</a:t>
            </a:r>
            <a:endParaRPr lang="de-DE" sz="2200"/>
          </a:p>
        </p:txBody>
      </p:sp>
      <p:sp>
        <p:nvSpPr>
          <p:cNvPr id="5" name="Shape 5"/>
          <p:cNvSpPr/>
          <p:nvPr/>
        </p:nvSpPr>
        <p:spPr>
          <a:xfrm>
            <a:off x="8531352" y="1170432"/>
            <a:ext cx="2286000" cy="2286000"/>
          </a:xfrm>
          <a:prstGeom prst="ellipse">
            <a:avLst/>
          </a:prstGeom>
          <a:solidFill>
            <a:srgbClr val="28C69F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7200" b="1">
                <a:solidFill>
                  <a:srgbClr val="0D1726"/>
                </a:solidFill>
                <a:latin typeface="Aptos"/>
              </a:rPr>
              <a:t>€</a:t>
            </a:r>
            <a:endParaRPr lang="de-DE" sz="7200"/>
          </a:p>
        </p:txBody>
      </p:sp>
      <p:sp>
        <p:nvSpPr>
          <p:cNvPr id="6" name="Shape 6"/>
          <p:cNvSpPr/>
          <p:nvPr/>
        </p:nvSpPr>
        <p:spPr>
          <a:xfrm>
            <a:off x="9738360" y="3273552"/>
            <a:ext cx="1115568" cy="1115568"/>
          </a:xfrm>
          <a:prstGeom prst="ellipse">
            <a:avLst/>
          </a:prstGeom>
          <a:solidFill>
            <a:srgbClr val="E7B84B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3400" b="1">
                <a:solidFill>
                  <a:srgbClr val="0D1726"/>
                </a:solidFill>
                <a:latin typeface="Aptos"/>
              </a:rPr>
              <a:t>€</a:t>
            </a:r>
            <a:endParaRPr lang="de-DE" sz="3400"/>
          </a:p>
        </p:txBody>
      </p:sp>
      <p:sp>
        <p:nvSpPr>
          <p:cNvPr id="7" name="Shape 7"/>
          <p:cNvSpPr/>
          <p:nvPr/>
        </p:nvSpPr>
        <p:spPr>
          <a:xfrm>
            <a:off x="8211312" y="4069080"/>
            <a:ext cx="1417320" cy="1417320"/>
          </a:xfrm>
          <a:prstGeom prst="ellipse">
            <a:avLst/>
          </a:prstGeom>
          <a:solidFill>
            <a:srgbClr val="6E8BF7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4200" b="1">
                <a:solidFill>
                  <a:srgbClr val="FFFFFF"/>
                </a:solidFill>
                <a:latin typeface="Aptos"/>
              </a:rPr>
              <a:t>€</a:t>
            </a:r>
            <a:endParaRPr lang="de-DE" sz="4200"/>
          </a:p>
        </p:txBody>
      </p:sp>
      <p:sp>
        <p:nvSpPr>
          <p:cNvPr id="8" name="Text 8"/>
          <p:cNvSpPr txBox="1"/>
          <p:nvPr/>
        </p:nvSpPr>
        <p:spPr>
          <a:xfrm>
            <a:off x="694944" y="5166360"/>
            <a:ext cx="6858000" cy="43891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800" b="1">
                <a:solidFill>
                  <a:srgbClr val="7DE3C3"/>
                </a:solidFill>
                <a:latin typeface="Aptos"/>
              </a:rPr>
              <a:t>Eine gemeinsame Entdeckungsreise</a:t>
            </a:r>
            <a:endParaRPr lang="de-DE" sz="1800"/>
          </a:p>
        </p:txBody>
      </p:sp>
      <p:sp>
        <p:nvSpPr>
          <p:cNvPr id="9" name="Text 9"/>
          <p:cNvSpPr txBox="1"/>
          <p:nvPr/>
        </p:nvSpPr>
        <p:spPr>
          <a:xfrm>
            <a:off x="658368" y="6510528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900" b="0">
                <a:solidFill>
                  <a:srgbClr val="AAB5C7"/>
                </a:solidFill>
                <a:latin typeface="Aptos"/>
              </a:rPr>
              <a:t>Wirtschaft · Beruf · Klasse 7</a:t>
            </a:r>
            <a:endParaRPr lang="de-DE" sz="900"/>
          </a:p>
        </p:txBody>
      </p:sp>
      <p:sp>
        <p:nvSpPr>
          <p:cNvPr id="10" name="Text 10"/>
          <p:cNvSpPr txBox="1"/>
          <p:nvPr/>
        </p:nvSpPr>
        <p:spPr>
          <a:xfrm>
            <a:off x="11018520" y="6510528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 marL="0" marR="0"/>
            <a:r>
              <a:rPr lang="de-DE" sz="900" b="0">
                <a:solidFill>
                  <a:srgbClr val="AAB5C7"/>
                </a:solidFill>
                <a:latin typeface="Aptos"/>
              </a:rPr>
              <a:t>1</a:t>
            </a:r>
            <a:endParaRPr lang="de-DE" sz="9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11"/>
          <p:cNvSpPr txBox="1"/>
          <p:nvPr/>
        </p:nvSpPr>
        <p:spPr>
          <a:xfrm>
            <a:off x="658368" y="347472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100" b="1">
                <a:solidFill>
                  <a:srgbClr val="157A65"/>
                </a:solidFill>
                <a:latin typeface="Aptos"/>
              </a:rPr>
              <a:t>WAS IST GELD?</a:t>
            </a:r>
            <a:endParaRPr lang="de-DE" sz="1100"/>
          </a:p>
        </p:txBody>
      </p:sp>
      <p:sp>
        <p:nvSpPr>
          <p:cNvPr id="12" name="Text 12"/>
          <p:cNvSpPr txBox="1"/>
          <p:nvPr/>
        </p:nvSpPr>
        <p:spPr>
          <a:xfrm>
            <a:off x="658368" y="713232"/>
            <a:ext cx="107899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3000" b="1">
                <a:solidFill>
                  <a:srgbClr val="101828"/>
                </a:solidFill>
                <a:latin typeface="Aptos"/>
              </a:rPr>
              <a:t>Was davon ist Geld?</a:t>
            </a:r>
            <a:endParaRPr lang="de-DE" sz="3000"/>
          </a:p>
        </p:txBody>
      </p:sp>
      <p:sp>
        <p:nvSpPr>
          <p:cNvPr id="13" name="Text 13"/>
          <p:cNvSpPr txBox="1"/>
          <p:nvPr/>
        </p:nvSpPr>
        <p:spPr>
          <a:xfrm>
            <a:off x="658368" y="1417320"/>
            <a:ext cx="1078992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800" b="0">
                <a:solidFill>
                  <a:srgbClr val="536074"/>
                </a:solidFill>
                <a:latin typeface="Aptos"/>
              </a:rPr>
              <a:t>Entscheidet zuerst allein – dann vergleicht ihr zu zweit.</a:t>
            </a:r>
            <a:endParaRPr lang="de-DE" sz="1800"/>
          </a:p>
        </p:txBody>
      </p:sp>
      <p:sp>
        <p:nvSpPr>
          <p:cNvPr id="14" name="Shape 14"/>
          <p:cNvSpPr/>
          <p:nvPr/>
        </p:nvSpPr>
        <p:spPr>
          <a:xfrm>
            <a:off x="658368" y="2057400"/>
            <a:ext cx="2011680" cy="1874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400" b="1">
                <a:solidFill>
                  <a:srgbClr val="172033"/>
                </a:solidFill>
                <a:latin typeface="Aptos"/>
              </a:rPr>
              <a:t>20-Euro-</a:t>
            </a:r>
            <a:endParaRPr lang="de-DE" sz="2400"/>
          </a:p>
          <a:p>
            <a:pPr algn="ctr" marL="0" marR="0"/>
            <a:r>
              <a:rPr lang="de-DE" sz="2400" b="1">
                <a:solidFill>
                  <a:srgbClr val="172033"/>
                </a:solidFill>
                <a:latin typeface="Aptos"/>
              </a:rPr>
              <a:t>Schein</a:t>
            </a:r>
            <a:endParaRPr lang="de-DE" sz="2400"/>
          </a:p>
        </p:txBody>
      </p:sp>
      <p:sp>
        <p:nvSpPr>
          <p:cNvPr id="15" name="Shape 15"/>
          <p:cNvSpPr/>
          <p:nvPr/>
        </p:nvSpPr>
        <p:spPr>
          <a:xfrm>
            <a:off x="2852928" y="2057400"/>
            <a:ext cx="2011680" cy="1874520"/>
          </a:xfrm>
          <a:prstGeom prst="roundRect">
            <a:avLst/>
          </a:prstGeom>
          <a:solidFill>
            <a:srgbClr val="FFF4D1"/>
          </a:solidFill>
          <a:ln w="12700">
            <a:solidFill>
              <a:srgbClr val="E7B84B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400" b="1">
                <a:solidFill>
                  <a:srgbClr val="172033"/>
                </a:solidFill>
                <a:latin typeface="Aptos"/>
              </a:rPr>
              <a:t>Gold-</a:t>
            </a:r>
            <a:endParaRPr lang="de-DE" sz="2400"/>
          </a:p>
          <a:p>
            <a:pPr algn="ctr" marL="0" marR="0"/>
            <a:r>
              <a:rPr lang="de-DE" sz="2400" b="1">
                <a:solidFill>
                  <a:srgbClr val="172033"/>
                </a:solidFill>
                <a:latin typeface="Aptos"/>
              </a:rPr>
              <a:t>barren</a:t>
            </a:r>
            <a:endParaRPr lang="de-DE" sz="2400"/>
          </a:p>
        </p:txBody>
      </p:sp>
      <p:sp>
        <p:nvSpPr>
          <p:cNvPr id="16" name="Shape 16"/>
          <p:cNvSpPr/>
          <p:nvPr/>
        </p:nvSpPr>
        <p:spPr>
          <a:xfrm>
            <a:off x="5047488" y="2057400"/>
            <a:ext cx="2011680" cy="1874520"/>
          </a:xfrm>
          <a:prstGeom prst="roundRect">
            <a:avLst/>
          </a:prstGeom>
          <a:solidFill>
            <a:srgbClr val="EAF0FF"/>
          </a:solidFill>
          <a:ln w="12700">
            <a:solidFill>
              <a:srgbClr val="6E8BF7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400" b="1">
                <a:solidFill>
                  <a:srgbClr val="172033"/>
                </a:solidFill>
                <a:latin typeface="Aptos"/>
              </a:rPr>
              <a:t>Kredit-</a:t>
            </a:r>
            <a:endParaRPr lang="de-DE" sz="2400"/>
          </a:p>
          <a:p>
            <a:pPr algn="ctr" marL="0" marR="0"/>
            <a:r>
              <a:rPr lang="de-DE" sz="2400" b="1">
                <a:solidFill>
                  <a:srgbClr val="172033"/>
                </a:solidFill>
                <a:latin typeface="Aptos"/>
              </a:rPr>
              <a:t>karte</a:t>
            </a:r>
            <a:endParaRPr lang="de-DE" sz="2400"/>
          </a:p>
        </p:txBody>
      </p:sp>
      <p:sp>
        <p:nvSpPr>
          <p:cNvPr id="17" name="Shape 17"/>
          <p:cNvSpPr/>
          <p:nvPr/>
        </p:nvSpPr>
        <p:spPr>
          <a:xfrm>
            <a:off x="7242048" y="2057400"/>
            <a:ext cx="2011680" cy="1874520"/>
          </a:xfrm>
          <a:prstGeom prst="roundRect">
            <a:avLst/>
          </a:prstGeom>
          <a:solidFill>
            <a:srgbClr val="FFF0DD"/>
          </a:solidFill>
          <a:ln w="12700">
            <a:solidFill>
              <a:srgbClr val="E99B43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400" b="1">
                <a:solidFill>
                  <a:srgbClr val="172033"/>
                </a:solidFill>
                <a:latin typeface="Aptos"/>
              </a:rPr>
              <a:t>Bit-</a:t>
            </a:r>
            <a:endParaRPr lang="de-DE" sz="2400"/>
          </a:p>
          <a:p>
            <a:pPr algn="ctr" marL="0" marR="0"/>
            <a:r>
              <a:rPr lang="de-DE" sz="2400" b="1">
                <a:solidFill>
                  <a:srgbClr val="172033"/>
                </a:solidFill>
                <a:latin typeface="Aptos"/>
              </a:rPr>
              <a:t>coin</a:t>
            </a:r>
            <a:endParaRPr lang="de-DE" sz="2400"/>
          </a:p>
        </p:txBody>
      </p:sp>
      <p:sp>
        <p:nvSpPr>
          <p:cNvPr id="18" name="Shape 18"/>
          <p:cNvSpPr/>
          <p:nvPr/>
        </p:nvSpPr>
        <p:spPr>
          <a:xfrm>
            <a:off x="9436608" y="2057400"/>
            <a:ext cx="2011680" cy="1874520"/>
          </a:xfrm>
          <a:prstGeom prst="roundRect">
            <a:avLst/>
          </a:prstGeom>
          <a:solidFill>
            <a:srgbClr val="F2EAFE"/>
          </a:solidFill>
          <a:ln w="12700">
            <a:solidFill>
              <a:srgbClr val="9B74D7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000" b="1">
                <a:solidFill>
                  <a:srgbClr val="172033"/>
                </a:solidFill>
                <a:latin typeface="Aptos"/>
              </a:rPr>
              <a:t>Einkaufs-</a:t>
            </a:r>
            <a:endParaRPr lang="de-DE" sz="2000"/>
          </a:p>
          <a:p>
            <a:pPr algn="ctr" marL="0" marR="0"/>
            <a:r>
              <a:rPr lang="de-DE" sz="2000" b="1">
                <a:solidFill>
                  <a:srgbClr val="172033"/>
                </a:solidFill>
                <a:latin typeface="Aptos"/>
              </a:rPr>
              <a:t>gutschein</a:t>
            </a:r>
            <a:endParaRPr lang="de-DE" sz="2000"/>
          </a:p>
        </p:txBody>
      </p:sp>
      <p:sp>
        <p:nvSpPr>
          <p:cNvPr id="19" name="Shape 19"/>
          <p:cNvSpPr/>
          <p:nvPr/>
        </p:nvSpPr>
        <p:spPr>
          <a:xfrm>
            <a:off x="1993392" y="4434840"/>
            <a:ext cx="8211312" cy="658368"/>
          </a:xfrm>
          <a:prstGeom prst="roundRect">
            <a:avLst/>
          </a:prstGeom>
          <a:solidFill>
            <a:srgbClr val="E7F8F3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1800" b="1">
                <a:solidFill>
                  <a:srgbClr val="157A65"/>
                </a:solidFill>
                <a:latin typeface="Aptos"/>
              </a:rPr>
              <a:t>Vermutung: Geld / kein Geld / unsicher</a:t>
            </a:r>
            <a:endParaRPr lang="de-DE" sz="1800"/>
          </a:p>
        </p:txBody>
      </p:sp>
      <p:sp>
        <p:nvSpPr>
          <p:cNvPr id="20" name="Text 20"/>
          <p:cNvSpPr txBox="1"/>
          <p:nvPr/>
        </p:nvSpPr>
        <p:spPr>
          <a:xfrm>
            <a:off x="658368" y="6510528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Wirtschaft · Beruf · Klasse 7</a:t>
            </a:r>
            <a:endParaRPr lang="de-DE" sz="900"/>
          </a:p>
        </p:txBody>
      </p:sp>
      <p:sp>
        <p:nvSpPr>
          <p:cNvPr id="21" name="Text 21"/>
          <p:cNvSpPr txBox="1"/>
          <p:nvPr/>
        </p:nvSpPr>
        <p:spPr>
          <a:xfrm>
            <a:off x="11018520" y="6510528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2</a:t>
            </a:r>
            <a:endParaRPr lang="de-DE" sz="9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 22"/>
          <p:cNvSpPr txBox="1"/>
          <p:nvPr/>
        </p:nvSpPr>
        <p:spPr>
          <a:xfrm>
            <a:off x="658368" y="347472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100" b="1">
                <a:solidFill>
                  <a:srgbClr val="157A65"/>
                </a:solidFill>
                <a:latin typeface="Aptos"/>
              </a:rPr>
              <a:t>VOM TAUSCH ZUM GELD</a:t>
            </a:r>
            <a:endParaRPr lang="de-DE" sz="1100"/>
          </a:p>
        </p:txBody>
      </p:sp>
      <p:sp>
        <p:nvSpPr>
          <p:cNvPr id="23" name="Text 23"/>
          <p:cNvSpPr txBox="1"/>
          <p:nvPr/>
        </p:nvSpPr>
        <p:spPr>
          <a:xfrm>
            <a:off x="658368" y="713232"/>
            <a:ext cx="107899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3000" b="1">
                <a:solidFill>
                  <a:srgbClr val="101828"/>
                </a:solidFill>
                <a:latin typeface="Aptos"/>
              </a:rPr>
              <a:t>Direkter Tausch: ein schwieriger Zufall</a:t>
            </a:r>
            <a:endParaRPr lang="de-DE" sz="3000"/>
          </a:p>
        </p:txBody>
      </p:sp>
      <p:sp>
        <p:nvSpPr>
          <p:cNvPr id="24" name="Shape 24"/>
          <p:cNvSpPr/>
          <p:nvPr/>
        </p:nvSpPr>
        <p:spPr>
          <a:xfrm>
            <a:off x="777240" y="1828800"/>
            <a:ext cx="32461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300" b="1">
                <a:solidFill>
                  <a:srgbClr val="172033"/>
                </a:solidFill>
                <a:latin typeface="Aptos"/>
              </a:rPr>
              <a:t>Mia hat Äpfel.</a:t>
            </a:r>
            <a:endParaRPr lang="de-DE" sz="2300"/>
          </a:p>
          <a:p>
            <a:pPr algn="ctr" marL="0" marR="0"/>
            <a:r>
              <a:rPr lang="de-DE" sz="2300" b="1">
                <a:solidFill>
                  <a:srgbClr val="172033"/>
                </a:solidFill>
                <a:latin typeface="Aptos"/>
              </a:rPr>
              <a:t>Sie möchte Schuhe.</a:t>
            </a:r>
            <a:endParaRPr lang="de-DE" sz="2300"/>
          </a:p>
        </p:txBody>
      </p:sp>
      <p:sp>
        <p:nvSpPr>
          <p:cNvPr id="25" name="Shape 25"/>
          <p:cNvSpPr/>
          <p:nvPr/>
        </p:nvSpPr>
        <p:spPr>
          <a:xfrm>
            <a:off x="8165592" y="1828800"/>
            <a:ext cx="32461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300" b="1">
                <a:solidFill>
                  <a:srgbClr val="172033"/>
                </a:solidFill>
                <a:latin typeface="Aptos"/>
              </a:rPr>
              <a:t>Noah hat Schuhe.</a:t>
            </a:r>
            <a:endParaRPr lang="de-DE" sz="2300"/>
          </a:p>
          <a:p>
            <a:pPr algn="ctr" marL="0" marR="0"/>
            <a:r>
              <a:rPr lang="de-DE" sz="2300" b="1">
                <a:solidFill>
                  <a:srgbClr val="172033"/>
                </a:solidFill>
                <a:latin typeface="Aptos"/>
              </a:rPr>
              <a:t>Er möchte keine Äpfel.</a:t>
            </a:r>
            <a:endParaRPr lang="de-DE" sz="2300"/>
          </a:p>
        </p:txBody>
      </p:sp>
      <p:sp>
        <p:nvSpPr>
          <p:cNvPr id="26" name="Shape 26"/>
          <p:cNvSpPr/>
          <p:nvPr/>
        </p:nvSpPr>
        <p:spPr>
          <a:xfrm>
            <a:off x="4754880" y="2395728"/>
            <a:ext cx="2697480" cy="1051560"/>
          </a:xfrm>
          <a:prstGeom prst="roundRect">
            <a:avLst/>
          </a:prstGeom>
          <a:solidFill>
            <a:srgbClr val="FFE7E5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100" b="1">
                <a:solidFill>
                  <a:srgbClr val="B42318"/>
                </a:solidFill>
                <a:latin typeface="Aptos"/>
              </a:rPr>
              <a:t>Tausch scheitert</a:t>
            </a:r>
            <a:endParaRPr lang="de-DE" sz="2100"/>
          </a:p>
        </p:txBody>
      </p:sp>
      <p:sp>
        <p:nvSpPr>
          <p:cNvPr id="27" name="Text 27"/>
          <p:cNvSpPr txBox="1"/>
          <p:nvPr/>
        </p:nvSpPr>
        <p:spPr>
          <a:xfrm>
            <a:off x="4224528" y="4526280"/>
            <a:ext cx="3749040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 marL="0" marR="0"/>
            <a:r>
              <a:rPr lang="de-DE" sz="1800" b="0">
                <a:solidFill>
                  <a:srgbClr val="536074"/>
                </a:solidFill>
                <a:latin typeface="Aptos"/>
              </a:rPr>
              <a:t>Beide Wünsche müssten gleichzeitig zusammenpassen.</a:t>
            </a:r>
            <a:endParaRPr lang="de-DE" sz="1800"/>
          </a:p>
        </p:txBody>
      </p:sp>
      <p:sp>
        <p:nvSpPr>
          <p:cNvPr id="28" name="Text 28"/>
          <p:cNvSpPr txBox="1"/>
          <p:nvPr/>
        </p:nvSpPr>
        <p:spPr>
          <a:xfrm>
            <a:off x="658368" y="6510528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Wirtschaft · Beruf · Klasse 7</a:t>
            </a:r>
            <a:endParaRPr lang="de-DE" sz="900"/>
          </a:p>
        </p:txBody>
      </p:sp>
      <p:sp>
        <p:nvSpPr>
          <p:cNvPr id="29" name="Text 29"/>
          <p:cNvSpPr txBox="1"/>
          <p:nvPr/>
        </p:nvSpPr>
        <p:spPr>
          <a:xfrm>
            <a:off x="11018520" y="6510528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3</a:t>
            </a:r>
            <a:endParaRPr lang="de-DE" sz="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 30"/>
          <p:cNvSpPr txBox="1"/>
          <p:nvPr/>
        </p:nvSpPr>
        <p:spPr>
          <a:xfrm>
            <a:off x="658368" y="347472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100" b="1">
                <a:solidFill>
                  <a:srgbClr val="157A65"/>
                </a:solidFill>
                <a:latin typeface="Aptos"/>
              </a:rPr>
              <a:t>VOM TAUSCH ZUM GELD</a:t>
            </a:r>
            <a:endParaRPr lang="de-DE" sz="1100"/>
          </a:p>
        </p:txBody>
      </p:sp>
      <p:sp>
        <p:nvSpPr>
          <p:cNvPr id="31" name="Text 31"/>
          <p:cNvSpPr txBox="1"/>
          <p:nvPr/>
        </p:nvSpPr>
        <p:spPr>
          <a:xfrm>
            <a:off x="658368" y="713232"/>
            <a:ext cx="107899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3000" b="1">
                <a:solidFill>
                  <a:srgbClr val="101828"/>
                </a:solidFill>
                <a:latin typeface="Aptos"/>
              </a:rPr>
              <a:t>Geld steht dazwischen</a:t>
            </a:r>
            <a:endParaRPr lang="de-DE" sz="3000"/>
          </a:p>
        </p:txBody>
      </p:sp>
      <p:sp>
        <p:nvSpPr>
          <p:cNvPr id="32" name="Shape 32"/>
          <p:cNvSpPr/>
          <p:nvPr/>
        </p:nvSpPr>
        <p:spPr>
          <a:xfrm>
            <a:off x="749808" y="1993392"/>
            <a:ext cx="27889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400" b="1">
                <a:solidFill>
                  <a:srgbClr val="172033"/>
                </a:solidFill>
                <a:latin typeface="Aptos"/>
              </a:rPr>
              <a:t>Mia gibt</a:t>
            </a:r>
            <a:endParaRPr lang="de-DE" sz="2400"/>
          </a:p>
          <a:p>
            <a:pPr algn="ctr" marL="0" marR="0"/>
            <a:r>
              <a:rPr lang="de-DE" sz="2400" b="1">
                <a:solidFill>
                  <a:srgbClr val="172033"/>
                </a:solidFill>
                <a:latin typeface="Aptos"/>
              </a:rPr>
              <a:t>Äpfel ab</a:t>
            </a:r>
            <a:endParaRPr lang="de-DE" sz="2400"/>
          </a:p>
        </p:txBody>
      </p:sp>
      <p:sp>
        <p:nvSpPr>
          <p:cNvPr id="33" name="Shape 33"/>
          <p:cNvSpPr/>
          <p:nvPr/>
        </p:nvSpPr>
        <p:spPr>
          <a:xfrm>
            <a:off x="4690872" y="1993392"/>
            <a:ext cx="2788920" cy="1828800"/>
          </a:xfrm>
          <a:prstGeom prst="roundRect">
            <a:avLst/>
          </a:prstGeom>
          <a:solidFill>
            <a:srgbClr val="E7F8F3"/>
          </a:solidFill>
          <a:ln w="12700">
            <a:solidFill>
              <a:srgbClr val="28C69F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500" b="1">
                <a:solidFill>
                  <a:srgbClr val="157A65"/>
                </a:solidFill>
                <a:latin typeface="Aptos"/>
              </a:rPr>
              <a:t>Mia erhält</a:t>
            </a:r>
            <a:endParaRPr lang="de-DE" sz="2500"/>
          </a:p>
          <a:p>
            <a:pPr algn="ctr" marL="0" marR="0"/>
            <a:r>
              <a:rPr lang="de-DE" sz="2500" b="1">
                <a:solidFill>
                  <a:srgbClr val="157A65"/>
                </a:solidFill>
                <a:latin typeface="Aptos"/>
              </a:rPr>
              <a:t>Geld</a:t>
            </a:r>
            <a:endParaRPr lang="de-DE" sz="2500"/>
          </a:p>
        </p:txBody>
      </p:sp>
      <p:sp>
        <p:nvSpPr>
          <p:cNvPr id="34" name="Shape 34"/>
          <p:cNvSpPr/>
          <p:nvPr/>
        </p:nvSpPr>
        <p:spPr>
          <a:xfrm>
            <a:off x="8631936" y="1993392"/>
            <a:ext cx="27889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400" b="1">
                <a:solidFill>
                  <a:srgbClr val="172033"/>
                </a:solidFill>
                <a:latin typeface="Aptos"/>
              </a:rPr>
              <a:t>Mia kauft</a:t>
            </a:r>
            <a:endParaRPr lang="de-DE" sz="2400"/>
          </a:p>
          <a:p>
            <a:pPr algn="ctr" marL="0" marR="0"/>
            <a:r>
              <a:rPr lang="de-DE" sz="2400" b="1">
                <a:solidFill>
                  <a:srgbClr val="172033"/>
                </a:solidFill>
                <a:latin typeface="Aptos"/>
              </a:rPr>
              <a:t>Schuhe</a:t>
            </a:r>
            <a:endParaRPr lang="de-DE" sz="2400"/>
          </a:p>
        </p:txBody>
      </p:sp>
      <p:sp>
        <p:nvSpPr>
          <p:cNvPr id="35" name="Shape 35"/>
          <p:cNvSpPr/>
          <p:nvPr/>
        </p:nvSpPr>
        <p:spPr>
          <a:xfrm>
            <a:off x="3803904" y="2523744"/>
            <a:ext cx="566928" cy="566928"/>
          </a:xfrm>
          <a:prstGeom prst="ellipse">
            <a:avLst/>
          </a:prstGeom>
          <a:solidFill>
            <a:srgbClr val="E5E9EF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3000" b="1">
                <a:solidFill>
                  <a:srgbClr val="536074"/>
                </a:solidFill>
                <a:latin typeface="Aptos"/>
              </a:rPr>
              <a:t>›</a:t>
            </a:r>
            <a:endParaRPr lang="de-DE" sz="3000"/>
          </a:p>
        </p:txBody>
      </p:sp>
      <p:sp>
        <p:nvSpPr>
          <p:cNvPr id="36" name="Shape 36"/>
          <p:cNvSpPr/>
          <p:nvPr/>
        </p:nvSpPr>
        <p:spPr>
          <a:xfrm>
            <a:off x="7744968" y="2523744"/>
            <a:ext cx="566928" cy="566928"/>
          </a:xfrm>
          <a:prstGeom prst="ellipse">
            <a:avLst/>
          </a:prstGeom>
          <a:solidFill>
            <a:srgbClr val="E5E9EF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3000" b="1">
                <a:solidFill>
                  <a:srgbClr val="536074"/>
                </a:solidFill>
                <a:latin typeface="Aptos"/>
              </a:rPr>
              <a:t>›</a:t>
            </a:r>
            <a:endParaRPr lang="de-DE" sz="3000"/>
          </a:p>
        </p:txBody>
      </p:sp>
      <p:sp>
        <p:nvSpPr>
          <p:cNvPr id="37" name="Text 37"/>
          <p:cNvSpPr txBox="1"/>
          <p:nvPr/>
        </p:nvSpPr>
        <p:spPr>
          <a:xfrm>
            <a:off x="1097280" y="4407408"/>
            <a:ext cx="10058400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 marL="0" marR="0"/>
            <a:r>
              <a:rPr lang="de-DE" sz="2100" b="1">
                <a:solidFill>
                  <a:srgbClr val="172033"/>
                </a:solidFill>
                <a:latin typeface="Aptos"/>
              </a:rPr>
              <a:t>Der erste und der zweite Tausch müssen nicht gleichzeitig stattfinden.</a:t>
            </a:r>
            <a:endParaRPr lang="de-DE" sz="2100"/>
          </a:p>
        </p:txBody>
      </p:sp>
      <p:sp>
        <p:nvSpPr>
          <p:cNvPr id="38" name="Text 38"/>
          <p:cNvSpPr txBox="1"/>
          <p:nvPr/>
        </p:nvSpPr>
        <p:spPr>
          <a:xfrm>
            <a:off x="658368" y="6510528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Wirtschaft · Beruf · Klasse 7</a:t>
            </a:r>
            <a:endParaRPr lang="de-DE" sz="900"/>
          </a:p>
        </p:txBody>
      </p:sp>
      <p:sp>
        <p:nvSpPr>
          <p:cNvPr id="39" name="Text 39"/>
          <p:cNvSpPr txBox="1"/>
          <p:nvPr/>
        </p:nvSpPr>
        <p:spPr>
          <a:xfrm>
            <a:off x="11018520" y="6510528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4</a:t>
            </a:r>
            <a:endParaRPr lang="de-DE" sz="9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7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 40"/>
          <p:cNvSpPr txBox="1"/>
          <p:nvPr/>
        </p:nvSpPr>
        <p:spPr>
          <a:xfrm>
            <a:off x="658368" y="347472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100" b="1">
                <a:solidFill>
                  <a:srgbClr val="7DE3C3"/>
                </a:solidFill>
                <a:latin typeface="Aptos"/>
              </a:rPr>
              <a:t>DER KERN</a:t>
            </a:r>
            <a:endParaRPr lang="de-DE" sz="1100"/>
          </a:p>
        </p:txBody>
      </p:sp>
      <p:sp>
        <p:nvSpPr>
          <p:cNvPr id="41" name="Text 41"/>
          <p:cNvSpPr txBox="1"/>
          <p:nvPr/>
        </p:nvSpPr>
        <p:spPr>
          <a:xfrm>
            <a:off x="658368" y="713232"/>
            <a:ext cx="107899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3000" b="1">
                <a:solidFill>
                  <a:srgbClr val="FFFFFF"/>
                </a:solidFill>
                <a:latin typeface="Aptos"/>
              </a:rPr>
              <a:t>Darum: Zwischentauschmittel</a:t>
            </a:r>
            <a:endParaRPr lang="de-DE" sz="3000"/>
          </a:p>
        </p:txBody>
      </p:sp>
      <p:sp>
        <p:nvSpPr>
          <p:cNvPr id="42" name="Shape 42"/>
          <p:cNvSpPr/>
          <p:nvPr/>
        </p:nvSpPr>
        <p:spPr>
          <a:xfrm>
            <a:off x="749808" y="1627632"/>
            <a:ext cx="10698480" cy="2304288"/>
          </a:xfrm>
          <a:prstGeom prst="roundRect">
            <a:avLst/>
          </a:prstGeom>
          <a:solidFill>
            <a:srgbClr val="183047"/>
          </a:solidFill>
          <a:ln w="12700">
            <a:solidFill>
              <a:srgbClr val="35506B"/>
            </a:solidFill>
          </a:ln>
        </p:spPr>
        <p:txBody>
          <a:bodyPr wrap="square" anchor="ctr" lIns="300000" rIns="300000" tIns="300000" bIns="300000"/>
          <a:lstStyle/>
          <a:p>
            <a:pPr algn="l" marL="0" marR="0"/>
            <a:r>
              <a:rPr lang="de-DE" sz="2700" b="1">
                <a:solidFill>
                  <a:srgbClr val="FFFFFF"/>
                </a:solidFill>
                <a:latin typeface="Aptos"/>
              </a:rPr>
              <a:t>Geld wird nicht genommen, weil man es verbrauchen will.</a:t>
            </a:r>
            <a:endParaRPr lang="de-DE" sz="2700"/>
          </a:p>
          <a:p>
            <a:pPr algn="l" marL="0" marR="0"/>
            <a:r>
              <a:rPr lang="de-DE" sz="2700" b="1">
                <a:solidFill>
                  <a:srgbClr val="FFFFFF"/>
                </a:solidFill>
                <a:latin typeface="Aptos"/>
              </a:rPr>
              <a:t>Man nimmt es, um es später wieder einzutauschen.</a:t>
            </a:r>
            <a:endParaRPr lang="de-DE" sz="2700"/>
          </a:p>
        </p:txBody>
      </p:sp>
      <p:sp>
        <p:nvSpPr>
          <p:cNvPr id="43" name="Shape 43"/>
          <p:cNvSpPr/>
          <p:nvPr/>
        </p:nvSpPr>
        <p:spPr>
          <a:xfrm>
            <a:off x="1993392" y="4434840"/>
            <a:ext cx="8211312" cy="786384"/>
          </a:xfrm>
          <a:prstGeom prst="roundRect">
            <a:avLst/>
          </a:prstGeom>
          <a:solidFill>
            <a:srgbClr val="28C69F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1900" b="1">
                <a:solidFill>
                  <a:srgbClr val="0D1726"/>
                </a:solidFill>
                <a:latin typeface="Aptos"/>
              </a:rPr>
              <a:t>Ware oder Arbeit  →  GELD  →  Ware oder Dienstleistung</a:t>
            </a:r>
            <a:endParaRPr lang="de-DE" sz="1900"/>
          </a:p>
        </p:txBody>
      </p:sp>
      <p:sp>
        <p:nvSpPr>
          <p:cNvPr id="44" name="Text 44"/>
          <p:cNvSpPr txBox="1"/>
          <p:nvPr/>
        </p:nvSpPr>
        <p:spPr>
          <a:xfrm>
            <a:off x="658368" y="6510528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900" b="0">
                <a:solidFill>
                  <a:srgbClr val="AAB5C7"/>
                </a:solidFill>
                <a:latin typeface="Aptos"/>
              </a:rPr>
              <a:t>Wirtschaft · Beruf · Klasse 7</a:t>
            </a:r>
            <a:endParaRPr lang="de-DE" sz="900"/>
          </a:p>
        </p:txBody>
      </p:sp>
      <p:sp>
        <p:nvSpPr>
          <p:cNvPr id="45" name="Text 45"/>
          <p:cNvSpPr txBox="1"/>
          <p:nvPr/>
        </p:nvSpPr>
        <p:spPr>
          <a:xfrm>
            <a:off x="11018520" y="6510528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 marL="0" marR="0"/>
            <a:r>
              <a:rPr lang="de-DE" sz="900" b="0">
                <a:solidFill>
                  <a:srgbClr val="AAB5C7"/>
                </a:solidFill>
                <a:latin typeface="Aptos"/>
              </a:rPr>
              <a:t>5</a:t>
            </a:r>
            <a:endParaRPr lang="de-DE" sz="9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 46"/>
          <p:cNvSpPr txBox="1"/>
          <p:nvPr/>
        </p:nvSpPr>
        <p:spPr>
          <a:xfrm>
            <a:off x="658368" y="347472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100" b="1">
                <a:solidFill>
                  <a:srgbClr val="157A65"/>
                </a:solidFill>
                <a:latin typeface="Aptos"/>
              </a:rPr>
              <a:t>DIE DEFINITION</a:t>
            </a:r>
            <a:endParaRPr lang="de-DE" sz="1100"/>
          </a:p>
        </p:txBody>
      </p:sp>
      <p:sp>
        <p:nvSpPr>
          <p:cNvPr id="47" name="Text 47"/>
          <p:cNvSpPr txBox="1"/>
          <p:nvPr/>
        </p:nvSpPr>
        <p:spPr>
          <a:xfrm>
            <a:off x="658368" y="713232"/>
            <a:ext cx="107899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3000" b="1">
                <a:solidFill>
                  <a:srgbClr val="101828"/>
                </a:solidFill>
                <a:latin typeface="Aptos"/>
              </a:rPr>
              <a:t>Die Geldprobe</a:t>
            </a:r>
            <a:endParaRPr lang="de-DE" sz="3000"/>
          </a:p>
        </p:txBody>
      </p:sp>
      <p:sp>
        <p:nvSpPr>
          <p:cNvPr id="48" name="Text 48"/>
          <p:cNvSpPr txBox="1"/>
          <p:nvPr/>
        </p:nvSpPr>
        <p:spPr>
          <a:xfrm>
            <a:off x="658368" y="1371600"/>
            <a:ext cx="1078992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800" b="0">
                <a:solidFill>
                  <a:srgbClr val="536074"/>
                </a:solidFill>
                <a:latin typeface="Aptos"/>
              </a:rPr>
              <a:t>Acht Prüffragen entscheiden, ob etwas Geld ist.</a:t>
            </a:r>
            <a:endParaRPr lang="de-DE" sz="1800"/>
          </a:p>
        </p:txBody>
      </p:sp>
      <p:sp>
        <p:nvSpPr>
          <p:cNvPr id="49" name="Shape 49"/>
          <p:cNvSpPr/>
          <p:nvPr/>
        </p:nvSpPr>
        <p:spPr>
          <a:xfrm>
            <a:off x="749808" y="1874520"/>
            <a:ext cx="5230368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</p:spPr>
        <p:txBody>
          <a:bodyPr wrap="square" anchor="ctr" lIns="220000" rIns="220000" tIns="220000" bIns="220000"/>
          <a:lstStyle/>
          <a:p>
            <a:pPr algn="l" marL="0" marR="0"/>
            <a:r>
              <a:rPr lang="de-DE" sz="1600" b="1">
                <a:solidFill>
                  <a:srgbClr val="172033"/>
                </a:solidFill>
                <a:latin typeface="Aptos"/>
              </a:rPr>
              <a:t>1  Staatlicher Währung zugeordnet</a:t>
            </a:r>
            <a:endParaRPr lang="de-DE" sz="1600"/>
          </a:p>
        </p:txBody>
      </p:sp>
      <p:sp>
        <p:nvSpPr>
          <p:cNvPr id="50" name="Shape 50"/>
          <p:cNvSpPr/>
          <p:nvPr/>
        </p:nvSpPr>
        <p:spPr>
          <a:xfrm>
            <a:off x="6300216" y="1874520"/>
            <a:ext cx="5230368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</p:spPr>
        <p:txBody>
          <a:bodyPr wrap="square" anchor="ctr" lIns="220000" rIns="220000" tIns="220000" bIns="220000"/>
          <a:lstStyle/>
          <a:p>
            <a:pPr algn="l" marL="0" marR="0"/>
            <a:r>
              <a:rPr lang="de-DE" sz="1600" b="1">
                <a:solidFill>
                  <a:srgbClr val="172033"/>
                </a:solidFill>
                <a:latin typeface="Aptos"/>
              </a:rPr>
              <a:t>2  Allgemein anerkannt</a:t>
            </a:r>
            <a:endParaRPr lang="de-DE" sz="1600"/>
          </a:p>
        </p:txBody>
      </p:sp>
      <p:sp>
        <p:nvSpPr>
          <p:cNvPr id="51" name="Shape 51"/>
          <p:cNvSpPr/>
          <p:nvPr/>
        </p:nvSpPr>
        <p:spPr>
          <a:xfrm>
            <a:off x="749808" y="2807208"/>
            <a:ext cx="5230368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</p:spPr>
        <p:txBody>
          <a:bodyPr wrap="square" anchor="ctr" lIns="220000" rIns="220000" tIns="220000" bIns="220000"/>
          <a:lstStyle/>
          <a:p>
            <a:pPr algn="l" marL="0" marR="0"/>
            <a:r>
              <a:rPr lang="de-DE" sz="1600" b="1">
                <a:solidFill>
                  <a:srgbClr val="172033"/>
                </a:solidFill>
                <a:latin typeface="Aptos"/>
              </a:rPr>
              <a:t>3  Erzeugung geregelt und knapp</a:t>
            </a:r>
            <a:endParaRPr lang="de-DE" sz="1600"/>
          </a:p>
        </p:txBody>
      </p:sp>
      <p:sp>
        <p:nvSpPr>
          <p:cNvPr id="52" name="Shape 52"/>
          <p:cNvSpPr/>
          <p:nvPr/>
        </p:nvSpPr>
        <p:spPr>
          <a:xfrm>
            <a:off x="6300216" y="2807208"/>
            <a:ext cx="5230368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</p:spPr>
        <p:txBody>
          <a:bodyPr wrap="square" anchor="ctr" lIns="220000" rIns="220000" tIns="220000" bIns="220000"/>
          <a:lstStyle/>
          <a:p>
            <a:pPr algn="l" marL="0" marR="0"/>
            <a:r>
              <a:rPr lang="de-DE" sz="1600" b="1">
                <a:solidFill>
                  <a:srgbClr val="172033"/>
                </a:solidFill>
                <a:latin typeface="Aptos"/>
              </a:rPr>
              <a:t>4  Teilbar und stückelbar</a:t>
            </a:r>
            <a:endParaRPr lang="de-DE" sz="1600"/>
          </a:p>
        </p:txBody>
      </p:sp>
      <p:sp>
        <p:nvSpPr>
          <p:cNvPr id="53" name="Shape 53"/>
          <p:cNvSpPr/>
          <p:nvPr/>
        </p:nvSpPr>
        <p:spPr>
          <a:xfrm>
            <a:off x="749808" y="3739896"/>
            <a:ext cx="5230368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</p:spPr>
        <p:txBody>
          <a:bodyPr wrap="square" anchor="ctr" lIns="220000" rIns="220000" tIns="220000" bIns="220000"/>
          <a:lstStyle/>
          <a:p>
            <a:pPr algn="l" marL="0" marR="0"/>
            <a:r>
              <a:rPr lang="de-DE" sz="1600" b="1">
                <a:solidFill>
                  <a:srgbClr val="172033"/>
                </a:solidFill>
                <a:latin typeface="Aptos"/>
              </a:rPr>
              <a:t>5  Leicht übertragbar</a:t>
            </a:r>
            <a:endParaRPr lang="de-DE" sz="1600"/>
          </a:p>
        </p:txBody>
      </p:sp>
      <p:sp>
        <p:nvSpPr>
          <p:cNvPr id="54" name="Shape 54"/>
          <p:cNvSpPr/>
          <p:nvPr/>
        </p:nvSpPr>
        <p:spPr>
          <a:xfrm>
            <a:off x="6300216" y="3739896"/>
            <a:ext cx="5230368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</p:spPr>
        <p:txBody>
          <a:bodyPr wrap="square" anchor="ctr" lIns="220000" rIns="220000" tIns="220000" bIns="220000"/>
          <a:lstStyle/>
          <a:p>
            <a:pPr algn="l" marL="0" marR="0"/>
            <a:r>
              <a:rPr lang="de-DE" sz="1600" b="1">
                <a:solidFill>
                  <a:srgbClr val="172033"/>
                </a:solidFill>
                <a:latin typeface="Aptos"/>
              </a:rPr>
              <a:t>6  Zur Wertaufbewahrung geeignet</a:t>
            </a:r>
            <a:endParaRPr lang="de-DE" sz="1600"/>
          </a:p>
        </p:txBody>
      </p:sp>
      <p:sp>
        <p:nvSpPr>
          <p:cNvPr id="55" name="Shape 55"/>
          <p:cNvSpPr/>
          <p:nvPr/>
        </p:nvSpPr>
        <p:spPr>
          <a:xfrm>
            <a:off x="749808" y="4672584"/>
            <a:ext cx="5230368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</p:spPr>
        <p:txBody>
          <a:bodyPr wrap="square" anchor="ctr" lIns="220000" rIns="220000" tIns="220000" bIns="220000"/>
          <a:lstStyle/>
          <a:p>
            <a:pPr algn="l" marL="0" marR="0"/>
            <a:r>
              <a:rPr lang="de-DE" sz="1600" b="1">
                <a:solidFill>
                  <a:srgbClr val="172033"/>
                </a:solidFill>
                <a:latin typeface="Aptos"/>
              </a:rPr>
              <a:t>7  Recheneinheit und Wertmaßstab</a:t>
            </a:r>
            <a:endParaRPr lang="de-DE" sz="1600"/>
          </a:p>
        </p:txBody>
      </p:sp>
      <p:sp>
        <p:nvSpPr>
          <p:cNvPr id="56" name="Shape 56"/>
          <p:cNvSpPr/>
          <p:nvPr/>
        </p:nvSpPr>
        <p:spPr>
          <a:xfrm>
            <a:off x="6300216" y="4672584"/>
            <a:ext cx="5230368" cy="694944"/>
          </a:xfrm>
          <a:prstGeom prst="roundRect">
            <a:avLst/>
          </a:prstGeom>
          <a:solidFill>
            <a:srgbClr val="E7F8F3"/>
          </a:solidFill>
          <a:ln w="12700">
            <a:solidFill>
              <a:srgbClr val="28C69F"/>
            </a:solidFill>
          </a:ln>
        </p:spPr>
        <p:txBody>
          <a:bodyPr wrap="square" anchor="ctr" lIns="220000" rIns="220000" tIns="220000" bIns="220000"/>
          <a:lstStyle/>
          <a:p>
            <a:pPr algn="l" marL="0" marR="0"/>
            <a:r>
              <a:rPr lang="de-DE" sz="1600" b="1">
                <a:solidFill>
                  <a:srgbClr val="157A65"/>
                </a:solidFill>
                <a:latin typeface="Aptos"/>
              </a:rPr>
              <a:t>8  Zwischentauschmittel</a:t>
            </a:r>
            <a:endParaRPr lang="de-DE" sz="1600"/>
          </a:p>
        </p:txBody>
      </p:sp>
      <p:sp>
        <p:nvSpPr>
          <p:cNvPr id="57" name="Text 57"/>
          <p:cNvSpPr txBox="1"/>
          <p:nvPr/>
        </p:nvSpPr>
        <p:spPr>
          <a:xfrm>
            <a:off x="658368" y="6510528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Wirtschaft · Beruf · Klasse 7</a:t>
            </a:r>
            <a:endParaRPr lang="de-DE" sz="900"/>
          </a:p>
        </p:txBody>
      </p:sp>
      <p:sp>
        <p:nvSpPr>
          <p:cNvPr id="58" name="Text 58"/>
          <p:cNvSpPr txBox="1"/>
          <p:nvPr/>
        </p:nvSpPr>
        <p:spPr>
          <a:xfrm>
            <a:off x="11018520" y="6510528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6</a:t>
            </a:r>
            <a:endParaRPr lang="de-DE" sz="9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 59"/>
          <p:cNvSpPr txBox="1"/>
          <p:nvPr/>
        </p:nvSpPr>
        <p:spPr>
          <a:xfrm>
            <a:off x="658368" y="347472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100" b="1">
                <a:solidFill>
                  <a:srgbClr val="157A65"/>
                </a:solidFill>
                <a:latin typeface="Aptos"/>
              </a:rPr>
              <a:t>DIE ENTSCHEIDENDE REGEL</a:t>
            </a:r>
            <a:endParaRPr lang="de-DE" sz="1100"/>
          </a:p>
        </p:txBody>
      </p:sp>
      <p:sp>
        <p:nvSpPr>
          <p:cNvPr id="60" name="Text 60"/>
          <p:cNvSpPr txBox="1"/>
          <p:nvPr/>
        </p:nvSpPr>
        <p:spPr>
          <a:xfrm>
            <a:off x="658368" y="713232"/>
            <a:ext cx="107899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3000" b="1">
                <a:solidFill>
                  <a:srgbClr val="101828"/>
                </a:solidFill>
                <a:latin typeface="Aptos"/>
              </a:rPr>
              <a:t>Alle Bedingungen müssen gelten</a:t>
            </a:r>
            <a:endParaRPr lang="de-DE" sz="3000"/>
          </a:p>
        </p:txBody>
      </p:sp>
      <p:sp>
        <p:nvSpPr>
          <p:cNvPr id="61" name="Shape 61"/>
          <p:cNvSpPr/>
          <p:nvPr/>
        </p:nvSpPr>
        <p:spPr>
          <a:xfrm>
            <a:off x="777240" y="1682496"/>
            <a:ext cx="2971800" cy="2971800"/>
          </a:xfrm>
          <a:prstGeom prst="ellipse">
            <a:avLst/>
          </a:prstGeom>
          <a:solidFill>
            <a:srgbClr val="E7B84B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4400" b="1">
                <a:solidFill>
                  <a:srgbClr val="172033"/>
                </a:solidFill>
                <a:latin typeface="Aptos"/>
              </a:rPr>
              <a:t>UND</a:t>
            </a:r>
            <a:endParaRPr lang="de-DE" sz="4400"/>
          </a:p>
        </p:txBody>
      </p:sp>
      <p:sp>
        <p:nvSpPr>
          <p:cNvPr id="62" name="Text 62"/>
          <p:cNvSpPr txBox="1"/>
          <p:nvPr/>
        </p:nvSpPr>
        <p:spPr>
          <a:xfrm>
            <a:off x="4370832" y="1755648"/>
            <a:ext cx="6446520" cy="12801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3000" b="1">
                <a:solidFill>
                  <a:srgbClr val="172033"/>
                </a:solidFill>
                <a:latin typeface="Aptos"/>
              </a:rPr>
              <a:t>Siebenmal Ja und einmal Nein?</a:t>
            </a:r>
            <a:endParaRPr lang="de-DE" sz="3000"/>
          </a:p>
          <a:p>
            <a:pPr algn="l" marL="0" marR="0"/>
            <a:r>
              <a:rPr lang="de-DE" sz="3000" b="1">
                <a:solidFill>
                  <a:srgbClr val="172033"/>
                </a:solidFill>
                <a:latin typeface="Aptos"/>
              </a:rPr>
              <a:t>Dann ist es kein Geld.</a:t>
            </a:r>
            <a:endParaRPr lang="de-DE" sz="3000"/>
          </a:p>
        </p:txBody>
      </p:sp>
      <p:sp>
        <p:nvSpPr>
          <p:cNvPr id="63" name="Shape 63"/>
          <p:cNvSpPr/>
          <p:nvPr/>
        </p:nvSpPr>
        <p:spPr>
          <a:xfrm>
            <a:off x="4370832" y="3456432"/>
            <a:ext cx="6181344" cy="1097280"/>
          </a:xfrm>
          <a:prstGeom prst="roundRect">
            <a:avLst/>
          </a:prstGeom>
          <a:solidFill>
            <a:srgbClr val="172033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400" b="1">
                <a:solidFill>
                  <a:srgbClr val="FFFFFF"/>
                </a:solidFill>
                <a:latin typeface="Aptos"/>
              </a:rPr>
              <a:t>Nur achtmal JA bedeutet: GELD</a:t>
            </a:r>
            <a:endParaRPr lang="de-DE" sz="2400"/>
          </a:p>
        </p:txBody>
      </p:sp>
      <p:sp>
        <p:nvSpPr>
          <p:cNvPr id="64" name="Text 64"/>
          <p:cNvSpPr txBox="1"/>
          <p:nvPr/>
        </p:nvSpPr>
        <p:spPr>
          <a:xfrm>
            <a:off x="4407408" y="4892040"/>
            <a:ext cx="653796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900" b="1">
                <a:solidFill>
                  <a:srgbClr val="8A5A13"/>
                </a:solidFill>
                <a:latin typeface="Aptos"/>
              </a:rPr>
              <a:t>Ein Merkmal allein reicht niemals aus.</a:t>
            </a:r>
            <a:endParaRPr lang="de-DE" sz="1900"/>
          </a:p>
        </p:txBody>
      </p:sp>
      <p:sp>
        <p:nvSpPr>
          <p:cNvPr id="65" name="Text 65"/>
          <p:cNvSpPr txBox="1"/>
          <p:nvPr/>
        </p:nvSpPr>
        <p:spPr>
          <a:xfrm>
            <a:off x="658368" y="6510528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Wirtschaft · Beruf · Klasse 7</a:t>
            </a:r>
            <a:endParaRPr lang="de-DE" sz="900"/>
          </a:p>
        </p:txBody>
      </p:sp>
      <p:sp>
        <p:nvSpPr>
          <p:cNvPr id="66" name="Text 66"/>
          <p:cNvSpPr txBox="1"/>
          <p:nvPr/>
        </p:nvSpPr>
        <p:spPr>
          <a:xfrm>
            <a:off x="11018520" y="6510528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7</a:t>
            </a:r>
            <a:endParaRPr lang="de-DE" sz="9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 67"/>
          <p:cNvSpPr txBox="1"/>
          <p:nvPr/>
        </p:nvSpPr>
        <p:spPr>
          <a:xfrm>
            <a:off x="658368" y="347472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100" b="1">
                <a:solidFill>
                  <a:srgbClr val="157A65"/>
                </a:solidFill>
                <a:latin typeface="Aptos"/>
              </a:rPr>
              <a:t>DIE GELDPROBE</a:t>
            </a:r>
            <a:endParaRPr lang="de-DE" sz="1100"/>
          </a:p>
        </p:txBody>
      </p:sp>
      <p:sp>
        <p:nvSpPr>
          <p:cNvPr id="68" name="Text 68"/>
          <p:cNvSpPr txBox="1"/>
          <p:nvPr/>
        </p:nvSpPr>
        <p:spPr>
          <a:xfrm>
            <a:off x="658368" y="713232"/>
            <a:ext cx="107899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3000" b="1">
                <a:solidFill>
                  <a:srgbClr val="101828"/>
                </a:solidFill>
                <a:latin typeface="Aptos"/>
              </a:rPr>
              <a:t>1 · Einer staatlichen Währung zugeordnet</a:t>
            </a:r>
            <a:endParaRPr lang="de-DE" sz="3000"/>
          </a:p>
        </p:txBody>
      </p:sp>
      <p:sp>
        <p:nvSpPr>
          <p:cNvPr id="69" name="Shape 69"/>
          <p:cNvSpPr/>
          <p:nvPr/>
        </p:nvSpPr>
        <p:spPr>
          <a:xfrm>
            <a:off x="786384" y="1691640"/>
            <a:ext cx="2880360" cy="2880360"/>
          </a:xfrm>
          <a:prstGeom prst="ellipse">
            <a:avLst/>
          </a:prstGeom>
          <a:solidFill>
            <a:srgbClr val="6E8BF7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7800" b="1">
                <a:solidFill>
                  <a:srgbClr val="FFFFFF"/>
                </a:solidFill>
                <a:latin typeface="Aptos"/>
              </a:rPr>
              <a:t>€</a:t>
            </a:r>
            <a:endParaRPr lang="de-DE" sz="7800"/>
          </a:p>
        </p:txBody>
      </p:sp>
      <p:sp>
        <p:nvSpPr>
          <p:cNvPr id="70" name="Text 70"/>
          <p:cNvSpPr txBox="1"/>
          <p:nvPr/>
        </p:nvSpPr>
        <p:spPr>
          <a:xfrm>
            <a:off x="4224528" y="1691640"/>
            <a:ext cx="6583680" cy="10515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2700" b="1">
                <a:solidFill>
                  <a:srgbClr val="172033"/>
                </a:solidFill>
                <a:latin typeface="Aptos"/>
              </a:rPr>
              <a:t>Der Euro gehört zur Währungsordnung des Staatenbundes EU.</a:t>
            </a:r>
            <a:endParaRPr lang="de-DE" sz="2700"/>
          </a:p>
        </p:txBody>
      </p:sp>
      <p:sp>
        <p:nvSpPr>
          <p:cNvPr id="71" name="Shape 71"/>
          <p:cNvSpPr/>
          <p:nvPr/>
        </p:nvSpPr>
        <p:spPr>
          <a:xfrm>
            <a:off x="4224528" y="3127248"/>
            <a:ext cx="6400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</p:spPr>
        <p:txBody>
          <a:bodyPr wrap="square" anchor="ctr" lIns="220000" rIns="220000" tIns="220000" bIns="220000"/>
          <a:lstStyle/>
          <a:p>
            <a:pPr algn="l" marL="0" marR="0"/>
            <a:r>
              <a:rPr lang="de-DE" sz="2000" b="1">
                <a:solidFill>
                  <a:srgbClr val="172033"/>
                </a:solidFill>
                <a:latin typeface="Aptos"/>
              </a:rPr>
              <a:t>Bargeld und Giralgeld lauten beide auf Euro.</a:t>
            </a:r>
            <a:endParaRPr lang="de-DE" sz="2000"/>
          </a:p>
        </p:txBody>
      </p:sp>
      <p:sp>
        <p:nvSpPr>
          <p:cNvPr id="72" name="Text 72"/>
          <p:cNvSpPr txBox="1"/>
          <p:nvPr/>
        </p:nvSpPr>
        <p:spPr>
          <a:xfrm>
            <a:off x="4261104" y="4498848"/>
            <a:ext cx="6400800" cy="6217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800" b="0">
                <a:solidFill>
                  <a:srgbClr val="536074"/>
                </a:solidFill>
                <a:latin typeface="Aptos"/>
              </a:rPr>
              <a:t>Nicht der Gegenstand entscheidet – sondern seine Einordnung in die Währung.</a:t>
            </a:r>
            <a:endParaRPr lang="de-DE" sz="1800"/>
          </a:p>
        </p:txBody>
      </p:sp>
      <p:sp>
        <p:nvSpPr>
          <p:cNvPr id="73" name="Text 73"/>
          <p:cNvSpPr txBox="1"/>
          <p:nvPr/>
        </p:nvSpPr>
        <p:spPr>
          <a:xfrm>
            <a:off x="658368" y="6510528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Wirtschaft · Beruf · Klasse 7</a:t>
            </a:r>
            <a:endParaRPr lang="de-DE" sz="900"/>
          </a:p>
        </p:txBody>
      </p:sp>
      <p:sp>
        <p:nvSpPr>
          <p:cNvPr id="74" name="Text 74"/>
          <p:cNvSpPr txBox="1"/>
          <p:nvPr/>
        </p:nvSpPr>
        <p:spPr>
          <a:xfrm>
            <a:off x="11018520" y="6510528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8</a:t>
            </a:r>
            <a:endParaRPr lang="de-DE" sz="9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 75"/>
          <p:cNvSpPr txBox="1"/>
          <p:nvPr/>
        </p:nvSpPr>
        <p:spPr>
          <a:xfrm>
            <a:off x="658368" y="347472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100" b="1">
                <a:solidFill>
                  <a:srgbClr val="157A65"/>
                </a:solidFill>
                <a:latin typeface="Aptos"/>
              </a:rPr>
              <a:t>DIE GELDPROBE</a:t>
            </a:r>
            <a:endParaRPr lang="de-DE" sz="1100"/>
          </a:p>
        </p:txBody>
      </p:sp>
      <p:sp>
        <p:nvSpPr>
          <p:cNvPr id="76" name="Text 76"/>
          <p:cNvSpPr txBox="1"/>
          <p:nvPr/>
        </p:nvSpPr>
        <p:spPr>
          <a:xfrm>
            <a:off x="658368" y="713232"/>
            <a:ext cx="107899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3000" b="1">
                <a:solidFill>
                  <a:srgbClr val="101828"/>
                </a:solidFill>
                <a:latin typeface="Aptos"/>
              </a:rPr>
              <a:t>2 · Allgemein anerkannt</a:t>
            </a:r>
            <a:endParaRPr lang="de-DE" sz="3000"/>
          </a:p>
        </p:txBody>
      </p:sp>
      <p:sp>
        <p:nvSpPr>
          <p:cNvPr id="77" name="Shape 77"/>
          <p:cNvSpPr/>
          <p:nvPr/>
        </p:nvSpPr>
        <p:spPr>
          <a:xfrm>
            <a:off x="786384" y="1664208"/>
            <a:ext cx="4864608" cy="3310128"/>
          </a:xfrm>
          <a:prstGeom prst="roundRect">
            <a:avLst/>
          </a:prstGeom>
          <a:solidFill>
            <a:srgbClr val="E7F8F3"/>
          </a:solidFill>
          <a:ln w="12700">
            <a:solidFill>
              <a:srgbClr val="28C69F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700" b="1">
                <a:solidFill>
                  <a:srgbClr val="157A65"/>
                </a:solidFill>
                <a:latin typeface="Aptos"/>
              </a:rPr>
              <a:t>Ich nehme es an,</a:t>
            </a:r>
            <a:endParaRPr lang="de-DE" sz="2700"/>
          </a:p>
          <a:p>
            <a:pPr algn="ctr" marL="0" marR="0"/>
            <a:r>
              <a:rPr lang="de-DE" sz="2700" b="1">
                <a:solidFill>
                  <a:srgbClr val="157A65"/>
                </a:solidFill>
                <a:latin typeface="Aptos"/>
              </a:rPr>
              <a:t>weil ich weiß:</a:t>
            </a:r>
            <a:endParaRPr lang="de-DE" sz="2700"/>
          </a:p>
          <a:p>
            <a:pPr algn="ctr" marL="0" marR="0"/>
            <a:r>
              <a:rPr lang="de-DE" sz="2700" b="1">
                <a:solidFill>
                  <a:srgbClr val="157A65"/>
                </a:solidFill>
                <a:latin typeface="Aptos"/>
              </a:rPr>
              <a:t>Andere nehmen es auch an.</a:t>
            </a:r>
            <a:endParaRPr lang="de-DE" sz="2700"/>
          </a:p>
        </p:txBody>
      </p:sp>
      <p:sp>
        <p:nvSpPr>
          <p:cNvPr id="78" name="Shape 78"/>
          <p:cNvSpPr/>
          <p:nvPr/>
        </p:nvSpPr>
        <p:spPr>
          <a:xfrm>
            <a:off x="6144768" y="1664208"/>
            <a:ext cx="486460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000" b="1">
                <a:solidFill>
                  <a:srgbClr val="172033"/>
                </a:solidFill>
                <a:latin typeface="Aptos"/>
              </a:rPr>
              <a:t>Ein Ladengutschein</a:t>
            </a:r>
            <a:endParaRPr lang="de-DE" sz="2000"/>
          </a:p>
          <a:p>
            <a:pPr algn="ctr" marL="0" marR="0"/>
            <a:r>
              <a:rPr lang="de-DE" sz="2000" b="1">
                <a:solidFill>
                  <a:srgbClr val="172033"/>
                </a:solidFill>
                <a:latin typeface="Aptos"/>
              </a:rPr>
              <a:t>gilt nur in wenigen Geschäften.</a:t>
            </a:r>
            <a:endParaRPr lang="de-DE" sz="2000"/>
          </a:p>
        </p:txBody>
      </p:sp>
      <p:sp>
        <p:nvSpPr>
          <p:cNvPr id="79" name="Shape 79"/>
          <p:cNvSpPr/>
          <p:nvPr/>
        </p:nvSpPr>
        <p:spPr>
          <a:xfrm>
            <a:off x="6144768" y="3246120"/>
            <a:ext cx="4864608" cy="1298448"/>
          </a:xfrm>
          <a:prstGeom prst="roundRect">
            <a:avLst/>
          </a:prstGeom>
          <a:solidFill>
            <a:srgbClr val="FFE7E5"/>
          </a:solidFill>
          <a:ln w="12700">
            <a:solidFill>
              <a:srgbClr val="F7B4AF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000" b="1">
                <a:solidFill>
                  <a:srgbClr val="B42318"/>
                </a:solidFill>
                <a:latin typeface="Aptos"/>
              </a:rPr>
              <a:t>Darum ist ein Gutschein</a:t>
            </a:r>
            <a:endParaRPr lang="de-DE" sz="2000"/>
          </a:p>
          <a:p>
            <a:pPr algn="ctr" marL="0" marR="0"/>
            <a:r>
              <a:rPr lang="de-DE" sz="2000" b="1">
                <a:solidFill>
                  <a:srgbClr val="B42318"/>
                </a:solidFill>
                <a:latin typeface="Aptos"/>
              </a:rPr>
              <a:t>kein allgemein anerkanntes Geld.</a:t>
            </a:r>
            <a:endParaRPr lang="de-DE" sz="2000"/>
          </a:p>
        </p:txBody>
      </p:sp>
      <p:sp>
        <p:nvSpPr>
          <p:cNvPr id="80" name="Text 80"/>
          <p:cNvSpPr txBox="1"/>
          <p:nvPr/>
        </p:nvSpPr>
        <p:spPr>
          <a:xfrm>
            <a:off x="658368" y="6510528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Wirtschaft · Beruf · Klasse 7</a:t>
            </a:r>
            <a:endParaRPr lang="de-DE" sz="900"/>
          </a:p>
        </p:txBody>
      </p:sp>
      <p:sp>
        <p:nvSpPr>
          <p:cNvPr id="81" name="Text 81"/>
          <p:cNvSpPr txBox="1"/>
          <p:nvPr/>
        </p:nvSpPr>
        <p:spPr>
          <a:xfrm>
            <a:off x="11018520" y="6510528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9</a:t>
            </a:r>
            <a:endParaRPr lang="de-DE" sz="9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7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 82"/>
          <p:cNvSpPr txBox="1"/>
          <p:nvPr/>
        </p:nvSpPr>
        <p:spPr>
          <a:xfrm>
            <a:off x="658368" y="347472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100" b="1">
                <a:solidFill>
                  <a:srgbClr val="7DE3C3"/>
                </a:solidFill>
                <a:latin typeface="Aptos"/>
              </a:rPr>
              <a:t>DIE GELDPROBE</a:t>
            </a:r>
            <a:endParaRPr lang="de-DE" sz="1100"/>
          </a:p>
        </p:txBody>
      </p:sp>
      <p:sp>
        <p:nvSpPr>
          <p:cNvPr id="83" name="Text 83"/>
          <p:cNvSpPr txBox="1"/>
          <p:nvPr/>
        </p:nvSpPr>
        <p:spPr>
          <a:xfrm>
            <a:off x="658368" y="713232"/>
            <a:ext cx="107899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3000" b="1">
                <a:solidFill>
                  <a:srgbClr val="FFFFFF"/>
                </a:solidFill>
                <a:latin typeface="Aptos"/>
              </a:rPr>
              <a:t>3 · Erzeugung geregelt und knapp</a:t>
            </a:r>
            <a:endParaRPr lang="de-DE" sz="3000"/>
          </a:p>
        </p:txBody>
      </p:sp>
      <p:sp>
        <p:nvSpPr>
          <p:cNvPr id="84" name="Text 84"/>
          <p:cNvSpPr txBox="1"/>
          <p:nvPr/>
        </p:nvSpPr>
        <p:spPr>
          <a:xfrm>
            <a:off x="749808" y="1536192"/>
            <a:ext cx="6629400" cy="123444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2900" b="1">
                <a:solidFill>
                  <a:srgbClr val="FFFFFF"/>
                </a:solidFill>
                <a:latin typeface="Aptos"/>
              </a:rPr>
              <a:t>Könnte jeder beliebig neues Geld erzeugen, würde niemand mehr darauf vertrauen.</a:t>
            </a:r>
            <a:endParaRPr lang="de-DE" sz="2900"/>
          </a:p>
        </p:txBody>
      </p:sp>
      <p:sp>
        <p:nvSpPr>
          <p:cNvPr id="85" name="Shape 85"/>
          <p:cNvSpPr/>
          <p:nvPr/>
        </p:nvSpPr>
        <p:spPr>
          <a:xfrm>
            <a:off x="8001000" y="1417320"/>
            <a:ext cx="2423160" cy="2423160"/>
          </a:xfrm>
          <a:prstGeom prst="ellipse">
            <a:avLst/>
          </a:prstGeom>
          <a:solidFill>
            <a:srgbClr val="FFE7E5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6400" b="1">
                <a:solidFill>
                  <a:srgbClr val="B42318"/>
                </a:solidFill>
                <a:latin typeface="Aptos"/>
              </a:rPr>
              <a:t>∞</a:t>
            </a:r>
            <a:endParaRPr lang="de-DE" sz="6400"/>
          </a:p>
        </p:txBody>
      </p:sp>
      <p:sp>
        <p:nvSpPr>
          <p:cNvPr id="86" name="Shape 86"/>
          <p:cNvSpPr/>
          <p:nvPr/>
        </p:nvSpPr>
        <p:spPr>
          <a:xfrm>
            <a:off x="749808" y="3401568"/>
            <a:ext cx="10222992" cy="1051560"/>
          </a:xfrm>
          <a:prstGeom prst="roundRect">
            <a:avLst/>
          </a:prstGeom>
          <a:solidFill>
            <a:srgbClr val="183047"/>
          </a:solidFill>
          <a:ln w="12700">
            <a:solidFill>
              <a:srgbClr val="35506B"/>
            </a:solidFill>
          </a:ln>
        </p:spPr>
        <p:txBody>
          <a:bodyPr wrap="square" anchor="ctr" lIns="250000" rIns="250000" tIns="250000" bIns="250000"/>
          <a:lstStyle/>
          <a:p>
            <a:pPr algn="l" marL="0" marR="0"/>
            <a:r>
              <a:rPr lang="de-DE" sz="2000" b="1">
                <a:solidFill>
                  <a:srgbClr val="C8D2DF"/>
                </a:solidFill>
                <a:latin typeface="Aptos"/>
              </a:rPr>
              <a:t>Knapp heißt nicht: Es gibt nur wenig. Knapp heißt: Die Erzeugung ist begrenzt und geregelt.</a:t>
            </a:r>
            <a:endParaRPr lang="de-DE" sz="2000"/>
          </a:p>
        </p:txBody>
      </p:sp>
      <p:sp>
        <p:nvSpPr>
          <p:cNvPr id="87" name="Text 87"/>
          <p:cNvSpPr txBox="1"/>
          <p:nvPr/>
        </p:nvSpPr>
        <p:spPr>
          <a:xfrm>
            <a:off x="768096" y="4892040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800" b="1">
                <a:solidFill>
                  <a:srgbClr val="7DE3C3"/>
                </a:solidFill>
                <a:latin typeface="Aptos"/>
              </a:rPr>
              <a:t>Fälschungssicherheit schützt diese geregelte Knappheit.</a:t>
            </a:r>
            <a:endParaRPr lang="de-DE" sz="1800"/>
          </a:p>
        </p:txBody>
      </p:sp>
      <p:sp>
        <p:nvSpPr>
          <p:cNvPr id="88" name="Text 88"/>
          <p:cNvSpPr txBox="1"/>
          <p:nvPr/>
        </p:nvSpPr>
        <p:spPr>
          <a:xfrm>
            <a:off x="658368" y="6510528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900" b="0">
                <a:solidFill>
                  <a:srgbClr val="AAB5C7"/>
                </a:solidFill>
                <a:latin typeface="Aptos"/>
              </a:rPr>
              <a:t>Wirtschaft · Beruf · Klasse 7</a:t>
            </a:r>
            <a:endParaRPr lang="de-DE" sz="900"/>
          </a:p>
        </p:txBody>
      </p:sp>
      <p:sp>
        <p:nvSpPr>
          <p:cNvPr id="89" name="Text 89"/>
          <p:cNvSpPr txBox="1"/>
          <p:nvPr/>
        </p:nvSpPr>
        <p:spPr>
          <a:xfrm>
            <a:off x="11018520" y="6510528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 marL="0" marR="0"/>
            <a:r>
              <a:rPr lang="de-DE" sz="900" b="0">
                <a:solidFill>
                  <a:srgbClr val="AAB5C7"/>
                </a:solidFill>
                <a:latin typeface="Aptos"/>
              </a:rPr>
              <a:t>10</a:t>
            </a:r>
            <a:endParaRPr lang="de-DE" sz="9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 90"/>
          <p:cNvSpPr txBox="1"/>
          <p:nvPr/>
        </p:nvSpPr>
        <p:spPr>
          <a:xfrm>
            <a:off x="658368" y="347472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100" b="1">
                <a:solidFill>
                  <a:srgbClr val="157A65"/>
                </a:solidFill>
                <a:latin typeface="Aptos"/>
              </a:rPr>
              <a:t>DIE GELDPROBE</a:t>
            </a:r>
            <a:endParaRPr lang="de-DE" sz="1100"/>
          </a:p>
        </p:txBody>
      </p:sp>
      <p:sp>
        <p:nvSpPr>
          <p:cNvPr id="91" name="Text 91"/>
          <p:cNvSpPr txBox="1"/>
          <p:nvPr/>
        </p:nvSpPr>
        <p:spPr>
          <a:xfrm>
            <a:off x="658368" y="713232"/>
            <a:ext cx="107899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3000" b="1">
                <a:solidFill>
                  <a:srgbClr val="101828"/>
                </a:solidFill>
                <a:latin typeface="Aptos"/>
              </a:rPr>
              <a:t>4 und 5 · Teilbar und leicht übertragbar</a:t>
            </a:r>
            <a:endParaRPr lang="de-DE" sz="3000"/>
          </a:p>
        </p:txBody>
      </p:sp>
      <p:sp>
        <p:nvSpPr>
          <p:cNvPr id="92" name="Shape 92"/>
          <p:cNvSpPr/>
          <p:nvPr/>
        </p:nvSpPr>
        <p:spPr>
          <a:xfrm>
            <a:off x="777240" y="1664208"/>
            <a:ext cx="5047488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300" b="1">
                <a:solidFill>
                  <a:srgbClr val="172033"/>
                </a:solidFill>
                <a:latin typeface="Aptos"/>
              </a:rPr>
              <a:t>Teilbar</a:t>
            </a:r>
            <a:endParaRPr lang="de-DE" sz="2300"/>
          </a:p>
          <a:p>
            <a:pPr algn="ctr" marL="0" marR="0"/>
            <a:r>
              <a:rPr lang="de-DE" sz="2300" b="1">
                <a:solidFill>
                  <a:srgbClr val="172033"/>
                </a:solidFill>
                <a:latin typeface="Aptos"/>
              </a:rPr>
              <a:t>1 Euro = 100 Cent</a:t>
            </a:r>
            <a:endParaRPr lang="de-DE" sz="2300"/>
          </a:p>
          <a:p>
            <a:pPr algn="ctr" marL="0" marR="0"/>
            <a:r>
              <a:rPr lang="de-DE" sz="2300" b="1">
                <a:solidFill>
                  <a:srgbClr val="172033"/>
                </a:solidFill>
                <a:latin typeface="Aptos"/>
              </a:rPr>
              <a:t/>
            </a:r>
            <a:endParaRPr lang="de-DE" sz="2300"/>
          </a:p>
          <a:p>
            <a:pPr algn="ctr" marL="0" marR="0"/>
            <a:r>
              <a:rPr lang="de-DE" sz="2300" b="1">
                <a:solidFill>
                  <a:srgbClr val="172033"/>
                </a:solidFill>
                <a:latin typeface="Aptos"/>
              </a:rPr>
              <a:t>Auch kleine Preise</a:t>
            </a:r>
            <a:endParaRPr lang="de-DE" sz="2300"/>
          </a:p>
          <a:p>
            <a:pPr algn="ctr" marL="0" marR="0"/>
            <a:r>
              <a:rPr lang="de-DE" sz="2300" b="1">
                <a:solidFill>
                  <a:srgbClr val="172033"/>
                </a:solidFill>
                <a:latin typeface="Aptos"/>
              </a:rPr>
              <a:t>können bezahlt werden.</a:t>
            </a:r>
            <a:endParaRPr lang="de-DE" sz="2300"/>
          </a:p>
        </p:txBody>
      </p:sp>
      <p:sp>
        <p:nvSpPr>
          <p:cNvPr id="93" name="Shape 93"/>
          <p:cNvSpPr/>
          <p:nvPr/>
        </p:nvSpPr>
        <p:spPr>
          <a:xfrm>
            <a:off x="6364224" y="1664208"/>
            <a:ext cx="5047488" cy="3383280"/>
          </a:xfrm>
          <a:prstGeom prst="roundRect">
            <a:avLst/>
          </a:prstGeom>
          <a:solidFill>
            <a:srgbClr val="EAF0FF"/>
          </a:solidFill>
          <a:ln w="12700">
            <a:solidFill>
              <a:srgbClr val="6E8BF7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300" b="1">
                <a:solidFill>
                  <a:srgbClr val="172033"/>
                </a:solidFill>
                <a:latin typeface="Aptos"/>
              </a:rPr>
              <a:t>Übertragbar</a:t>
            </a:r>
            <a:endParaRPr lang="de-DE" sz="2300"/>
          </a:p>
          <a:p>
            <a:pPr algn="ctr" marL="0" marR="0"/>
            <a:r>
              <a:rPr lang="de-DE" sz="2300" b="1">
                <a:solidFill>
                  <a:srgbClr val="172033"/>
                </a:solidFill>
                <a:latin typeface="Aptos"/>
              </a:rPr>
              <a:t>bar oder digital</a:t>
            </a:r>
            <a:endParaRPr lang="de-DE" sz="2300"/>
          </a:p>
          <a:p>
            <a:pPr algn="ctr" marL="0" marR="0"/>
            <a:r>
              <a:rPr lang="de-DE" sz="2300" b="1">
                <a:solidFill>
                  <a:srgbClr val="172033"/>
                </a:solidFill>
                <a:latin typeface="Aptos"/>
              </a:rPr>
              <a:t/>
            </a:r>
            <a:endParaRPr lang="de-DE" sz="2300"/>
          </a:p>
          <a:p>
            <a:pPr algn="ctr" marL="0" marR="0"/>
            <a:r>
              <a:rPr lang="de-DE" sz="2300" b="1">
                <a:solidFill>
                  <a:srgbClr val="172033"/>
                </a:solidFill>
                <a:latin typeface="Aptos"/>
              </a:rPr>
              <a:t>Geld kann den</a:t>
            </a:r>
            <a:endParaRPr lang="de-DE" sz="2300"/>
          </a:p>
          <a:p>
            <a:pPr algn="ctr" marL="0" marR="0"/>
            <a:r>
              <a:rPr lang="de-DE" sz="2300" b="1">
                <a:solidFill>
                  <a:srgbClr val="172033"/>
                </a:solidFill>
                <a:latin typeface="Aptos"/>
              </a:rPr>
              <a:t>Besitzer leicht wechseln.</a:t>
            </a:r>
            <a:endParaRPr lang="de-DE" sz="2300"/>
          </a:p>
        </p:txBody>
      </p:sp>
      <p:sp>
        <p:nvSpPr>
          <p:cNvPr id="94" name="Shape 94"/>
          <p:cNvSpPr/>
          <p:nvPr/>
        </p:nvSpPr>
        <p:spPr>
          <a:xfrm>
            <a:off x="4242816" y="5321808"/>
            <a:ext cx="3712464" cy="502920"/>
          </a:xfrm>
          <a:prstGeom prst="roundRect">
            <a:avLst/>
          </a:prstGeom>
          <a:solidFill>
            <a:srgbClr val="E7F8F3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1600" b="1">
                <a:solidFill>
                  <a:srgbClr val="157A65"/>
                </a:solidFill>
                <a:latin typeface="Aptos"/>
              </a:rPr>
              <a:t>Beides erleichtert den Tausch.</a:t>
            </a:r>
            <a:endParaRPr lang="de-DE" sz="1600"/>
          </a:p>
        </p:txBody>
      </p:sp>
      <p:sp>
        <p:nvSpPr>
          <p:cNvPr id="95" name="Text 95"/>
          <p:cNvSpPr txBox="1"/>
          <p:nvPr/>
        </p:nvSpPr>
        <p:spPr>
          <a:xfrm>
            <a:off x="658368" y="6510528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Wirtschaft · Beruf · Klasse 7</a:t>
            </a:r>
            <a:endParaRPr lang="de-DE" sz="900"/>
          </a:p>
        </p:txBody>
      </p:sp>
      <p:sp>
        <p:nvSpPr>
          <p:cNvPr id="96" name="Text 96"/>
          <p:cNvSpPr txBox="1"/>
          <p:nvPr/>
        </p:nvSpPr>
        <p:spPr>
          <a:xfrm>
            <a:off x="11018520" y="6510528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11</a:t>
            </a:r>
            <a:endParaRPr lang="de-DE" sz="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 97"/>
          <p:cNvSpPr txBox="1"/>
          <p:nvPr/>
        </p:nvSpPr>
        <p:spPr>
          <a:xfrm>
            <a:off x="658368" y="347472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100" b="1">
                <a:solidFill>
                  <a:srgbClr val="157A65"/>
                </a:solidFill>
                <a:latin typeface="Aptos"/>
              </a:rPr>
              <a:t>DIE GELDPROBE</a:t>
            </a:r>
            <a:endParaRPr lang="de-DE" sz="1100"/>
          </a:p>
        </p:txBody>
      </p:sp>
      <p:sp>
        <p:nvSpPr>
          <p:cNvPr id="98" name="Text 98"/>
          <p:cNvSpPr txBox="1"/>
          <p:nvPr/>
        </p:nvSpPr>
        <p:spPr>
          <a:xfrm>
            <a:off x="658368" y="713232"/>
            <a:ext cx="107899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3000" b="1">
                <a:solidFill>
                  <a:srgbClr val="101828"/>
                </a:solidFill>
                <a:latin typeface="Aptos"/>
              </a:rPr>
              <a:t>6 · Zur Wertaufbewahrung geeignet</a:t>
            </a:r>
            <a:endParaRPr lang="de-DE" sz="3000"/>
          </a:p>
        </p:txBody>
      </p:sp>
      <p:sp>
        <p:nvSpPr>
          <p:cNvPr id="99" name="Shape 99"/>
          <p:cNvSpPr/>
          <p:nvPr/>
        </p:nvSpPr>
        <p:spPr>
          <a:xfrm>
            <a:off x="786384" y="1700784"/>
            <a:ext cx="2971800" cy="2971800"/>
          </a:xfrm>
          <a:prstGeom prst="ellipse">
            <a:avLst/>
          </a:prstGeom>
          <a:solidFill>
            <a:srgbClr val="172033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900" b="1">
                <a:solidFill>
                  <a:srgbClr val="FFFFFF"/>
                </a:solidFill>
                <a:latin typeface="Aptos"/>
              </a:rPr>
              <a:t>HEUTE</a:t>
            </a:r>
            <a:endParaRPr lang="de-DE" sz="2900"/>
          </a:p>
        </p:txBody>
      </p:sp>
      <p:sp>
        <p:nvSpPr>
          <p:cNvPr id="100" name="Shape 100"/>
          <p:cNvSpPr/>
          <p:nvPr/>
        </p:nvSpPr>
        <p:spPr>
          <a:xfrm>
            <a:off x="4617720" y="2596896"/>
            <a:ext cx="658368" cy="658368"/>
          </a:xfrm>
          <a:prstGeom prst="ellipse">
            <a:avLst/>
          </a:prstGeom>
          <a:solidFill>
            <a:srgbClr val="E5E9EF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3400" b="1">
                <a:solidFill>
                  <a:srgbClr val="536074"/>
                </a:solidFill>
                <a:latin typeface="Aptos"/>
              </a:rPr>
              <a:t>›</a:t>
            </a:r>
            <a:endParaRPr lang="de-DE" sz="3400"/>
          </a:p>
        </p:txBody>
      </p:sp>
      <p:sp>
        <p:nvSpPr>
          <p:cNvPr id="101" name="Shape 101"/>
          <p:cNvSpPr/>
          <p:nvPr/>
        </p:nvSpPr>
        <p:spPr>
          <a:xfrm>
            <a:off x="6144768" y="1700784"/>
            <a:ext cx="2971800" cy="2971800"/>
          </a:xfrm>
          <a:prstGeom prst="ellipse">
            <a:avLst/>
          </a:prstGeom>
          <a:solidFill>
            <a:srgbClr val="28C69F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900" b="1">
                <a:solidFill>
                  <a:srgbClr val="0D1726"/>
                </a:solidFill>
                <a:latin typeface="Aptos"/>
              </a:rPr>
              <a:t>SPÄTER</a:t>
            </a:r>
            <a:endParaRPr lang="de-DE" sz="2900"/>
          </a:p>
        </p:txBody>
      </p:sp>
      <p:sp>
        <p:nvSpPr>
          <p:cNvPr id="102" name="Text 102"/>
          <p:cNvSpPr txBox="1"/>
          <p:nvPr/>
        </p:nvSpPr>
        <p:spPr>
          <a:xfrm>
            <a:off x="9528048" y="1865376"/>
            <a:ext cx="1664208" cy="260604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 marL="0" marR="0"/>
            <a:r>
              <a:rPr lang="de-DE" sz="1800" b="1">
                <a:solidFill>
                  <a:srgbClr val="172033"/>
                </a:solidFill>
                <a:latin typeface="Aptos"/>
              </a:rPr>
              <a:t>Geld kann</a:t>
            </a:r>
            <a:endParaRPr lang="de-DE" sz="1800"/>
          </a:p>
          <a:p>
            <a:pPr algn="ctr" marL="0" marR="0"/>
            <a:r>
              <a:rPr lang="de-DE" sz="1800" b="1">
                <a:solidFill>
                  <a:srgbClr val="172033"/>
                </a:solidFill>
                <a:latin typeface="Aptos"/>
              </a:rPr>
              <a:t>zwischen</a:t>
            </a:r>
            <a:endParaRPr lang="de-DE" sz="1800"/>
          </a:p>
          <a:p>
            <a:pPr algn="ctr" marL="0" marR="0"/>
            <a:r>
              <a:rPr lang="de-DE" sz="1800" b="1">
                <a:solidFill>
                  <a:srgbClr val="172033"/>
                </a:solidFill>
                <a:latin typeface="Aptos"/>
              </a:rPr>
              <a:t>beiden</a:t>
            </a:r>
            <a:endParaRPr lang="de-DE" sz="1800"/>
          </a:p>
          <a:p>
            <a:pPr algn="ctr" marL="0" marR="0"/>
            <a:r>
              <a:rPr lang="de-DE" sz="1800" b="1">
                <a:solidFill>
                  <a:srgbClr val="172033"/>
                </a:solidFill>
                <a:latin typeface="Aptos"/>
              </a:rPr>
              <a:t>Tauschen</a:t>
            </a:r>
            <a:endParaRPr lang="de-DE" sz="1800"/>
          </a:p>
          <a:p>
            <a:pPr algn="ctr" marL="0" marR="0"/>
            <a:r>
              <a:rPr lang="de-DE" sz="1800" b="1">
                <a:solidFill>
                  <a:srgbClr val="172033"/>
                </a:solidFill>
                <a:latin typeface="Aptos"/>
              </a:rPr>
              <a:t>liegen.</a:t>
            </a:r>
            <a:endParaRPr lang="de-DE" sz="1800"/>
          </a:p>
        </p:txBody>
      </p:sp>
      <p:sp>
        <p:nvSpPr>
          <p:cNvPr id="103" name="Shape 103"/>
          <p:cNvSpPr/>
          <p:nvPr/>
        </p:nvSpPr>
        <p:spPr>
          <a:xfrm>
            <a:off x="1965960" y="4956048"/>
            <a:ext cx="8275320" cy="658368"/>
          </a:xfrm>
          <a:prstGeom prst="roundRect">
            <a:avLst/>
          </a:prstGeom>
          <a:solidFill>
            <a:srgbClr val="FFF0DD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1800" b="1">
                <a:solidFill>
                  <a:srgbClr val="8A5A13"/>
                </a:solidFill>
                <a:latin typeface="Aptos"/>
              </a:rPr>
              <a:t>Aber: Inflation kann die Kaufkraft verringern.</a:t>
            </a:r>
            <a:endParaRPr lang="de-DE" sz="1800"/>
          </a:p>
        </p:txBody>
      </p:sp>
      <p:sp>
        <p:nvSpPr>
          <p:cNvPr id="104" name="Text 104"/>
          <p:cNvSpPr txBox="1"/>
          <p:nvPr/>
        </p:nvSpPr>
        <p:spPr>
          <a:xfrm>
            <a:off x="658368" y="6510528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Wirtschaft · Beruf · Klasse 7</a:t>
            </a:r>
            <a:endParaRPr lang="de-DE" sz="900"/>
          </a:p>
        </p:txBody>
      </p:sp>
      <p:sp>
        <p:nvSpPr>
          <p:cNvPr id="105" name="Text 105"/>
          <p:cNvSpPr txBox="1"/>
          <p:nvPr/>
        </p:nvSpPr>
        <p:spPr>
          <a:xfrm>
            <a:off x="11018520" y="6510528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12</a:t>
            </a:r>
            <a:endParaRPr lang="de-DE" sz="9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 106"/>
          <p:cNvSpPr txBox="1"/>
          <p:nvPr/>
        </p:nvSpPr>
        <p:spPr>
          <a:xfrm>
            <a:off x="658368" y="347472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100" b="1">
                <a:solidFill>
                  <a:srgbClr val="157A65"/>
                </a:solidFill>
                <a:latin typeface="Aptos"/>
              </a:rPr>
              <a:t>DIE GELDPROBE</a:t>
            </a:r>
            <a:endParaRPr lang="de-DE" sz="1100"/>
          </a:p>
        </p:txBody>
      </p:sp>
      <p:sp>
        <p:nvSpPr>
          <p:cNvPr id="107" name="Text 107"/>
          <p:cNvSpPr txBox="1"/>
          <p:nvPr/>
        </p:nvSpPr>
        <p:spPr>
          <a:xfrm>
            <a:off x="658368" y="713232"/>
            <a:ext cx="107899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3000" b="1">
                <a:solidFill>
                  <a:srgbClr val="101828"/>
                </a:solidFill>
                <a:latin typeface="Aptos"/>
              </a:rPr>
              <a:t>7 · Recheneinheit und Wertmaßstab</a:t>
            </a:r>
            <a:endParaRPr lang="de-DE" sz="3000"/>
          </a:p>
        </p:txBody>
      </p:sp>
      <p:sp>
        <p:nvSpPr>
          <p:cNvPr id="108" name="Text 108"/>
          <p:cNvSpPr txBox="1"/>
          <p:nvPr/>
        </p:nvSpPr>
        <p:spPr>
          <a:xfrm>
            <a:off x="749808" y="1417320"/>
            <a:ext cx="10607040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2200" b="1">
                <a:solidFill>
                  <a:srgbClr val="172033"/>
                </a:solidFill>
                <a:latin typeface="Aptos"/>
              </a:rPr>
              <a:t>Eine gemeinsame Einheit macht ganz verschiedene Dinge vergleichbar.</a:t>
            </a:r>
            <a:endParaRPr lang="de-DE" sz="2200"/>
          </a:p>
        </p:txBody>
      </p:sp>
      <p:sp>
        <p:nvSpPr>
          <p:cNvPr id="109" name="Shape 109"/>
          <p:cNvSpPr/>
          <p:nvPr/>
        </p:nvSpPr>
        <p:spPr>
          <a:xfrm>
            <a:off x="786384" y="2331720"/>
            <a:ext cx="30632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700" b="1">
                <a:solidFill>
                  <a:srgbClr val="172033"/>
                </a:solidFill>
                <a:latin typeface="Aptos"/>
              </a:rPr>
              <a:t>Brot</a:t>
            </a:r>
            <a:endParaRPr lang="de-DE" sz="2700"/>
          </a:p>
          <a:p>
            <a:pPr algn="ctr" marL="0" marR="0"/>
            <a:r>
              <a:rPr lang="de-DE" sz="2700" b="1">
                <a:solidFill>
                  <a:srgbClr val="172033"/>
                </a:solidFill>
                <a:latin typeface="Aptos"/>
              </a:rPr>
              <a:t>3,50 €</a:t>
            </a:r>
            <a:endParaRPr lang="de-DE" sz="2700"/>
          </a:p>
        </p:txBody>
      </p:sp>
      <p:sp>
        <p:nvSpPr>
          <p:cNvPr id="110" name="Shape 110"/>
          <p:cNvSpPr/>
          <p:nvPr/>
        </p:nvSpPr>
        <p:spPr>
          <a:xfrm>
            <a:off x="4572000" y="2331720"/>
            <a:ext cx="30632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700" b="1">
                <a:solidFill>
                  <a:srgbClr val="172033"/>
                </a:solidFill>
                <a:latin typeface="Aptos"/>
              </a:rPr>
              <a:t>Kinokarte</a:t>
            </a:r>
            <a:endParaRPr lang="de-DE" sz="2700"/>
          </a:p>
          <a:p>
            <a:pPr algn="ctr" marL="0" marR="0"/>
            <a:r>
              <a:rPr lang="de-DE" sz="2700" b="1">
                <a:solidFill>
                  <a:srgbClr val="172033"/>
                </a:solidFill>
                <a:latin typeface="Aptos"/>
              </a:rPr>
              <a:t>12,00 €</a:t>
            </a:r>
            <a:endParaRPr lang="de-DE" sz="2700"/>
          </a:p>
        </p:txBody>
      </p:sp>
      <p:sp>
        <p:nvSpPr>
          <p:cNvPr id="111" name="Shape 111"/>
          <p:cNvSpPr/>
          <p:nvPr/>
        </p:nvSpPr>
        <p:spPr>
          <a:xfrm>
            <a:off x="8357616" y="2331720"/>
            <a:ext cx="30632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700" b="1">
                <a:solidFill>
                  <a:srgbClr val="172033"/>
                </a:solidFill>
                <a:latin typeface="Aptos"/>
              </a:rPr>
              <a:t>Schuhe</a:t>
            </a:r>
            <a:endParaRPr lang="de-DE" sz="2700"/>
          </a:p>
          <a:p>
            <a:pPr algn="ctr" marL="0" marR="0"/>
            <a:r>
              <a:rPr lang="de-DE" sz="2700" b="1">
                <a:solidFill>
                  <a:srgbClr val="172033"/>
                </a:solidFill>
                <a:latin typeface="Aptos"/>
              </a:rPr>
              <a:t>80,00 €</a:t>
            </a:r>
            <a:endParaRPr lang="de-DE" sz="2700"/>
          </a:p>
        </p:txBody>
      </p:sp>
      <p:sp>
        <p:nvSpPr>
          <p:cNvPr id="112" name="Shape 112"/>
          <p:cNvSpPr/>
          <p:nvPr/>
        </p:nvSpPr>
        <p:spPr>
          <a:xfrm>
            <a:off x="1874520" y="4736592"/>
            <a:ext cx="8458200" cy="640080"/>
          </a:xfrm>
          <a:prstGeom prst="roundRect">
            <a:avLst/>
          </a:prstGeom>
          <a:solidFill>
            <a:srgbClr val="E7F8F3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1800" b="1">
                <a:solidFill>
                  <a:srgbClr val="157A65"/>
                </a:solidFill>
                <a:latin typeface="Aptos"/>
              </a:rPr>
              <a:t>Preise werden berechnet, verglichen und zusammengezählt.</a:t>
            </a:r>
            <a:endParaRPr lang="de-DE" sz="1800"/>
          </a:p>
        </p:txBody>
      </p:sp>
      <p:sp>
        <p:nvSpPr>
          <p:cNvPr id="113" name="Text 113"/>
          <p:cNvSpPr txBox="1"/>
          <p:nvPr/>
        </p:nvSpPr>
        <p:spPr>
          <a:xfrm>
            <a:off x="658368" y="6510528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Wirtschaft · Beruf · Klasse 7</a:t>
            </a:r>
            <a:endParaRPr lang="de-DE" sz="900"/>
          </a:p>
        </p:txBody>
      </p:sp>
      <p:sp>
        <p:nvSpPr>
          <p:cNvPr id="114" name="Text 114"/>
          <p:cNvSpPr txBox="1"/>
          <p:nvPr/>
        </p:nvSpPr>
        <p:spPr>
          <a:xfrm>
            <a:off x="11018520" y="6510528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13</a:t>
            </a:r>
            <a:endParaRPr lang="de-DE" sz="9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7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Text 115"/>
          <p:cNvSpPr txBox="1"/>
          <p:nvPr/>
        </p:nvSpPr>
        <p:spPr>
          <a:xfrm>
            <a:off x="658368" y="347472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100" b="1">
                <a:solidFill>
                  <a:srgbClr val="7DE3C3"/>
                </a:solidFill>
                <a:latin typeface="Aptos"/>
              </a:rPr>
              <a:t>DIE GELDPROBE</a:t>
            </a:r>
            <a:endParaRPr lang="de-DE" sz="1100"/>
          </a:p>
        </p:txBody>
      </p:sp>
      <p:sp>
        <p:nvSpPr>
          <p:cNvPr id="116" name="Text 116"/>
          <p:cNvSpPr txBox="1"/>
          <p:nvPr/>
        </p:nvSpPr>
        <p:spPr>
          <a:xfrm>
            <a:off x="658368" y="713232"/>
            <a:ext cx="107899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3000" b="1">
                <a:solidFill>
                  <a:srgbClr val="FFFFFF"/>
                </a:solidFill>
                <a:latin typeface="Aptos"/>
              </a:rPr>
              <a:t>8 · Zwischentauschmittel</a:t>
            </a:r>
            <a:endParaRPr lang="de-DE" sz="3000"/>
          </a:p>
        </p:txBody>
      </p:sp>
      <p:sp>
        <p:nvSpPr>
          <p:cNvPr id="117" name="Shape 117"/>
          <p:cNvSpPr/>
          <p:nvPr/>
        </p:nvSpPr>
        <p:spPr>
          <a:xfrm>
            <a:off x="777240" y="1664208"/>
            <a:ext cx="2926080" cy="2084832"/>
          </a:xfrm>
          <a:prstGeom prst="roundRect">
            <a:avLst/>
          </a:prstGeom>
          <a:solidFill>
            <a:srgbClr val="183047"/>
          </a:solidFill>
          <a:ln w="12700">
            <a:solidFill>
              <a:srgbClr val="35506B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400" b="1">
                <a:solidFill>
                  <a:srgbClr val="FFFFFF"/>
                </a:solidFill>
                <a:latin typeface="Aptos"/>
              </a:rPr>
              <a:t>Leistung</a:t>
            </a:r>
            <a:endParaRPr lang="de-DE" sz="2400"/>
          </a:p>
          <a:p>
            <a:pPr algn="ctr" marL="0" marR="0"/>
            <a:r>
              <a:rPr lang="de-DE" sz="2400" b="1">
                <a:solidFill>
                  <a:srgbClr val="FFFFFF"/>
                </a:solidFill>
                <a:latin typeface="Aptos"/>
              </a:rPr>
              <a:t>oder Ware</a:t>
            </a:r>
            <a:endParaRPr lang="de-DE" sz="2400"/>
          </a:p>
        </p:txBody>
      </p:sp>
      <p:sp>
        <p:nvSpPr>
          <p:cNvPr id="118" name="Shape 118"/>
          <p:cNvSpPr/>
          <p:nvPr/>
        </p:nvSpPr>
        <p:spPr>
          <a:xfrm>
            <a:off x="4626864" y="1664208"/>
            <a:ext cx="2926080" cy="2084832"/>
          </a:xfrm>
          <a:prstGeom prst="roundRect">
            <a:avLst/>
          </a:prstGeom>
          <a:solidFill>
            <a:srgbClr val="28C69F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3400" b="1">
                <a:solidFill>
                  <a:srgbClr val="0D1726"/>
                </a:solidFill>
                <a:latin typeface="Aptos"/>
              </a:rPr>
              <a:t>GELD</a:t>
            </a:r>
            <a:endParaRPr lang="de-DE" sz="3400"/>
          </a:p>
        </p:txBody>
      </p:sp>
      <p:sp>
        <p:nvSpPr>
          <p:cNvPr id="119" name="Shape 119"/>
          <p:cNvSpPr/>
          <p:nvPr/>
        </p:nvSpPr>
        <p:spPr>
          <a:xfrm>
            <a:off x="8476488" y="1664208"/>
            <a:ext cx="2926080" cy="2084832"/>
          </a:xfrm>
          <a:prstGeom prst="roundRect">
            <a:avLst/>
          </a:prstGeom>
          <a:solidFill>
            <a:srgbClr val="183047"/>
          </a:solidFill>
          <a:ln w="12700">
            <a:solidFill>
              <a:srgbClr val="35506B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300" b="1">
                <a:solidFill>
                  <a:srgbClr val="FFFFFF"/>
                </a:solidFill>
                <a:latin typeface="Aptos"/>
              </a:rPr>
              <a:t>andere Ware</a:t>
            </a:r>
            <a:endParaRPr lang="de-DE" sz="2300"/>
          </a:p>
          <a:p>
            <a:pPr algn="ctr" marL="0" marR="0"/>
            <a:r>
              <a:rPr lang="de-DE" sz="2300" b="1">
                <a:solidFill>
                  <a:srgbClr val="FFFFFF"/>
                </a:solidFill>
                <a:latin typeface="Aptos"/>
              </a:rPr>
              <a:t>oder Leistung</a:t>
            </a:r>
            <a:endParaRPr lang="de-DE" sz="2300"/>
          </a:p>
        </p:txBody>
      </p:sp>
      <p:sp>
        <p:nvSpPr>
          <p:cNvPr id="120" name="Shape 120"/>
          <p:cNvSpPr/>
          <p:nvPr/>
        </p:nvSpPr>
        <p:spPr>
          <a:xfrm>
            <a:off x="3877056" y="2395728"/>
            <a:ext cx="475488" cy="475488"/>
          </a:xfrm>
          <a:prstGeom prst="ellipse">
            <a:avLst/>
          </a:prstGeom>
          <a:solidFill>
            <a:srgbClr val="35506B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600" b="1">
                <a:solidFill>
                  <a:srgbClr val="FFFFFF"/>
                </a:solidFill>
                <a:latin typeface="Aptos"/>
              </a:rPr>
              <a:t>›</a:t>
            </a:r>
            <a:endParaRPr lang="de-DE" sz="2600"/>
          </a:p>
        </p:txBody>
      </p:sp>
      <p:sp>
        <p:nvSpPr>
          <p:cNvPr id="121" name="Shape 121"/>
          <p:cNvSpPr/>
          <p:nvPr/>
        </p:nvSpPr>
        <p:spPr>
          <a:xfrm>
            <a:off x="7726680" y="2395728"/>
            <a:ext cx="475488" cy="475488"/>
          </a:xfrm>
          <a:prstGeom prst="ellipse">
            <a:avLst/>
          </a:prstGeom>
          <a:solidFill>
            <a:srgbClr val="35506B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600" b="1">
                <a:solidFill>
                  <a:srgbClr val="FFFFFF"/>
                </a:solidFill>
                <a:latin typeface="Aptos"/>
              </a:rPr>
              <a:t>›</a:t>
            </a:r>
            <a:endParaRPr lang="de-DE" sz="2600"/>
          </a:p>
        </p:txBody>
      </p:sp>
      <p:sp>
        <p:nvSpPr>
          <p:cNvPr id="122" name="Text 122"/>
          <p:cNvSpPr txBox="1"/>
          <p:nvPr/>
        </p:nvSpPr>
        <p:spPr>
          <a:xfrm>
            <a:off x="1170432" y="4343400"/>
            <a:ext cx="982980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 marL="0" marR="0"/>
            <a:r>
              <a:rPr lang="de-DE" sz="2700" b="1">
                <a:solidFill>
                  <a:srgbClr val="7DE3C3"/>
                </a:solidFill>
                <a:latin typeface="Aptos"/>
              </a:rPr>
              <a:t>Geld überbrückt Zeit, Ort und unterschiedliche Wünsche.</a:t>
            </a:r>
            <a:endParaRPr lang="de-DE" sz="2700"/>
          </a:p>
        </p:txBody>
      </p:sp>
      <p:sp>
        <p:nvSpPr>
          <p:cNvPr id="123" name="Text 123"/>
          <p:cNvSpPr txBox="1"/>
          <p:nvPr/>
        </p:nvSpPr>
        <p:spPr>
          <a:xfrm>
            <a:off x="658368" y="6510528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900" b="0">
                <a:solidFill>
                  <a:srgbClr val="AAB5C7"/>
                </a:solidFill>
                <a:latin typeface="Aptos"/>
              </a:rPr>
              <a:t>Wirtschaft · Beruf · Klasse 7</a:t>
            </a:r>
            <a:endParaRPr lang="de-DE" sz="900"/>
          </a:p>
        </p:txBody>
      </p:sp>
      <p:sp>
        <p:nvSpPr>
          <p:cNvPr id="124" name="Text 124"/>
          <p:cNvSpPr txBox="1"/>
          <p:nvPr/>
        </p:nvSpPr>
        <p:spPr>
          <a:xfrm>
            <a:off x="11018520" y="6510528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 marL="0" marR="0"/>
            <a:r>
              <a:rPr lang="de-DE" sz="900" b="0">
                <a:solidFill>
                  <a:srgbClr val="AAB5C7"/>
                </a:solidFill>
                <a:latin typeface="Aptos"/>
              </a:rPr>
              <a:t>14</a:t>
            </a:r>
            <a:endParaRPr lang="de-DE" sz="9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Text 125"/>
          <p:cNvSpPr txBox="1"/>
          <p:nvPr/>
        </p:nvSpPr>
        <p:spPr>
          <a:xfrm>
            <a:off x="658368" y="347472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100" b="1">
                <a:solidFill>
                  <a:srgbClr val="157A65"/>
                </a:solidFill>
                <a:latin typeface="Aptos"/>
              </a:rPr>
              <a:t>ANWENDEN</a:t>
            </a:r>
            <a:endParaRPr lang="de-DE" sz="1100"/>
          </a:p>
        </p:txBody>
      </p:sp>
      <p:sp>
        <p:nvSpPr>
          <p:cNvPr id="126" name="Text 126"/>
          <p:cNvSpPr txBox="1"/>
          <p:nvPr/>
        </p:nvSpPr>
        <p:spPr>
          <a:xfrm>
            <a:off x="658368" y="713232"/>
            <a:ext cx="107899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3000" b="1">
                <a:solidFill>
                  <a:srgbClr val="101828"/>
                </a:solidFill>
                <a:latin typeface="Aptos"/>
              </a:rPr>
              <a:t>Jetzt prüfen: Geld oder nicht?</a:t>
            </a:r>
            <a:endParaRPr lang="de-DE" sz="3000"/>
          </a:p>
        </p:txBody>
      </p:sp>
      <p:sp>
        <p:nvSpPr>
          <p:cNvPr id="127" name="Text 127"/>
          <p:cNvSpPr txBox="1"/>
          <p:nvPr/>
        </p:nvSpPr>
        <p:spPr>
          <a:xfrm>
            <a:off x="685800" y="1353312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700" b="0">
                <a:solidFill>
                  <a:srgbClr val="536074"/>
                </a:solidFill>
                <a:latin typeface="Aptos"/>
              </a:rPr>
              <a:t>Begründet jede Entscheidung mit der fehlenden Eigenschaft.</a:t>
            </a:r>
            <a:endParaRPr lang="de-DE" sz="1700"/>
          </a:p>
        </p:txBody>
      </p:sp>
      <p:sp>
        <p:nvSpPr>
          <p:cNvPr id="128" name="Shape 128"/>
          <p:cNvSpPr/>
          <p:nvPr/>
        </p:nvSpPr>
        <p:spPr>
          <a:xfrm>
            <a:off x="749808" y="1792224"/>
            <a:ext cx="3401568" cy="566928"/>
          </a:xfrm>
          <a:prstGeom prst="roundRect">
            <a:avLst/>
          </a:prstGeom>
          <a:solidFill>
            <a:srgbClr val="172033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1600" b="1">
                <a:solidFill>
                  <a:srgbClr val="FFFFFF"/>
                </a:solidFill>
                <a:latin typeface="Aptos"/>
              </a:rPr>
              <a:t>Gegenstand</a:t>
            </a:r>
            <a:endParaRPr lang="de-DE" sz="1600"/>
          </a:p>
        </p:txBody>
      </p:sp>
      <p:sp>
        <p:nvSpPr>
          <p:cNvPr id="129" name="Shape 129"/>
          <p:cNvSpPr/>
          <p:nvPr/>
        </p:nvSpPr>
        <p:spPr>
          <a:xfrm>
            <a:off x="4315968" y="1792224"/>
            <a:ext cx="1965960" cy="566928"/>
          </a:xfrm>
          <a:prstGeom prst="roundRect">
            <a:avLst/>
          </a:prstGeom>
          <a:solidFill>
            <a:srgbClr val="172033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1600" b="1">
                <a:solidFill>
                  <a:srgbClr val="FFFFFF"/>
                </a:solidFill>
                <a:latin typeface="Aptos"/>
              </a:rPr>
              <a:t>Geld?</a:t>
            </a:r>
            <a:endParaRPr lang="de-DE" sz="1600"/>
          </a:p>
        </p:txBody>
      </p:sp>
      <p:sp>
        <p:nvSpPr>
          <p:cNvPr id="130" name="Shape 130"/>
          <p:cNvSpPr/>
          <p:nvPr/>
        </p:nvSpPr>
        <p:spPr>
          <a:xfrm>
            <a:off x="6446520" y="1792224"/>
            <a:ext cx="4956048" cy="566928"/>
          </a:xfrm>
          <a:prstGeom prst="roundRect">
            <a:avLst/>
          </a:prstGeom>
          <a:solidFill>
            <a:srgbClr val="172033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1600" b="1">
                <a:solidFill>
                  <a:srgbClr val="FFFFFF"/>
                </a:solidFill>
                <a:latin typeface="Aptos"/>
              </a:rPr>
              <a:t>Begründung</a:t>
            </a:r>
            <a:endParaRPr lang="de-DE" sz="1600"/>
          </a:p>
        </p:txBody>
      </p:sp>
      <p:sp>
        <p:nvSpPr>
          <p:cNvPr id="131" name="Shape 131"/>
          <p:cNvSpPr/>
          <p:nvPr/>
        </p:nvSpPr>
        <p:spPr>
          <a:xfrm>
            <a:off x="749808" y="2468880"/>
            <a:ext cx="3401568" cy="448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9EF"/>
            </a:solidFill>
          </a:ln>
        </p:spPr>
        <p:txBody>
          <a:bodyPr wrap="square" anchor="ctr" lIns="140000" rIns="140000" tIns="140000" bIns="140000"/>
          <a:lstStyle/>
          <a:p>
            <a:pPr algn="l" marL="0" marR="0"/>
            <a:r>
              <a:rPr lang="de-DE" sz="1400" b="1">
                <a:solidFill>
                  <a:srgbClr val="172033"/>
                </a:solidFill>
                <a:latin typeface="Aptos"/>
              </a:rPr>
              <a:t>Euro-Banknote</a:t>
            </a:r>
            <a:endParaRPr lang="de-DE" sz="1400"/>
          </a:p>
        </p:txBody>
      </p:sp>
      <p:sp>
        <p:nvSpPr>
          <p:cNvPr id="132" name="Shape 132"/>
          <p:cNvSpPr/>
          <p:nvPr/>
        </p:nvSpPr>
        <p:spPr>
          <a:xfrm>
            <a:off x="4315968" y="2468880"/>
            <a:ext cx="1965960" cy="448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9EF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1600" b="1">
                <a:solidFill>
                  <a:srgbClr val="172033"/>
                </a:solidFill>
                <a:latin typeface="Aptos"/>
              </a:rPr>
              <a:t>?</a:t>
            </a:r>
            <a:endParaRPr lang="de-DE" sz="1600"/>
          </a:p>
        </p:txBody>
      </p:sp>
      <p:sp>
        <p:nvSpPr>
          <p:cNvPr id="133" name="Shape 133"/>
          <p:cNvSpPr/>
          <p:nvPr/>
        </p:nvSpPr>
        <p:spPr>
          <a:xfrm>
            <a:off x="6446520" y="2468880"/>
            <a:ext cx="4956048" cy="448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9EF"/>
            </a:solidFill>
          </a:ln>
        </p:spPr>
        <p:txBody>
          <a:bodyPr wrap="square" anchor="ctr" lIns="140000" rIns="140000" tIns="140000" bIns="140000"/>
          <a:lstStyle/>
          <a:p>
            <a:pPr algn="l" marL="0" marR="0"/>
            <a:r>
              <a:rPr lang="de-DE" sz="1500" b="0">
                <a:solidFill>
                  <a:srgbClr val="172033"/>
                </a:solidFill>
                <a:latin typeface="Aptos"/>
              </a:rPr>
              <a:t>…</a:t>
            </a:r>
            <a:endParaRPr lang="de-DE" sz="1500"/>
          </a:p>
        </p:txBody>
      </p:sp>
      <p:sp>
        <p:nvSpPr>
          <p:cNvPr id="134" name="Shape 134"/>
          <p:cNvSpPr/>
          <p:nvPr/>
        </p:nvSpPr>
        <p:spPr>
          <a:xfrm>
            <a:off x="749808" y="3026664"/>
            <a:ext cx="3401568" cy="448056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E5E9EF"/>
            </a:solidFill>
          </a:ln>
        </p:spPr>
        <p:txBody>
          <a:bodyPr wrap="square" anchor="ctr" lIns="140000" rIns="140000" tIns="140000" bIns="140000"/>
          <a:lstStyle/>
          <a:p>
            <a:pPr algn="l" marL="0" marR="0"/>
            <a:r>
              <a:rPr lang="de-DE" sz="1400" b="1">
                <a:solidFill>
                  <a:srgbClr val="172033"/>
                </a:solidFill>
                <a:latin typeface="Aptos"/>
              </a:rPr>
              <a:t>Guthaben auf dem Girokonto</a:t>
            </a:r>
            <a:endParaRPr lang="de-DE" sz="1400"/>
          </a:p>
        </p:txBody>
      </p:sp>
      <p:sp>
        <p:nvSpPr>
          <p:cNvPr id="135" name="Shape 135"/>
          <p:cNvSpPr/>
          <p:nvPr/>
        </p:nvSpPr>
        <p:spPr>
          <a:xfrm>
            <a:off x="4315968" y="3026664"/>
            <a:ext cx="1965960" cy="448056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E5E9EF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1600" b="1">
                <a:solidFill>
                  <a:srgbClr val="172033"/>
                </a:solidFill>
                <a:latin typeface="Aptos"/>
              </a:rPr>
              <a:t>?</a:t>
            </a:r>
            <a:endParaRPr lang="de-DE" sz="1600"/>
          </a:p>
        </p:txBody>
      </p:sp>
      <p:sp>
        <p:nvSpPr>
          <p:cNvPr id="136" name="Shape 136"/>
          <p:cNvSpPr/>
          <p:nvPr/>
        </p:nvSpPr>
        <p:spPr>
          <a:xfrm>
            <a:off x="6446520" y="3026664"/>
            <a:ext cx="4956048" cy="448056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E5E9EF"/>
            </a:solidFill>
          </a:ln>
        </p:spPr>
        <p:txBody>
          <a:bodyPr wrap="square" anchor="ctr" lIns="140000" rIns="140000" tIns="140000" bIns="140000"/>
          <a:lstStyle/>
          <a:p>
            <a:pPr algn="l" marL="0" marR="0"/>
            <a:r>
              <a:rPr lang="de-DE" sz="1500" b="0">
                <a:solidFill>
                  <a:srgbClr val="172033"/>
                </a:solidFill>
                <a:latin typeface="Aptos"/>
              </a:rPr>
              <a:t>…</a:t>
            </a:r>
            <a:endParaRPr lang="de-DE" sz="1500"/>
          </a:p>
        </p:txBody>
      </p:sp>
      <p:sp>
        <p:nvSpPr>
          <p:cNvPr id="137" name="Shape 137"/>
          <p:cNvSpPr/>
          <p:nvPr/>
        </p:nvSpPr>
        <p:spPr>
          <a:xfrm>
            <a:off x="749808" y="3584448"/>
            <a:ext cx="3401568" cy="448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9EF"/>
            </a:solidFill>
          </a:ln>
        </p:spPr>
        <p:txBody>
          <a:bodyPr wrap="square" anchor="ctr" lIns="140000" rIns="140000" tIns="140000" bIns="140000"/>
          <a:lstStyle/>
          <a:p>
            <a:pPr algn="l" marL="0" marR="0"/>
            <a:r>
              <a:rPr lang="de-DE" sz="1400" b="1">
                <a:solidFill>
                  <a:srgbClr val="172033"/>
                </a:solidFill>
                <a:latin typeface="Aptos"/>
              </a:rPr>
              <a:t>Goldbarren</a:t>
            </a:r>
            <a:endParaRPr lang="de-DE" sz="1400"/>
          </a:p>
        </p:txBody>
      </p:sp>
      <p:sp>
        <p:nvSpPr>
          <p:cNvPr id="138" name="Shape 138"/>
          <p:cNvSpPr/>
          <p:nvPr/>
        </p:nvSpPr>
        <p:spPr>
          <a:xfrm>
            <a:off x="4315968" y="3584448"/>
            <a:ext cx="1965960" cy="448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9EF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1600" b="1">
                <a:solidFill>
                  <a:srgbClr val="172033"/>
                </a:solidFill>
                <a:latin typeface="Aptos"/>
              </a:rPr>
              <a:t>?</a:t>
            </a:r>
            <a:endParaRPr lang="de-DE" sz="1600"/>
          </a:p>
        </p:txBody>
      </p:sp>
      <p:sp>
        <p:nvSpPr>
          <p:cNvPr id="139" name="Shape 139"/>
          <p:cNvSpPr/>
          <p:nvPr/>
        </p:nvSpPr>
        <p:spPr>
          <a:xfrm>
            <a:off x="6446520" y="3584448"/>
            <a:ext cx="4956048" cy="448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9EF"/>
            </a:solidFill>
          </a:ln>
        </p:spPr>
        <p:txBody>
          <a:bodyPr wrap="square" anchor="ctr" lIns="140000" rIns="140000" tIns="140000" bIns="140000"/>
          <a:lstStyle/>
          <a:p>
            <a:pPr algn="l" marL="0" marR="0"/>
            <a:r>
              <a:rPr lang="de-DE" sz="1500" b="0">
                <a:solidFill>
                  <a:srgbClr val="172033"/>
                </a:solidFill>
                <a:latin typeface="Aptos"/>
              </a:rPr>
              <a:t>…</a:t>
            </a:r>
            <a:endParaRPr lang="de-DE" sz="1500"/>
          </a:p>
        </p:txBody>
      </p:sp>
      <p:sp>
        <p:nvSpPr>
          <p:cNvPr id="140" name="Shape 140"/>
          <p:cNvSpPr/>
          <p:nvPr/>
        </p:nvSpPr>
        <p:spPr>
          <a:xfrm>
            <a:off x="749808" y="4142232"/>
            <a:ext cx="3401568" cy="448056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E5E9EF"/>
            </a:solidFill>
          </a:ln>
        </p:spPr>
        <p:txBody>
          <a:bodyPr wrap="square" anchor="ctr" lIns="140000" rIns="140000" tIns="140000" bIns="140000"/>
          <a:lstStyle/>
          <a:p>
            <a:pPr algn="l" marL="0" marR="0"/>
            <a:r>
              <a:rPr lang="de-DE" sz="1400" b="1">
                <a:solidFill>
                  <a:srgbClr val="172033"/>
                </a:solidFill>
                <a:latin typeface="Aptos"/>
              </a:rPr>
              <a:t>Kreditkarte</a:t>
            </a:r>
            <a:endParaRPr lang="de-DE" sz="1400"/>
          </a:p>
        </p:txBody>
      </p:sp>
      <p:sp>
        <p:nvSpPr>
          <p:cNvPr id="141" name="Shape 141"/>
          <p:cNvSpPr/>
          <p:nvPr/>
        </p:nvSpPr>
        <p:spPr>
          <a:xfrm>
            <a:off x="4315968" y="4142232"/>
            <a:ext cx="1965960" cy="448056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E5E9EF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1600" b="1">
                <a:solidFill>
                  <a:srgbClr val="172033"/>
                </a:solidFill>
                <a:latin typeface="Aptos"/>
              </a:rPr>
              <a:t>?</a:t>
            </a:r>
            <a:endParaRPr lang="de-DE" sz="1600"/>
          </a:p>
        </p:txBody>
      </p:sp>
      <p:sp>
        <p:nvSpPr>
          <p:cNvPr id="142" name="Shape 142"/>
          <p:cNvSpPr/>
          <p:nvPr/>
        </p:nvSpPr>
        <p:spPr>
          <a:xfrm>
            <a:off x="6446520" y="4142232"/>
            <a:ext cx="4956048" cy="448056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E5E9EF"/>
            </a:solidFill>
          </a:ln>
        </p:spPr>
        <p:txBody>
          <a:bodyPr wrap="square" anchor="ctr" lIns="140000" rIns="140000" tIns="140000" bIns="140000"/>
          <a:lstStyle/>
          <a:p>
            <a:pPr algn="l" marL="0" marR="0"/>
            <a:r>
              <a:rPr lang="de-DE" sz="1500" b="0">
                <a:solidFill>
                  <a:srgbClr val="172033"/>
                </a:solidFill>
                <a:latin typeface="Aptos"/>
              </a:rPr>
              <a:t>…</a:t>
            </a:r>
            <a:endParaRPr lang="de-DE" sz="1500"/>
          </a:p>
        </p:txBody>
      </p:sp>
      <p:sp>
        <p:nvSpPr>
          <p:cNvPr id="143" name="Shape 143"/>
          <p:cNvSpPr/>
          <p:nvPr/>
        </p:nvSpPr>
        <p:spPr>
          <a:xfrm>
            <a:off x="749808" y="4700016"/>
            <a:ext cx="3401568" cy="448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9EF"/>
            </a:solidFill>
          </a:ln>
        </p:spPr>
        <p:txBody>
          <a:bodyPr wrap="square" anchor="ctr" lIns="140000" rIns="140000" tIns="140000" bIns="140000"/>
          <a:lstStyle/>
          <a:p>
            <a:pPr algn="l" marL="0" marR="0"/>
            <a:r>
              <a:rPr lang="de-DE" sz="1400" b="1">
                <a:solidFill>
                  <a:srgbClr val="172033"/>
                </a:solidFill>
                <a:latin typeface="Aptos"/>
              </a:rPr>
              <a:t>Bitcoin</a:t>
            </a:r>
            <a:endParaRPr lang="de-DE" sz="1400"/>
          </a:p>
        </p:txBody>
      </p:sp>
      <p:sp>
        <p:nvSpPr>
          <p:cNvPr id="144" name="Shape 144"/>
          <p:cNvSpPr/>
          <p:nvPr/>
        </p:nvSpPr>
        <p:spPr>
          <a:xfrm>
            <a:off x="4315968" y="4700016"/>
            <a:ext cx="1965960" cy="448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9EF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1600" b="1">
                <a:solidFill>
                  <a:srgbClr val="172033"/>
                </a:solidFill>
                <a:latin typeface="Aptos"/>
              </a:rPr>
              <a:t>?</a:t>
            </a:r>
            <a:endParaRPr lang="de-DE" sz="1600"/>
          </a:p>
        </p:txBody>
      </p:sp>
      <p:sp>
        <p:nvSpPr>
          <p:cNvPr id="145" name="Shape 145"/>
          <p:cNvSpPr/>
          <p:nvPr/>
        </p:nvSpPr>
        <p:spPr>
          <a:xfrm>
            <a:off x="6446520" y="4700016"/>
            <a:ext cx="4956048" cy="448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9EF"/>
            </a:solidFill>
          </a:ln>
        </p:spPr>
        <p:txBody>
          <a:bodyPr wrap="square" anchor="ctr" lIns="140000" rIns="140000" tIns="140000" bIns="140000"/>
          <a:lstStyle/>
          <a:p>
            <a:pPr algn="l" marL="0" marR="0"/>
            <a:r>
              <a:rPr lang="de-DE" sz="1500" b="0">
                <a:solidFill>
                  <a:srgbClr val="172033"/>
                </a:solidFill>
                <a:latin typeface="Aptos"/>
              </a:rPr>
              <a:t>…</a:t>
            </a:r>
            <a:endParaRPr lang="de-DE" sz="1500"/>
          </a:p>
        </p:txBody>
      </p:sp>
      <p:sp>
        <p:nvSpPr>
          <p:cNvPr id="146" name="Shape 146"/>
          <p:cNvSpPr/>
          <p:nvPr/>
        </p:nvSpPr>
        <p:spPr>
          <a:xfrm>
            <a:off x="749808" y="5257800"/>
            <a:ext cx="3401568" cy="448056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E5E9EF"/>
            </a:solidFill>
          </a:ln>
        </p:spPr>
        <p:txBody>
          <a:bodyPr wrap="square" anchor="ctr" lIns="140000" rIns="140000" tIns="140000" bIns="140000"/>
          <a:lstStyle/>
          <a:p>
            <a:pPr algn="l" marL="0" marR="0"/>
            <a:r>
              <a:rPr lang="de-DE" sz="1400" b="1">
                <a:solidFill>
                  <a:srgbClr val="172033"/>
                </a:solidFill>
                <a:latin typeface="Aptos"/>
              </a:rPr>
              <a:t>Einkaufsgutschein</a:t>
            </a:r>
            <a:endParaRPr lang="de-DE" sz="1400"/>
          </a:p>
        </p:txBody>
      </p:sp>
      <p:sp>
        <p:nvSpPr>
          <p:cNvPr id="147" name="Shape 147"/>
          <p:cNvSpPr/>
          <p:nvPr/>
        </p:nvSpPr>
        <p:spPr>
          <a:xfrm>
            <a:off x="4315968" y="5257800"/>
            <a:ext cx="1965960" cy="448056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E5E9EF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1600" b="1">
                <a:solidFill>
                  <a:srgbClr val="172033"/>
                </a:solidFill>
                <a:latin typeface="Aptos"/>
              </a:rPr>
              <a:t>?</a:t>
            </a:r>
            <a:endParaRPr lang="de-DE" sz="1600"/>
          </a:p>
        </p:txBody>
      </p:sp>
      <p:sp>
        <p:nvSpPr>
          <p:cNvPr id="148" name="Shape 148"/>
          <p:cNvSpPr/>
          <p:nvPr/>
        </p:nvSpPr>
        <p:spPr>
          <a:xfrm>
            <a:off x="6446520" y="5257800"/>
            <a:ext cx="4956048" cy="448056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E5E9EF"/>
            </a:solidFill>
          </a:ln>
        </p:spPr>
        <p:txBody>
          <a:bodyPr wrap="square" anchor="ctr" lIns="140000" rIns="140000" tIns="140000" bIns="140000"/>
          <a:lstStyle/>
          <a:p>
            <a:pPr algn="l" marL="0" marR="0"/>
            <a:r>
              <a:rPr lang="de-DE" sz="1500" b="0">
                <a:solidFill>
                  <a:srgbClr val="172033"/>
                </a:solidFill>
                <a:latin typeface="Aptos"/>
              </a:rPr>
              <a:t>…</a:t>
            </a:r>
            <a:endParaRPr lang="de-DE" sz="1500"/>
          </a:p>
        </p:txBody>
      </p:sp>
      <p:sp>
        <p:nvSpPr>
          <p:cNvPr id="149" name="Text 149"/>
          <p:cNvSpPr txBox="1"/>
          <p:nvPr/>
        </p:nvSpPr>
        <p:spPr>
          <a:xfrm>
            <a:off x="658368" y="6510528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Wirtschaft · Beruf · Klasse 7</a:t>
            </a:r>
            <a:endParaRPr lang="de-DE" sz="900"/>
          </a:p>
        </p:txBody>
      </p:sp>
      <p:sp>
        <p:nvSpPr>
          <p:cNvPr id="150" name="Text 150"/>
          <p:cNvSpPr txBox="1"/>
          <p:nvPr/>
        </p:nvSpPr>
        <p:spPr>
          <a:xfrm>
            <a:off x="11018520" y="6510528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15</a:t>
            </a:r>
            <a:endParaRPr lang="de-DE" sz="9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Text 151"/>
          <p:cNvSpPr txBox="1"/>
          <p:nvPr/>
        </p:nvSpPr>
        <p:spPr>
          <a:xfrm>
            <a:off x="658368" y="347472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100" b="1">
                <a:solidFill>
                  <a:srgbClr val="157A65"/>
                </a:solidFill>
                <a:latin typeface="Aptos"/>
              </a:rPr>
              <a:t>ANWENDEN</a:t>
            </a:r>
            <a:endParaRPr lang="de-DE" sz="1100"/>
          </a:p>
        </p:txBody>
      </p:sp>
      <p:sp>
        <p:nvSpPr>
          <p:cNvPr id="152" name="Text 152"/>
          <p:cNvSpPr txBox="1"/>
          <p:nvPr/>
        </p:nvSpPr>
        <p:spPr>
          <a:xfrm>
            <a:off x="658368" y="713232"/>
            <a:ext cx="107899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3000" b="1">
                <a:solidFill>
                  <a:srgbClr val="101828"/>
                </a:solidFill>
                <a:latin typeface="Aptos"/>
              </a:rPr>
              <a:t>Auflösung</a:t>
            </a:r>
            <a:endParaRPr lang="de-DE" sz="3000"/>
          </a:p>
        </p:txBody>
      </p:sp>
      <p:sp>
        <p:nvSpPr>
          <p:cNvPr id="153" name="Shape 153"/>
          <p:cNvSpPr/>
          <p:nvPr/>
        </p:nvSpPr>
        <p:spPr>
          <a:xfrm>
            <a:off x="749808" y="1527048"/>
            <a:ext cx="3438144" cy="932688"/>
          </a:xfrm>
          <a:prstGeom prst="roundRect">
            <a:avLst/>
          </a:prstGeom>
          <a:solidFill>
            <a:srgbClr val="E7F8F3"/>
          </a:solidFill>
          <a:ln w="12700">
            <a:solidFill>
              <a:srgbClr val="28C69F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1800" b="1">
                <a:solidFill>
                  <a:srgbClr val="157A65"/>
                </a:solidFill>
                <a:latin typeface="Aptos"/>
              </a:rPr>
              <a:t>Euro-Banknote</a:t>
            </a:r>
            <a:endParaRPr lang="de-DE" sz="1800"/>
          </a:p>
          <a:p>
            <a:pPr algn="ctr" marL="0" marR="0"/>
            <a:r>
              <a:rPr lang="de-DE" sz="1800" b="1">
                <a:solidFill>
                  <a:srgbClr val="157A65"/>
                </a:solidFill>
                <a:latin typeface="Aptos"/>
              </a:rPr>
              <a:t>JA – Geld</a:t>
            </a:r>
            <a:endParaRPr lang="de-DE" sz="1800"/>
          </a:p>
        </p:txBody>
      </p:sp>
      <p:sp>
        <p:nvSpPr>
          <p:cNvPr id="154" name="Shape 154"/>
          <p:cNvSpPr/>
          <p:nvPr/>
        </p:nvSpPr>
        <p:spPr>
          <a:xfrm>
            <a:off x="4379976" y="1527048"/>
            <a:ext cx="3438144" cy="932688"/>
          </a:xfrm>
          <a:prstGeom prst="roundRect">
            <a:avLst/>
          </a:prstGeom>
          <a:solidFill>
            <a:srgbClr val="E7F8F3"/>
          </a:solidFill>
          <a:ln w="12700">
            <a:solidFill>
              <a:srgbClr val="28C69F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1800" b="1">
                <a:solidFill>
                  <a:srgbClr val="157A65"/>
                </a:solidFill>
                <a:latin typeface="Aptos"/>
              </a:rPr>
              <a:t>Giroguthaben</a:t>
            </a:r>
            <a:endParaRPr lang="de-DE" sz="1800"/>
          </a:p>
          <a:p>
            <a:pPr algn="ctr" marL="0" marR="0"/>
            <a:r>
              <a:rPr lang="de-DE" sz="1800" b="1">
                <a:solidFill>
                  <a:srgbClr val="157A65"/>
                </a:solidFill>
                <a:latin typeface="Aptos"/>
              </a:rPr>
              <a:t>JA – Giralgeld</a:t>
            </a:r>
            <a:endParaRPr lang="de-DE" sz="1800"/>
          </a:p>
        </p:txBody>
      </p:sp>
      <p:sp>
        <p:nvSpPr>
          <p:cNvPr id="155" name="Shape 155"/>
          <p:cNvSpPr/>
          <p:nvPr/>
        </p:nvSpPr>
        <p:spPr>
          <a:xfrm>
            <a:off x="8010144" y="1527048"/>
            <a:ext cx="3438144" cy="932688"/>
          </a:xfrm>
          <a:prstGeom prst="roundRect">
            <a:avLst/>
          </a:prstGeom>
          <a:solidFill>
            <a:srgbClr val="FFE7E5"/>
          </a:solidFill>
          <a:ln w="12700">
            <a:solidFill>
              <a:srgbClr val="F7B4AF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1700" b="1">
                <a:solidFill>
                  <a:srgbClr val="B42318"/>
                </a:solidFill>
                <a:latin typeface="Aptos"/>
              </a:rPr>
              <a:t>Gold</a:t>
            </a:r>
            <a:endParaRPr lang="de-DE" sz="1700"/>
          </a:p>
          <a:p>
            <a:pPr algn="ctr" marL="0" marR="0"/>
            <a:r>
              <a:rPr lang="de-DE" sz="1700" b="1">
                <a:solidFill>
                  <a:srgbClr val="B42318"/>
                </a:solidFill>
                <a:latin typeface="Aptos"/>
              </a:rPr>
              <a:t>NEIN – Vermögenswert</a:t>
            </a:r>
            <a:endParaRPr lang="de-DE" sz="1700"/>
          </a:p>
        </p:txBody>
      </p:sp>
      <p:sp>
        <p:nvSpPr>
          <p:cNvPr id="156" name="Shape 156"/>
          <p:cNvSpPr/>
          <p:nvPr/>
        </p:nvSpPr>
        <p:spPr>
          <a:xfrm>
            <a:off x="749808" y="2807208"/>
            <a:ext cx="3438144" cy="932688"/>
          </a:xfrm>
          <a:prstGeom prst="roundRect">
            <a:avLst/>
          </a:prstGeom>
          <a:solidFill>
            <a:srgbClr val="FFE7E5"/>
          </a:solidFill>
          <a:ln w="12700">
            <a:solidFill>
              <a:srgbClr val="F7B4AF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1700" b="1">
                <a:solidFill>
                  <a:srgbClr val="B42318"/>
                </a:solidFill>
                <a:latin typeface="Aptos"/>
              </a:rPr>
              <a:t>Kreditkarte</a:t>
            </a:r>
            <a:endParaRPr lang="de-DE" sz="1700"/>
          </a:p>
          <a:p>
            <a:pPr algn="ctr" marL="0" marR="0"/>
            <a:r>
              <a:rPr lang="de-DE" sz="1700" b="1">
                <a:solidFill>
                  <a:srgbClr val="B42318"/>
                </a:solidFill>
                <a:latin typeface="Aptos"/>
              </a:rPr>
              <a:t>NEIN – Zahlungsinstrument</a:t>
            </a:r>
            <a:endParaRPr lang="de-DE" sz="1700"/>
          </a:p>
        </p:txBody>
      </p:sp>
      <p:sp>
        <p:nvSpPr>
          <p:cNvPr id="157" name="Shape 157"/>
          <p:cNvSpPr/>
          <p:nvPr/>
        </p:nvSpPr>
        <p:spPr>
          <a:xfrm>
            <a:off x="4379976" y="2807208"/>
            <a:ext cx="3438144" cy="932688"/>
          </a:xfrm>
          <a:prstGeom prst="roundRect">
            <a:avLst/>
          </a:prstGeom>
          <a:solidFill>
            <a:srgbClr val="FFE7E5"/>
          </a:solidFill>
          <a:ln w="12700">
            <a:solidFill>
              <a:srgbClr val="F7B4AF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1600" b="1">
                <a:solidFill>
                  <a:srgbClr val="B42318"/>
                </a:solidFill>
                <a:latin typeface="Aptos"/>
              </a:rPr>
              <a:t>Bitcoin</a:t>
            </a:r>
            <a:endParaRPr lang="de-DE" sz="1600"/>
          </a:p>
          <a:p>
            <a:pPr algn="ctr" marL="0" marR="0"/>
            <a:r>
              <a:rPr lang="de-DE" sz="1600" b="1">
                <a:solidFill>
                  <a:srgbClr val="B42318"/>
                </a:solidFill>
                <a:latin typeface="Aptos"/>
              </a:rPr>
              <a:t>NEIN – keine staatliche Währung</a:t>
            </a:r>
            <a:endParaRPr lang="de-DE" sz="1600"/>
          </a:p>
        </p:txBody>
      </p:sp>
      <p:sp>
        <p:nvSpPr>
          <p:cNvPr id="158" name="Shape 158"/>
          <p:cNvSpPr/>
          <p:nvPr/>
        </p:nvSpPr>
        <p:spPr>
          <a:xfrm>
            <a:off x="8010144" y="2807208"/>
            <a:ext cx="3438144" cy="932688"/>
          </a:xfrm>
          <a:prstGeom prst="roundRect">
            <a:avLst/>
          </a:prstGeom>
          <a:solidFill>
            <a:srgbClr val="FFE7E5"/>
          </a:solidFill>
          <a:ln w="12700">
            <a:solidFill>
              <a:srgbClr val="F7B4AF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1500" b="1">
                <a:solidFill>
                  <a:srgbClr val="B42318"/>
                </a:solidFill>
                <a:latin typeface="Aptos"/>
              </a:rPr>
              <a:t>Gutschein</a:t>
            </a:r>
            <a:endParaRPr lang="de-DE" sz="1500"/>
          </a:p>
          <a:p>
            <a:pPr algn="ctr" marL="0" marR="0"/>
            <a:r>
              <a:rPr lang="de-DE" sz="1500" b="1">
                <a:solidFill>
                  <a:srgbClr val="B42318"/>
                </a:solidFill>
                <a:latin typeface="Aptos"/>
              </a:rPr>
              <a:t>NEIN – nicht allgemein anerkannt</a:t>
            </a:r>
            <a:endParaRPr lang="de-DE" sz="1500"/>
          </a:p>
        </p:txBody>
      </p:sp>
      <p:sp>
        <p:nvSpPr>
          <p:cNvPr id="159" name="Shape 159"/>
          <p:cNvSpPr/>
          <p:nvPr/>
        </p:nvSpPr>
        <p:spPr>
          <a:xfrm>
            <a:off x="1965960" y="4297680"/>
            <a:ext cx="8266176" cy="868680"/>
          </a:xfrm>
          <a:prstGeom prst="roundRect">
            <a:avLst/>
          </a:prstGeom>
          <a:solidFill>
            <a:srgbClr val="172033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100" b="1">
                <a:solidFill>
                  <a:srgbClr val="FFFFFF"/>
                </a:solidFill>
                <a:latin typeface="Aptos"/>
              </a:rPr>
              <a:t>Entscheidend ist immer die vollständige Geldprobe.</a:t>
            </a:r>
            <a:endParaRPr lang="de-DE" sz="2100"/>
          </a:p>
        </p:txBody>
      </p:sp>
      <p:sp>
        <p:nvSpPr>
          <p:cNvPr id="160" name="Text 160"/>
          <p:cNvSpPr txBox="1"/>
          <p:nvPr/>
        </p:nvSpPr>
        <p:spPr>
          <a:xfrm>
            <a:off x="658368" y="6510528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Wirtschaft · Beruf · Klasse 7</a:t>
            </a:r>
            <a:endParaRPr lang="de-DE" sz="900"/>
          </a:p>
        </p:txBody>
      </p:sp>
      <p:sp>
        <p:nvSpPr>
          <p:cNvPr id="161" name="Text 161"/>
          <p:cNvSpPr txBox="1"/>
          <p:nvPr/>
        </p:nvSpPr>
        <p:spPr>
          <a:xfrm>
            <a:off x="11018520" y="6510528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16</a:t>
            </a:r>
            <a:endParaRPr lang="de-DE" sz="9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Text 162"/>
          <p:cNvSpPr txBox="1"/>
          <p:nvPr/>
        </p:nvSpPr>
        <p:spPr>
          <a:xfrm>
            <a:off x="658368" y="347472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100" b="1">
                <a:solidFill>
                  <a:srgbClr val="157A65"/>
                </a:solidFill>
                <a:latin typeface="Aptos"/>
              </a:rPr>
              <a:t>WICHTIGE UNTERSCHEIDUNG</a:t>
            </a:r>
            <a:endParaRPr lang="de-DE" sz="1100"/>
          </a:p>
        </p:txBody>
      </p:sp>
      <p:sp>
        <p:nvSpPr>
          <p:cNvPr id="163" name="Text 163"/>
          <p:cNvSpPr txBox="1"/>
          <p:nvPr/>
        </p:nvSpPr>
        <p:spPr>
          <a:xfrm>
            <a:off x="658368" y="713232"/>
            <a:ext cx="107899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3000" b="1">
                <a:solidFill>
                  <a:srgbClr val="101828"/>
                </a:solidFill>
                <a:latin typeface="Aptos"/>
              </a:rPr>
              <a:t>Geld oder Zugang zu Geld?</a:t>
            </a:r>
            <a:endParaRPr lang="de-DE" sz="3000"/>
          </a:p>
        </p:txBody>
      </p:sp>
      <p:sp>
        <p:nvSpPr>
          <p:cNvPr id="164" name="Shape 164"/>
          <p:cNvSpPr/>
          <p:nvPr/>
        </p:nvSpPr>
        <p:spPr>
          <a:xfrm>
            <a:off x="758952" y="1664208"/>
            <a:ext cx="3364992" cy="3383280"/>
          </a:xfrm>
          <a:prstGeom prst="roundRect">
            <a:avLst/>
          </a:prstGeom>
          <a:solidFill>
            <a:srgbClr val="E7F8F3"/>
          </a:solidFill>
          <a:ln w="12700">
            <a:solidFill>
              <a:srgbClr val="28C69F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100" b="1">
                <a:solidFill>
                  <a:srgbClr val="157A65"/>
                </a:solidFill>
                <a:latin typeface="Aptos"/>
              </a:rPr>
              <a:t>Bargeld</a:t>
            </a:r>
            <a:endParaRPr lang="de-DE" sz="2100"/>
          </a:p>
          <a:p>
            <a:pPr algn="ctr" marL="0" marR="0"/>
            <a:r>
              <a:rPr lang="de-DE" sz="2100" b="1">
                <a:solidFill>
                  <a:srgbClr val="157A65"/>
                </a:solidFill>
                <a:latin typeface="Aptos"/>
              </a:rPr>
              <a:t/>
            </a:r>
            <a:endParaRPr lang="de-DE" sz="2100"/>
          </a:p>
          <a:p>
            <a:pPr algn="ctr" marL="0" marR="0"/>
            <a:r>
              <a:rPr lang="de-DE" sz="2100" b="1">
                <a:solidFill>
                  <a:srgbClr val="157A65"/>
                </a:solidFill>
                <a:latin typeface="Aptos"/>
              </a:rPr>
              <a:t>Münzen und</a:t>
            </a:r>
            <a:endParaRPr lang="de-DE" sz="2100"/>
          </a:p>
          <a:p>
            <a:pPr algn="ctr" marL="0" marR="0"/>
            <a:r>
              <a:rPr lang="de-DE" sz="2100" b="1">
                <a:solidFill>
                  <a:srgbClr val="157A65"/>
                </a:solidFill>
                <a:latin typeface="Aptos"/>
              </a:rPr>
              <a:t>Banknoten</a:t>
            </a:r>
            <a:endParaRPr lang="de-DE" sz="2100"/>
          </a:p>
          <a:p>
            <a:pPr algn="ctr" marL="0" marR="0"/>
            <a:r>
              <a:rPr lang="de-DE" sz="2100" b="1">
                <a:solidFill>
                  <a:srgbClr val="157A65"/>
                </a:solidFill>
                <a:latin typeface="Aptos"/>
              </a:rPr>
              <a:t/>
            </a:r>
            <a:endParaRPr lang="de-DE" sz="2100"/>
          </a:p>
          <a:p>
            <a:pPr algn="ctr" marL="0" marR="0"/>
            <a:r>
              <a:rPr lang="de-DE" sz="2100" b="1">
                <a:solidFill>
                  <a:srgbClr val="157A65"/>
                </a:solidFill>
                <a:latin typeface="Aptos"/>
              </a:rPr>
              <a:t>ist Geld</a:t>
            </a:r>
            <a:endParaRPr lang="de-DE" sz="2100"/>
          </a:p>
        </p:txBody>
      </p:sp>
      <p:sp>
        <p:nvSpPr>
          <p:cNvPr id="165" name="Shape 165"/>
          <p:cNvSpPr/>
          <p:nvPr/>
        </p:nvSpPr>
        <p:spPr>
          <a:xfrm>
            <a:off x="4416552" y="1664208"/>
            <a:ext cx="3364992" cy="3383280"/>
          </a:xfrm>
          <a:prstGeom prst="roundRect">
            <a:avLst/>
          </a:prstGeom>
          <a:solidFill>
            <a:srgbClr val="EAF0FF"/>
          </a:solidFill>
          <a:ln w="12700">
            <a:solidFill>
              <a:srgbClr val="6E8BF7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100" b="1">
                <a:solidFill>
                  <a:srgbClr val="2949A8"/>
                </a:solidFill>
                <a:latin typeface="Aptos"/>
              </a:rPr>
              <a:t>Giralgeld</a:t>
            </a:r>
            <a:endParaRPr lang="de-DE" sz="2100"/>
          </a:p>
          <a:p>
            <a:pPr algn="ctr" marL="0" marR="0"/>
            <a:r>
              <a:rPr lang="de-DE" sz="2100" b="1">
                <a:solidFill>
                  <a:srgbClr val="2949A8"/>
                </a:solidFill>
                <a:latin typeface="Aptos"/>
              </a:rPr>
              <a:t/>
            </a:r>
            <a:endParaRPr lang="de-DE" sz="2100"/>
          </a:p>
          <a:p>
            <a:pPr algn="ctr" marL="0" marR="0"/>
            <a:r>
              <a:rPr lang="de-DE" sz="2100" b="1">
                <a:solidFill>
                  <a:srgbClr val="2949A8"/>
                </a:solidFill>
                <a:latin typeface="Aptos"/>
              </a:rPr>
              <a:t>Guthaben auf</a:t>
            </a:r>
            <a:endParaRPr lang="de-DE" sz="2100"/>
          </a:p>
          <a:p>
            <a:pPr algn="ctr" marL="0" marR="0"/>
            <a:r>
              <a:rPr lang="de-DE" sz="2100" b="1">
                <a:solidFill>
                  <a:srgbClr val="2949A8"/>
                </a:solidFill>
                <a:latin typeface="Aptos"/>
              </a:rPr>
              <a:t>dem Girokonto</a:t>
            </a:r>
            <a:endParaRPr lang="de-DE" sz="2100"/>
          </a:p>
          <a:p>
            <a:pPr algn="ctr" marL="0" marR="0"/>
            <a:r>
              <a:rPr lang="de-DE" sz="2100" b="1">
                <a:solidFill>
                  <a:srgbClr val="2949A8"/>
                </a:solidFill>
                <a:latin typeface="Aptos"/>
              </a:rPr>
              <a:t/>
            </a:r>
            <a:endParaRPr lang="de-DE" sz="2100"/>
          </a:p>
          <a:p>
            <a:pPr algn="ctr" marL="0" marR="0"/>
            <a:r>
              <a:rPr lang="de-DE" sz="2100" b="1">
                <a:solidFill>
                  <a:srgbClr val="2949A8"/>
                </a:solidFill>
                <a:latin typeface="Aptos"/>
              </a:rPr>
              <a:t>ist Geld</a:t>
            </a:r>
            <a:endParaRPr lang="de-DE" sz="2100"/>
          </a:p>
        </p:txBody>
      </p:sp>
      <p:sp>
        <p:nvSpPr>
          <p:cNvPr id="166" name="Shape 166"/>
          <p:cNvSpPr/>
          <p:nvPr/>
        </p:nvSpPr>
        <p:spPr>
          <a:xfrm>
            <a:off x="8074152" y="1664208"/>
            <a:ext cx="3364992" cy="3383280"/>
          </a:xfrm>
          <a:prstGeom prst="roundRect">
            <a:avLst/>
          </a:prstGeom>
          <a:solidFill>
            <a:srgbClr val="FFF0DD"/>
          </a:solidFill>
          <a:ln w="12700">
            <a:solidFill>
              <a:srgbClr val="E99B43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000" b="1">
                <a:solidFill>
                  <a:srgbClr val="8A5A13"/>
                </a:solidFill>
                <a:latin typeface="Aptos"/>
              </a:rPr>
              <a:t>Karte oder App</a:t>
            </a:r>
            <a:endParaRPr lang="de-DE" sz="2000"/>
          </a:p>
          <a:p>
            <a:pPr algn="ctr" marL="0" marR="0"/>
            <a:r>
              <a:rPr lang="de-DE" sz="2000" b="1">
                <a:solidFill>
                  <a:srgbClr val="8A5A13"/>
                </a:solidFill>
                <a:latin typeface="Aptos"/>
              </a:rPr>
              <a:t/>
            </a:r>
            <a:endParaRPr lang="de-DE" sz="2000"/>
          </a:p>
          <a:p>
            <a:pPr algn="ctr" marL="0" marR="0"/>
            <a:r>
              <a:rPr lang="de-DE" sz="2000" b="1">
                <a:solidFill>
                  <a:srgbClr val="8A5A13"/>
                </a:solidFill>
                <a:latin typeface="Aptos"/>
              </a:rPr>
              <a:t>ermöglicht eine</a:t>
            </a:r>
            <a:endParaRPr lang="de-DE" sz="2000"/>
          </a:p>
          <a:p>
            <a:pPr algn="ctr" marL="0" marR="0"/>
            <a:r>
              <a:rPr lang="de-DE" sz="2000" b="1">
                <a:solidFill>
                  <a:srgbClr val="8A5A13"/>
                </a:solidFill>
                <a:latin typeface="Aptos"/>
              </a:rPr>
              <a:t>Zahlung</a:t>
            </a:r>
            <a:endParaRPr lang="de-DE" sz="2000"/>
          </a:p>
          <a:p>
            <a:pPr algn="ctr" marL="0" marR="0"/>
            <a:r>
              <a:rPr lang="de-DE" sz="2000" b="1">
                <a:solidFill>
                  <a:srgbClr val="8A5A13"/>
                </a:solidFill>
                <a:latin typeface="Aptos"/>
              </a:rPr>
              <a:t/>
            </a:r>
            <a:endParaRPr lang="de-DE" sz="2000"/>
          </a:p>
          <a:p>
            <a:pPr algn="ctr" marL="0" marR="0"/>
            <a:r>
              <a:rPr lang="de-DE" sz="2000" b="1">
                <a:solidFill>
                  <a:srgbClr val="8A5A13"/>
                </a:solidFill>
                <a:latin typeface="Aptos"/>
              </a:rPr>
              <a:t>ist kein Geld</a:t>
            </a:r>
            <a:endParaRPr lang="de-DE" sz="2000"/>
          </a:p>
        </p:txBody>
      </p:sp>
      <p:sp>
        <p:nvSpPr>
          <p:cNvPr id="167" name="Text 167"/>
          <p:cNvSpPr txBox="1"/>
          <p:nvPr/>
        </p:nvSpPr>
        <p:spPr>
          <a:xfrm>
            <a:off x="658368" y="6510528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Wirtschaft · Beruf · Klasse 7</a:t>
            </a:r>
            <a:endParaRPr lang="de-DE" sz="900"/>
          </a:p>
        </p:txBody>
      </p:sp>
      <p:sp>
        <p:nvSpPr>
          <p:cNvPr id="168" name="Text 168"/>
          <p:cNvSpPr txBox="1"/>
          <p:nvPr/>
        </p:nvSpPr>
        <p:spPr>
          <a:xfrm>
            <a:off x="11018520" y="6510528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17</a:t>
            </a:r>
            <a:endParaRPr lang="de-DE" sz="9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7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Text 169"/>
          <p:cNvSpPr txBox="1"/>
          <p:nvPr/>
        </p:nvSpPr>
        <p:spPr>
          <a:xfrm>
            <a:off x="658368" y="347472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100" b="1">
                <a:solidFill>
                  <a:srgbClr val="7DE3C3"/>
                </a:solidFill>
                <a:latin typeface="Aptos"/>
              </a:rPr>
              <a:t>ÜBER 2.300 JAHRE</a:t>
            </a:r>
            <a:endParaRPr lang="de-DE" sz="1100"/>
          </a:p>
        </p:txBody>
      </p:sp>
      <p:sp>
        <p:nvSpPr>
          <p:cNvPr id="170" name="Text 170"/>
          <p:cNvSpPr txBox="1"/>
          <p:nvPr/>
        </p:nvSpPr>
        <p:spPr>
          <a:xfrm>
            <a:off x="658368" y="713232"/>
            <a:ext cx="107899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3000" b="1">
                <a:solidFill>
                  <a:srgbClr val="FFFFFF"/>
                </a:solidFill>
                <a:latin typeface="Aptos"/>
              </a:rPr>
              <a:t>Ein Gedanke mit langer Geschichte</a:t>
            </a:r>
            <a:endParaRPr lang="de-DE" sz="3000"/>
          </a:p>
        </p:txBody>
      </p:sp>
      <p:sp>
        <p:nvSpPr>
          <p:cNvPr id="171" name="Shape 171"/>
          <p:cNvSpPr/>
          <p:nvPr/>
        </p:nvSpPr>
        <p:spPr>
          <a:xfrm>
            <a:off x="749808" y="1600200"/>
            <a:ext cx="5074920" cy="3337560"/>
          </a:xfrm>
          <a:prstGeom prst="roundRect">
            <a:avLst/>
          </a:prstGeom>
          <a:solidFill>
            <a:srgbClr val="183047"/>
          </a:solidFill>
          <a:ln w="12700">
            <a:solidFill>
              <a:srgbClr val="35506B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100" b="1">
                <a:solidFill>
                  <a:srgbClr val="FFFFFF"/>
                </a:solidFill>
                <a:latin typeface="Aptos"/>
              </a:rPr>
              <a:t>Aristoteles</a:t>
            </a:r>
            <a:endParaRPr lang="de-DE" sz="2100"/>
          </a:p>
          <a:p>
            <a:pPr algn="ctr" marL="0" marR="0"/>
            <a:r>
              <a:rPr lang="de-DE" sz="2100" b="1">
                <a:solidFill>
                  <a:srgbClr val="FFFFFF"/>
                </a:solidFill>
                <a:latin typeface="Aptos"/>
              </a:rPr>
              <a:t>384–322 v. Chr.</a:t>
            </a:r>
            <a:endParaRPr lang="de-DE" sz="2100"/>
          </a:p>
          <a:p>
            <a:pPr algn="ctr" marL="0" marR="0"/>
            <a:r>
              <a:rPr lang="de-DE" sz="2100" b="1">
                <a:solidFill>
                  <a:srgbClr val="FFFFFF"/>
                </a:solidFill>
                <a:latin typeface="Aptos"/>
              </a:rPr>
              <a:t/>
            </a:r>
            <a:endParaRPr lang="de-DE" sz="2100"/>
          </a:p>
          <a:p>
            <a:pPr algn="ctr" marL="0" marR="0"/>
            <a:r>
              <a:rPr lang="de-DE" sz="2100" b="1">
                <a:solidFill>
                  <a:srgbClr val="FFFFFF"/>
                </a:solidFill>
                <a:latin typeface="Aptos"/>
              </a:rPr>
              <a:t>Zwischentauschmittel</a:t>
            </a:r>
            <a:endParaRPr lang="de-DE" sz="2100"/>
          </a:p>
          <a:p>
            <a:pPr algn="ctr" marL="0" marR="0"/>
            <a:r>
              <a:rPr lang="de-DE" sz="2100" b="1">
                <a:solidFill>
                  <a:srgbClr val="FFFFFF"/>
                </a:solidFill>
                <a:latin typeface="Aptos"/>
              </a:rPr>
              <a:t>Wertmaßstab</a:t>
            </a:r>
            <a:endParaRPr lang="de-DE" sz="2100"/>
          </a:p>
          <a:p>
            <a:pPr algn="ctr" marL="0" marR="0"/>
            <a:r>
              <a:rPr lang="de-DE" sz="2100" b="1">
                <a:solidFill>
                  <a:srgbClr val="FFFFFF"/>
                </a:solidFill>
                <a:latin typeface="Aptos"/>
              </a:rPr>
              <a:t>späterer Tausch</a:t>
            </a:r>
            <a:endParaRPr lang="de-DE" sz="2100"/>
          </a:p>
        </p:txBody>
      </p:sp>
      <p:sp>
        <p:nvSpPr>
          <p:cNvPr id="172" name="Shape 172"/>
          <p:cNvSpPr/>
          <p:nvPr/>
        </p:nvSpPr>
        <p:spPr>
          <a:xfrm>
            <a:off x="6373368" y="1600200"/>
            <a:ext cx="5074920" cy="3337560"/>
          </a:xfrm>
          <a:prstGeom prst="roundRect">
            <a:avLst/>
          </a:prstGeom>
          <a:solidFill>
            <a:srgbClr val="183047"/>
          </a:solidFill>
          <a:ln w="12700">
            <a:solidFill>
              <a:srgbClr val="35506B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100" b="1">
                <a:solidFill>
                  <a:srgbClr val="FFFFFF"/>
                </a:solidFill>
                <a:latin typeface="Aptos"/>
              </a:rPr>
              <a:t>Georg Friedrich Knapp</a:t>
            </a:r>
            <a:endParaRPr lang="de-DE" sz="2100"/>
          </a:p>
          <a:p>
            <a:pPr algn="ctr" marL="0" marR="0"/>
            <a:r>
              <a:rPr lang="de-DE" sz="2100" b="1">
                <a:solidFill>
                  <a:srgbClr val="FFFFFF"/>
                </a:solidFill>
                <a:latin typeface="Aptos"/>
              </a:rPr>
              <a:t>1842–1926</a:t>
            </a:r>
            <a:endParaRPr lang="de-DE" sz="2100"/>
          </a:p>
          <a:p>
            <a:pPr algn="ctr" marL="0" marR="0"/>
            <a:r>
              <a:rPr lang="de-DE" sz="2100" b="1">
                <a:solidFill>
                  <a:srgbClr val="FFFFFF"/>
                </a:solidFill>
                <a:latin typeface="Aptos"/>
              </a:rPr>
              <a:t/>
            </a:r>
            <a:endParaRPr lang="de-DE" sz="2100"/>
          </a:p>
          <a:p>
            <a:pPr algn="ctr" marL="0" marR="0"/>
            <a:r>
              <a:rPr lang="de-DE" sz="2100" b="1">
                <a:solidFill>
                  <a:srgbClr val="FFFFFF"/>
                </a:solidFill>
                <a:latin typeface="Aptos"/>
              </a:rPr>
              <a:t>Geld als Teil einer</a:t>
            </a:r>
            <a:endParaRPr lang="de-DE" sz="2100"/>
          </a:p>
          <a:p>
            <a:pPr algn="ctr" marL="0" marR="0"/>
            <a:r>
              <a:rPr lang="de-DE" sz="2100" b="1">
                <a:solidFill>
                  <a:srgbClr val="FFFFFF"/>
                </a:solidFill>
                <a:latin typeface="Aptos"/>
              </a:rPr>
              <a:t>staatlichen</a:t>
            </a:r>
            <a:endParaRPr lang="de-DE" sz="2100"/>
          </a:p>
          <a:p>
            <a:pPr algn="ctr" marL="0" marR="0"/>
            <a:r>
              <a:rPr lang="de-DE" sz="2100" b="1">
                <a:solidFill>
                  <a:srgbClr val="FFFFFF"/>
                </a:solidFill>
                <a:latin typeface="Aptos"/>
              </a:rPr>
              <a:t>Rechtsordnung</a:t>
            </a:r>
            <a:endParaRPr lang="de-DE" sz="2100"/>
          </a:p>
        </p:txBody>
      </p:sp>
      <p:sp>
        <p:nvSpPr>
          <p:cNvPr id="173" name="Text 173"/>
          <p:cNvSpPr txBox="1"/>
          <p:nvPr/>
        </p:nvSpPr>
        <p:spPr>
          <a:xfrm>
            <a:off x="1298448" y="5276088"/>
            <a:ext cx="96012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 marL="0" marR="0"/>
            <a:r>
              <a:rPr lang="de-DE" sz="2100" b="1">
                <a:solidFill>
                  <a:srgbClr val="7DE3C3"/>
                </a:solidFill>
                <a:latin typeface="Aptos"/>
              </a:rPr>
              <a:t>Unsere Definition verbindet beide Gedanken.</a:t>
            </a:r>
            <a:endParaRPr lang="de-DE" sz="2100"/>
          </a:p>
        </p:txBody>
      </p:sp>
      <p:sp>
        <p:nvSpPr>
          <p:cNvPr id="174" name="Text 174"/>
          <p:cNvSpPr txBox="1"/>
          <p:nvPr/>
        </p:nvSpPr>
        <p:spPr>
          <a:xfrm>
            <a:off x="658368" y="6510528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900" b="0">
                <a:solidFill>
                  <a:srgbClr val="AAB5C7"/>
                </a:solidFill>
                <a:latin typeface="Aptos"/>
              </a:rPr>
              <a:t>Wirtschaft · Beruf · Klasse 7</a:t>
            </a:r>
            <a:endParaRPr lang="de-DE" sz="900"/>
          </a:p>
        </p:txBody>
      </p:sp>
      <p:sp>
        <p:nvSpPr>
          <p:cNvPr id="175" name="Text 175"/>
          <p:cNvSpPr txBox="1"/>
          <p:nvPr/>
        </p:nvSpPr>
        <p:spPr>
          <a:xfrm>
            <a:off x="11018520" y="6510528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 marL="0" marR="0"/>
            <a:r>
              <a:rPr lang="de-DE" sz="900" b="0">
                <a:solidFill>
                  <a:srgbClr val="AAB5C7"/>
                </a:solidFill>
                <a:latin typeface="Aptos"/>
              </a:rPr>
              <a:t>18</a:t>
            </a:r>
            <a:endParaRPr lang="de-DE" sz="9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Text 176"/>
          <p:cNvSpPr txBox="1"/>
          <p:nvPr/>
        </p:nvSpPr>
        <p:spPr>
          <a:xfrm>
            <a:off x="658368" y="347472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100" b="1">
                <a:solidFill>
                  <a:srgbClr val="157A65"/>
                </a:solidFill>
                <a:latin typeface="Aptos"/>
              </a:rPr>
              <a:t>EXIT-TICKET</a:t>
            </a:r>
            <a:endParaRPr lang="de-DE" sz="1100"/>
          </a:p>
        </p:txBody>
      </p:sp>
      <p:sp>
        <p:nvSpPr>
          <p:cNvPr id="177" name="Text 177"/>
          <p:cNvSpPr txBox="1"/>
          <p:nvPr/>
        </p:nvSpPr>
        <p:spPr>
          <a:xfrm>
            <a:off x="658368" y="713232"/>
            <a:ext cx="107899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3000" b="1">
                <a:solidFill>
                  <a:srgbClr val="101828"/>
                </a:solidFill>
                <a:latin typeface="Aptos"/>
              </a:rPr>
              <a:t>Zum Schluss: drei Sätze</a:t>
            </a:r>
            <a:endParaRPr lang="de-DE" sz="3000"/>
          </a:p>
        </p:txBody>
      </p:sp>
      <p:sp>
        <p:nvSpPr>
          <p:cNvPr id="178" name="Shape 178"/>
          <p:cNvSpPr/>
          <p:nvPr/>
        </p:nvSpPr>
        <p:spPr>
          <a:xfrm>
            <a:off x="777240" y="1572768"/>
            <a:ext cx="10625328" cy="9418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</p:spPr>
        <p:txBody>
          <a:bodyPr wrap="square" anchor="ctr" lIns="250000" rIns="250000" tIns="250000" bIns="250000"/>
          <a:lstStyle/>
          <a:p>
            <a:pPr algn="l" marL="0" marR="0"/>
            <a:r>
              <a:rPr lang="de-DE" sz="2200" b="1">
                <a:solidFill>
                  <a:srgbClr val="172033"/>
                </a:solidFill>
                <a:latin typeface="Aptos"/>
              </a:rPr>
              <a:t>1   Erkläre das Wort Zwischentauschmittel.</a:t>
            </a:r>
            <a:endParaRPr lang="de-DE" sz="2200"/>
          </a:p>
        </p:txBody>
      </p:sp>
      <p:sp>
        <p:nvSpPr>
          <p:cNvPr id="179" name="Shape 179"/>
          <p:cNvSpPr/>
          <p:nvPr/>
        </p:nvSpPr>
        <p:spPr>
          <a:xfrm>
            <a:off x="777240" y="2788920"/>
            <a:ext cx="10625328" cy="9418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</p:spPr>
        <p:txBody>
          <a:bodyPr wrap="square" anchor="ctr" lIns="250000" rIns="250000" tIns="250000" bIns="250000"/>
          <a:lstStyle/>
          <a:p>
            <a:pPr algn="l" marL="0" marR="0"/>
            <a:r>
              <a:rPr lang="de-DE" sz="2200" b="1">
                <a:solidFill>
                  <a:srgbClr val="172033"/>
                </a:solidFill>
                <a:latin typeface="Aptos"/>
              </a:rPr>
              <a:t>2   Warum ist eine Kreditkarte kein Geld?</a:t>
            </a:r>
            <a:endParaRPr lang="de-DE" sz="2200"/>
          </a:p>
        </p:txBody>
      </p:sp>
      <p:sp>
        <p:nvSpPr>
          <p:cNvPr id="180" name="Shape 180"/>
          <p:cNvSpPr/>
          <p:nvPr/>
        </p:nvSpPr>
        <p:spPr>
          <a:xfrm>
            <a:off x="777240" y="4005072"/>
            <a:ext cx="10625328" cy="9418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</p:spPr>
        <p:txBody>
          <a:bodyPr wrap="square" anchor="ctr" lIns="250000" rIns="250000" tIns="250000" bIns="250000"/>
          <a:lstStyle/>
          <a:p>
            <a:pPr algn="l" marL="0" marR="0"/>
            <a:r>
              <a:rPr lang="de-DE" sz="2200" b="1">
                <a:solidFill>
                  <a:srgbClr val="172033"/>
                </a:solidFill>
                <a:latin typeface="Aptos"/>
              </a:rPr>
              <a:t>3   Warum reicht allgemeine Anerkennung allein nicht aus?</a:t>
            </a:r>
            <a:endParaRPr lang="de-DE" sz="2200"/>
          </a:p>
        </p:txBody>
      </p:sp>
      <p:sp>
        <p:nvSpPr>
          <p:cNvPr id="181" name="Shape 181"/>
          <p:cNvSpPr/>
          <p:nvPr/>
        </p:nvSpPr>
        <p:spPr>
          <a:xfrm>
            <a:off x="3218688" y="5321808"/>
            <a:ext cx="5760720" cy="566928"/>
          </a:xfrm>
          <a:prstGeom prst="roundRect">
            <a:avLst/>
          </a:prstGeom>
          <a:solidFill>
            <a:srgbClr val="E7F8F3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1600" b="1">
                <a:solidFill>
                  <a:srgbClr val="157A65"/>
                </a:solidFill>
                <a:latin typeface="Aptos"/>
              </a:rPr>
              <a:t>Nur alle Eigenschaften zusammen ergeben Geld.</a:t>
            </a:r>
            <a:endParaRPr lang="de-DE" sz="1600"/>
          </a:p>
        </p:txBody>
      </p:sp>
      <p:sp>
        <p:nvSpPr>
          <p:cNvPr id="182" name="Text 182"/>
          <p:cNvSpPr txBox="1"/>
          <p:nvPr/>
        </p:nvSpPr>
        <p:spPr>
          <a:xfrm>
            <a:off x="658368" y="6510528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Wirtschaft · Beruf · Klasse 7</a:t>
            </a:r>
            <a:endParaRPr lang="de-DE" sz="900"/>
          </a:p>
        </p:txBody>
      </p:sp>
      <p:sp>
        <p:nvSpPr>
          <p:cNvPr id="183" name="Text 183"/>
          <p:cNvSpPr txBox="1"/>
          <p:nvPr/>
        </p:nvSpPr>
        <p:spPr>
          <a:xfrm>
            <a:off x="11018520" y="6510528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19</a:t>
            </a:r>
            <a:endParaRPr lang="de-DE" sz="9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L7 Clean">
  <a:themeElements>
    <a:clrScheme name="WL7">
      <a:dk1>
        <a:srgbClr val="0D1726"/>
      </a:dk1>
      <a:lt1>
        <a:srgbClr val="FFFFFF"/>
      </a:lt1>
      <a:dk2>
        <a:srgbClr val="172033"/>
      </a:dk2>
      <a:lt2>
        <a:srgbClr val="F4F6F8"/>
      </a:lt2>
      <a:accent1>
        <a:srgbClr val="28C69F"/>
      </a:accent1>
      <a:accent2>
        <a:srgbClr val="6E8BF7"/>
      </a:accent2>
      <a:accent3>
        <a:srgbClr val="E7B84B"/>
      </a:accent3>
      <a:accent4>
        <a:srgbClr val="9B74D7"/>
      </a:accent4>
      <a:accent5>
        <a:srgbClr val="E99B43"/>
      </a:accent5>
      <a:accent6>
        <a:srgbClr val="B42318"/>
      </a:accent6>
      <a:hlink>
        <a:srgbClr val="0563C1"/>
      </a:hlink>
      <a:folHlink>
        <a:srgbClr val="954F72"/>
      </a:folHlink>
    </a:clrScheme>
    <a:fontScheme name="Aptos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WL7">
      <a:fillStyleLst>
        <a:solidFill>
          <a:schemeClr val="phClr"/>
        </a:solidFill>
        <a:solidFill>
          <a:schemeClr val="accent1"/>
        </a:solidFill>
        <a:solidFill>
          <a:schemeClr val="accent2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lt1"/>
        </a:solidFill>
        <a:solidFill>
          <a:schemeClr val="lt2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Breitbild</PresentationFormat>
  <Slides>19</Slides>
  <Notes>0</Notes>
  <HiddenSlides>0</HiddenSlides>
  <MMClips>0</MMClips>
  <ScaleCrop>false</ScaleCrop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Was ist Geld?</dc:title>
  <dc:subject>Wirtschaft · Beruf, Klasse 7</dc:subject>
  <dc:creator>Steffen Rentschler</dc:creator>
  <dcterms:created xsi:type="dcterms:W3CDTF">2026-09-14T00:00:00Z</dcterms:created>
  <dcterms:modified xsi:type="dcterms:W3CDTF">2026-09-14T00:00:00Z</dcterms:modified>
</cp:coreProperties>
</file>