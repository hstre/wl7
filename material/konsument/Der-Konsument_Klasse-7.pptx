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7a4d5d791164163" /><Relationship Type="http://schemas.openxmlformats.org/officeDocument/2006/relationships/extended-properties" Target="/docProps/app.xml" Id="R3feaf87d8c63486d" /><Relationship Type="http://schemas.openxmlformats.org/officeDocument/2006/relationships/officeDocument" Target="/ppt/presentation.xml" Id="Re702ffd80aa54c6c" /></Relationships>
</file>

<file path=ppt/presentation.xml><?xml version="1.0" encoding="utf-8"?>
<p:presentation xmlns:p="http://schemas.openxmlformats.org/presentationml/2006/main">
  <p:sldMasterIdLst>
    <p:sldMasterId xmlns:r="http://schemas.openxmlformats.org/officeDocument/2006/relationships" id="2147483648" r:id="R56e171aaed334369"/>
  </p:sldMasterIdLst>
  <p:notesMasterIdLst>
    <p:notesMasterId xmlns:r="http://schemas.openxmlformats.org/officeDocument/2006/relationships" r:id="R8750206effb747fa"/>
  </p:notesMasterIdLst>
  <p:sldIdLst>
    <p:sldId xmlns:r="http://schemas.openxmlformats.org/officeDocument/2006/relationships" id="256" r:id="Rccccad6bafb74a56"/>
    <p:sldId xmlns:r="http://schemas.openxmlformats.org/officeDocument/2006/relationships" id="257" r:id="Rb284e6b8139145d0"/>
    <p:sldId xmlns:r="http://schemas.openxmlformats.org/officeDocument/2006/relationships" id="258" r:id="Rdc1dcea2682b463f"/>
    <p:sldId xmlns:r="http://schemas.openxmlformats.org/officeDocument/2006/relationships" id="259" r:id="Rf79a2b7c37de4427"/>
    <p:sldId xmlns:r="http://schemas.openxmlformats.org/officeDocument/2006/relationships" id="260" r:id="Rbebe2b1c99004200"/>
    <p:sldId xmlns:r="http://schemas.openxmlformats.org/officeDocument/2006/relationships" id="261" r:id="Rbdc97a328dce4bf6"/>
    <p:sldId xmlns:r="http://schemas.openxmlformats.org/officeDocument/2006/relationships" id="262" r:id="R46c6565addf2485d"/>
    <p:sldId xmlns:r="http://schemas.openxmlformats.org/officeDocument/2006/relationships" id="263" r:id="Rc899731a960941f4"/>
    <p:sldId xmlns:r="http://schemas.openxmlformats.org/officeDocument/2006/relationships" id="264" r:id="R290e799005074d51"/>
    <p:sldId xmlns:r="http://schemas.openxmlformats.org/officeDocument/2006/relationships" id="265" r:id="R04bfb8414b334e15"/>
    <p:sldId xmlns:r="http://schemas.openxmlformats.org/officeDocument/2006/relationships" id="266" r:id="Rbcfd178208124ef7"/>
    <p:sldId xmlns:r="http://schemas.openxmlformats.org/officeDocument/2006/relationships" id="267" r:id="R0208bf241b9245ab"/>
    <p:sldId xmlns:r="http://schemas.openxmlformats.org/officeDocument/2006/relationships" id="268" r:id="Rd45a8971982949e0"/>
    <p:sldId xmlns:r="http://schemas.openxmlformats.org/officeDocument/2006/relationships" id="269" r:id="Rc0057a4a0d6b4db1"/>
    <p:sldId xmlns:r="http://schemas.openxmlformats.org/officeDocument/2006/relationships" id="270" r:id="R2a4081bbe0c24ec8"/>
    <p:sldId xmlns:r="http://schemas.openxmlformats.org/officeDocument/2006/relationships" id="271" r:id="Rf88ad252b3dc4b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24fd05764447f4" /><Relationship Type="http://schemas.openxmlformats.org/officeDocument/2006/relationships/slideMaster" Target="/ppt/slideMasters/slideMaster1.xml" Id="R56e171aaed334369" /><Relationship Type="http://schemas.openxmlformats.org/officeDocument/2006/relationships/notesMaster" Target="/ppt/notesMasters/notesMaster1.xml" Id="R8750206effb747fa" /><Relationship Type="http://schemas.openxmlformats.org/officeDocument/2006/relationships/presProps" Target="/ppt/presProps.xml" Id="R15aafde5b5b1409b" /><Relationship Type="http://schemas.openxmlformats.org/officeDocument/2006/relationships/tableStyles" Target="/ppt/tableStyles.xml" Id="R9b7f6b1c69564bbc" /><Relationship Type="http://schemas.openxmlformats.org/officeDocument/2006/relationships/slide" Target="/ppt/slides/slide1.xml" Id="Rccccad6bafb74a56" /><Relationship Type="http://schemas.openxmlformats.org/officeDocument/2006/relationships/slide" Target="/ppt/slides/slide2.xml" Id="Rb284e6b8139145d0" /><Relationship Type="http://schemas.openxmlformats.org/officeDocument/2006/relationships/slide" Target="/ppt/slides/slide3.xml" Id="Rdc1dcea2682b463f" /><Relationship Type="http://schemas.openxmlformats.org/officeDocument/2006/relationships/slide" Target="/ppt/slides/slide4.xml" Id="Rf79a2b7c37de4427" /><Relationship Type="http://schemas.openxmlformats.org/officeDocument/2006/relationships/slide" Target="/ppt/slides/slide5.xml" Id="Rbebe2b1c99004200" /><Relationship Type="http://schemas.openxmlformats.org/officeDocument/2006/relationships/slide" Target="/ppt/slides/slide6.xml" Id="Rbdc97a328dce4bf6" /><Relationship Type="http://schemas.openxmlformats.org/officeDocument/2006/relationships/slide" Target="/ppt/slides/slide7.xml" Id="R46c6565addf2485d" /><Relationship Type="http://schemas.openxmlformats.org/officeDocument/2006/relationships/slide" Target="/ppt/slides/slide8.xml" Id="Rc899731a960941f4" /><Relationship Type="http://schemas.openxmlformats.org/officeDocument/2006/relationships/slide" Target="/ppt/slides/slide9.xml" Id="R290e799005074d51" /><Relationship Type="http://schemas.openxmlformats.org/officeDocument/2006/relationships/slide" Target="/ppt/slides/slide10.xml" Id="R04bfb8414b334e15" /><Relationship Type="http://schemas.openxmlformats.org/officeDocument/2006/relationships/slide" Target="/ppt/slides/slide11.xml" Id="Rbcfd178208124ef7" /><Relationship Type="http://schemas.openxmlformats.org/officeDocument/2006/relationships/slide" Target="/ppt/slides/slide12.xml" Id="R0208bf241b9245ab" /><Relationship Type="http://schemas.openxmlformats.org/officeDocument/2006/relationships/slide" Target="/ppt/slides/slide13.xml" Id="Rd45a8971982949e0" /><Relationship Type="http://schemas.openxmlformats.org/officeDocument/2006/relationships/slide" Target="/ppt/slides/slide14.xml" Id="Rc0057a4a0d6b4db1" /><Relationship Type="http://schemas.openxmlformats.org/officeDocument/2006/relationships/slide" Target="/ppt/slides/slide15.xml" Id="R2a4081bbe0c24ec8" /><Relationship Type="http://schemas.openxmlformats.org/officeDocument/2006/relationships/slide" Target="/ppt/slides/slide16.xml" Id="Rf88ad252b3dc4b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3154c4538a4bf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6d6cf23aa943f2" /><Relationship Type="http://schemas.openxmlformats.org/officeDocument/2006/relationships/notesMaster" Target="/ppt/notesMasters/notesMaster1.xml" Id="Rc8560bd63a1443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d9bc3250934223" /><Relationship Type="http://schemas.openxmlformats.org/officeDocument/2006/relationships/notesMaster" Target="/ppt/notesMasters/notesMaster1.xml" Id="R9e633eb303304c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e22cce43a84d25" /><Relationship Type="http://schemas.openxmlformats.org/officeDocument/2006/relationships/notesMaster" Target="/ppt/notesMasters/notesMaster1.xml" Id="R37e4b8c5111144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d5f64005274490" /><Relationship Type="http://schemas.openxmlformats.org/officeDocument/2006/relationships/notesMaster" Target="/ppt/notesMasters/notesMaster1.xml" Id="R83c6a024228741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4edc2ca0464d95" /><Relationship Type="http://schemas.openxmlformats.org/officeDocument/2006/relationships/notesMaster" Target="/ppt/notesMasters/notesMaster1.xml" Id="R15404424213749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d77d93b1c740bf" /><Relationship Type="http://schemas.openxmlformats.org/officeDocument/2006/relationships/notesMaster" Target="/ppt/notesMasters/notesMaster1.xml" Id="Rf7d36493fdb445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4755ad0e9b6466f" /><Relationship Type="http://schemas.openxmlformats.org/officeDocument/2006/relationships/notesMaster" Target="/ppt/notesMasters/notesMaster1.xml" Id="R4a5553b0dfa54b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091ad1d8e8436c" /><Relationship Type="http://schemas.openxmlformats.org/officeDocument/2006/relationships/notesMaster" Target="/ppt/notesMasters/notesMaster1.xml" Id="Re403e086153640d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ad64620f4134569" /><Relationship Type="http://schemas.openxmlformats.org/officeDocument/2006/relationships/notesMaster" Target="/ppt/notesMasters/notesMaster1.xml" Id="R47b8dd7a3a35492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0e8ff4c44814a1f" /><Relationship Type="http://schemas.openxmlformats.org/officeDocument/2006/relationships/notesMaster" Target="/ppt/notesMasters/notesMaster1.xml" Id="R18cf7b1a65ca44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73dd8e27bd74b3d" /><Relationship Type="http://schemas.openxmlformats.org/officeDocument/2006/relationships/notesMaster" Target="/ppt/notesMasters/notesMaster1.xml" Id="R8abe81a390954de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f58206a6de34dd9" /><Relationship Type="http://schemas.openxmlformats.org/officeDocument/2006/relationships/notesMaster" Target="/ppt/notesMasters/notesMaster1.xml" Id="Rd16526d67b12407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b8f0f8dac124206" /><Relationship Type="http://schemas.openxmlformats.org/officeDocument/2006/relationships/notesMaster" Target="/ppt/notesMasters/notesMaster1.xml" Id="Rc3ad4cf183aa4c8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fbfe6d83ee34270" /><Relationship Type="http://schemas.openxmlformats.org/officeDocument/2006/relationships/notesMaster" Target="/ppt/notesMasters/notesMaster1.xml" Id="Raf9565d5bb5d4c6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75f1d38bf894b50" /><Relationship Type="http://schemas.openxmlformats.org/officeDocument/2006/relationships/notesMaster" Target="/ppt/notesMasters/notesMaster1.xml" Id="R7750620905234aa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39d8b8e07b147bb" /><Relationship Type="http://schemas.openxmlformats.org/officeDocument/2006/relationships/notesMaster" Target="/ppt/notesMasters/notesMaster1.xml" Id="Rde8db4cc3b4540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Einstieg ohne Begriffsdefinition. Die Lerngruppe beschreibt zunächst nur, welche Entscheidung auf dem Foto ansteht. Quelle der fachlichen Ausrichtung: Bildungsplan 2016 Baden-Württemberg, WBS Sekundarstufe I, 3.1.1.1 Konsument, insbesondere Standards (1), (2) und (4), gedruckte Seiten 14 bis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Think-Pair-Share. Es gibt noch keine Musterlösung. Die Antworten sammeln: Preis, Nutzen, Dringlichkeit, Qualität, Freunde, Werbung, Nachhaltigkeit. Diese Kriterien später wieder aufgreifen.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Beispiele aus der Lerngruppe sammeln und jeweils als Gut oder Dienstleistung einordnen. Bei Leihe oder Streaming steht die Nutzung im Vordergrund, nicht zwingend Eigentum.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Begriffe mit einem Gegenbeispiel sichern: Ein Wunsch ohne ausreichendes Budget bleibt Bedürfnis, wird aber nicht zu Bedarf. Nachfrage bedeutet noch nicht zwingend, dass der Kauf schon abgeschlossen 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Knappheit heißt nicht, dass etwas fast verschwunden ist. Ökonomisch reicht die verfügbare Menge nicht aus, um alle Bedürfnisse zugleich zu erfüllen. Den Begriff Opportunitätskosten kann man mündlich ergänzen, muss ihn hier aber nicht einführen.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Beide Prinzipien unterscheiden lassen. Danach die Fehlvorstellung auflösen: Qualität, Zeit und Folgekosten können selbst Mittel oder Ziele sein. Ökonomisch bedeutet nicht einfach möglichst billig.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Zuerst abstimmen lassen, dann Begründung einfordern. Lösung: A Maximumprinzip, weil die Mittel 25 Euro feststehen. B Minimumprinzip, weil das konkrete Buch als Ziel feststeht.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Klasse berechnet zunächst selbst den Saldo. Ein Haushaltsplan trennt Einnahmen und Ausgaben und macht Budgetgrenzen sichtbar. Bildungsplanstandard 3.1.1.1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Folie beschreibt ein Analysemodell, keine Pflichtabfolge. Beispiele für spontane und routinierte Käufe ergänzen. Danach fragen: An welcher Stelle wirkt Werbung besonders stark?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Faktoren stammen aus Bildungsplanstandard 3.1.1.1 (4). Die Lernenden ordnen ihre Kriterien aus Folie 2 zu. Informationsgesellschaft ergänzen: Bewertungen, Vergleichsportale, personalisierte Werbung und Influencer können Information liefern oder Interessen verfolgen.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Keine pauschale Werbekritik. Werbung kann informieren, sie verfolgt aber ein Verkaufsinteresse. Die Prüffrage auf konkrete Werbeaussagen anwenden.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Tabelle enthält keine automatische Rangfolge. Lernende dürfen unterschiedlich gewichten, müssen ihre Gewichtung und Informationen begründen. Das bereitet ein sachliches Konsumurteil vor.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Nachhaltiger Konsum und Verzicht sind im Standard 3.1.1.1 (1) ausdrücklich vorgesehen. Nicht moralisieren. Ausgangspunkt bleibt die Frage, welche Möglichkeit das Bedürfnis sinnvoll erfüllt und welche Folgen sie hat.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Klasse erklärt den Zusammenhang mit eigenen Worten. Wichtig: Budget und Einflüsse verändern die Entscheidung, nehmen dem Konsumenten aber nicht grundsätzlich die Verantwortung für die Abwägung.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Partnerarbeit mit dem Arbeitsblatt. Es gibt mehrere vertretbare Entscheidungen. Entscheidend ist die Verwendung passender Begriffe und eine nachvollziehbare Gewichtung der Kriterien.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Exit-Ticket schriftlich oder mündlich. Satz 4 darf individuell sein, soll aber ein konkretes Kriterium oder eine Prüffrage enthalten.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df630a99964d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26712f338f49ec" /><Relationship Type="http://schemas.openxmlformats.org/officeDocument/2006/relationships/slideLayout" Target="/ppt/slideLayouts/slideLayout1.xml" Id="Rcf6cf1c5aa344e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6cf1c5aa344e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53bc3385d646f7" /><Relationship Type="http://schemas.openxmlformats.org/officeDocument/2006/relationships/image" Target="/ppt/media/image.jpeg" Id="R9a91bf176a924785" /><Relationship Type="http://schemas.openxmlformats.org/officeDocument/2006/relationships/notesSlide" Target="/ppt/notesSlides/notesSlide1.xml" Id="R60efb48055b146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b7e51e435b04465" /><Relationship Type="http://schemas.openxmlformats.org/officeDocument/2006/relationships/notesSlide" Target="/ppt/notesSlides/notesSlide2.xml" Id="Rc24d61c7be014b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f91ca3348c046df" /><Relationship Type="http://schemas.openxmlformats.org/officeDocument/2006/relationships/notesSlide" Target="/ppt/notesSlides/notesSlide3.xml" Id="R8077991aa26446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21853a10bb34eb6" /><Relationship Type="http://schemas.openxmlformats.org/officeDocument/2006/relationships/notesSlide" Target="/ppt/notesSlides/notesSlide4.xml" Id="R017f268b6530490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ecbb2f2082840df" /><Relationship Type="http://schemas.openxmlformats.org/officeDocument/2006/relationships/notesSlide" Target="/ppt/notesSlides/notesSlide5.xml" Id="R1baef9836bb344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96cce2054f14c58" /><Relationship Type="http://schemas.openxmlformats.org/officeDocument/2006/relationships/notesSlide" Target="/ppt/notesSlides/notesSlide6.xml" Id="Ra563fccd1c1a4c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18f1389d5041ac" /><Relationship Type="http://schemas.openxmlformats.org/officeDocument/2006/relationships/notesSlide" Target="/ppt/notesSlides/notesSlide7.xml" Id="Rcb56c8a32e5147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b8ca4f8a41d470c" /><Relationship Type="http://schemas.openxmlformats.org/officeDocument/2006/relationships/notesSlide" Target="/ppt/notesSlides/notesSlide8.xml" Id="R0e64c2db711248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0083c638ad44c51" /><Relationship Type="http://schemas.openxmlformats.org/officeDocument/2006/relationships/notesSlide" Target="/ppt/notesSlides/notesSlide9.xml" Id="R9ecd480780d346b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2ba80aa501a4b53" /><Relationship Type="http://schemas.openxmlformats.org/officeDocument/2006/relationships/image" Target="/ppt/media/image2.jpeg" Id="R4bf1de5be8d548c9" /><Relationship Type="http://schemas.openxmlformats.org/officeDocument/2006/relationships/notesSlide" Target="/ppt/notesSlides/notesSlide10.xml" Id="R24ef2089afaf45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57a9a3c36df45ab" /><Relationship Type="http://schemas.openxmlformats.org/officeDocument/2006/relationships/notesSlide" Target="/ppt/notesSlides/notesSlide11.xml" Id="R97a795b9e47f4e5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6d5c6d5a5f9487e" /><Relationship Type="http://schemas.openxmlformats.org/officeDocument/2006/relationships/notesSlide" Target="/ppt/notesSlides/notesSlide12.xml" Id="Rbf5b706fb35f4bf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60bb1132edd48ce" /><Relationship Type="http://schemas.openxmlformats.org/officeDocument/2006/relationships/image" Target="/ppt/media/image3.jpeg" Id="R82901d8a62324764" /><Relationship Type="http://schemas.openxmlformats.org/officeDocument/2006/relationships/notesSlide" Target="/ppt/notesSlides/notesSlide13.xml" Id="Rc9f997da02044bd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06cf84b32ef4b8a" /><Relationship Type="http://schemas.openxmlformats.org/officeDocument/2006/relationships/notesSlide" Target="/ppt/notesSlides/notesSlide14.xml" Id="Rcafbd26cbff64f0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1a245bd967f4c16" /><Relationship Type="http://schemas.openxmlformats.org/officeDocument/2006/relationships/notesSlide" Target="/ppt/notesSlides/notesSlide15.xml" Id="R89deaf88c7e0422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853642ea1094c5f" /><Relationship Type="http://schemas.openxmlformats.org/officeDocument/2006/relationships/notesSlide" Target="/ppt/notesSlides/notesSlide16.xml" Id="Rd032973251374aff" /></Relationships>
</file>

<file path=ppt/slides/slide1.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a91bf176a924785"/>
          <a:srcRect xmlns:a="http://schemas.openxmlformats.org/drawingml/2006/main" l="23814" t="0" r="23814" b="0"/>
          <a:stretch xmlns:a="http://schemas.openxmlformats.org/drawingml/2006/main">
            <a:fillRect l="0" t="0" r="0" b="0"/>
          </a:stretch>
        </p:blipFill>
        <p:spPr>
          <a:xfrm xmlns:a="http://schemas.openxmlformats.org/drawingml/2006/main">
            <a:off x="5810250" y="0"/>
            <a:ext cx="6381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DD9FE70-0B4A-4E1D-AE1F-11D00E5E2496}"/>
              </a:ext>
            </a:extLst>
          </p:cNvPr>
          <p:cNvSpPr>
            <a:spLocks xmlns:a="http://schemas.openxmlformats.org/drawingml/2006/main" noGrp="1"/>
          </p:cNvSpPr>
          <p:nvPr/>
        </p:nvSpPr>
        <p:spPr>
          <a:xfrm xmlns:a="http://schemas.openxmlformats.org/drawingml/2006/main">
            <a:off x="685800" y="533400"/>
            <a:ext cx="428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75" b="1">
                <a:solidFill>
                  <a:srgbClr val="28C69F"/>
                </a:solidFill>
                <a:latin typeface="DejaVu Sans"/>
                <a:ea typeface="DejaVu Sans"/>
                <a:cs typeface="DejaVu Sans"/>
              </a:defRPr>
            </a:pPr>
            <a:r>
              <a:rPr sz="975" b="1">
                <a:solidFill>
                  <a:srgbClr val="28C69F"/>
                </a:solidFill>
                <a:latin typeface="DejaVu Sans"/>
                <a:ea typeface="DejaVu Sans"/>
                <a:cs typeface="DejaVu Sans"/>
              </a:rPr>
              <a:t>WIRTSCHAFT · BERUF · KLASSE 7</a:t>
            </a:r>
          </a:p>
        </p:txBody>
      </p:sp>
      <p:sp>
        <p:nvSpPr>
          <p:cNvPr id="3" name="">
            <a:extLst xmlns:a="http://schemas.openxmlformats.org/drawingml/2006/main">
              <a:ext uri="{FF2B5EF4-FFF2-40B4-BE49-F238E27FC236}">
                <a16:creationId xmlns:a16="http://schemas.microsoft.com/office/drawing/2014/main" id="{192647ED-32DF-4CB1-BE31-3BEFA763FD87}"/>
              </a:ext>
            </a:extLst>
          </p:cNvPr>
          <p:cNvSpPr>
            <a:spLocks xmlns:a="http://schemas.openxmlformats.org/drawingml/2006/main" noGrp="1"/>
          </p:cNvSpPr>
          <p:nvPr/>
        </p:nvSpPr>
        <p:spPr>
          <a:xfrm xmlns:a="http://schemas.openxmlformats.org/drawingml/2006/main">
            <a:off x="685800" y="1352550"/>
            <a:ext cx="47625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4350" b="1">
                <a:solidFill>
                  <a:srgbClr val="FFFFFF"/>
                </a:solidFill>
                <a:latin typeface="DejaVu Sans"/>
                <a:ea typeface="DejaVu Sans"/>
                <a:cs typeface="DejaVu Sans"/>
              </a:defRPr>
            </a:pPr>
            <a:r>
              <a:rPr sz="4350" b="1">
                <a:solidFill>
                  <a:srgbClr val="FFFFFF"/>
                </a:solidFill>
                <a:latin typeface="DejaVu Sans"/>
                <a:ea typeface="DejaVu Sans"/>
                <a:cs typeface="DejaVu Sans"/>
              </a:rPr>
              <a:t>Der</a:t>
            </a:r>
          </a:p>
          <a:p xmlns:a="http://schemas.openxmlformats.org/drawingml/2006/main">
            <a:pPr algn="l">
              <a:lnSpc>
                <a:spcPct val="96000"/>
              </a:lnSpc>
              <a:buNone/>
              <a:defRPr sz="4350" b="1">
                <a:solidFill>
                  <a:srgbClr val="FFFFFF"/>
                </a:solidFill>
                <a:latin typeface="DejaVu Sans"/>
                <a:ea typeface="DejaVu Sans"/>
                <a:cs typeface="DejaVu Sans"/>
              </a:defRPr>
            </a:pPr>
            <a:r>
              <a:rPr sz="4350" b="1">
                <a:solidFill>
                  <a:srgbClr val="FFFFFF"/>
                </a:solidFill>
                <a:latin typeface="DejaVu Sans"/>
                <a:ea typeface="DejaVu Sans"/>
                <a:cs typeface="DejaVu Sans"/>
              </a:rPr>
              <a:t>Konsument</a:t>
            </a:r>
          </a:p>
        </p:txBody>
      </p:sp>
      <p:sp>
        <p:nvSpPr>
          <p:cNvPr id="4" name="">
            <a:extLst xmlns:a="http://schemas.openxmlformats.org/drawingml/2006/main">
              <a:ext uri="{FF2B5EF4-FFF2-40B4-BE49-F238E27FC236}">
                <a16:creationId xmlns:a16="http://schemas.microsoft.com/office/drawing/2014/main" id="{8E88125F-305A-4898-870A-2E5B8B8EB1A4}"/>
              </a:ext>
            </a:extLst>
          </p:cNvPr>
          <p:cNvSpPr>
            <a:spLocks xmlns:a="http://schemas.openxmlformats.org/drawingml/2006/main" noGrp="1"/>
          </p:cNvSpPr>
          <p:nvPr/>
        </p:nvSpPr>
        <p:spPr>
          <a:xfrm xmlns:a="http://schemas.openxmlformats.org/drawingml/2006/main">
            <a:off x="685800" y="3276600"/>
            <a:ext cx="457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D8E0E9"/>
                </a:solidFill>
                <a:latin typeface="DejaVu Sans"/>
                <a:ea typeface="DejaVu Sans"/>
                <a:cs typeface="DejaVu Sans"/>
              </a:defRPr>
            </a:pPr>
            <a:r>
              <a:rPr sz="1875" b="0">
                <a:solidFill>
                  <a:srgbClr val="D8E0E9"/>
                </a:solidFill>
                <a:latin typeface="DejaVu Sans"/>
                <a:ea typeface="DejaVu Sans"/>
                <a:cs typeface="DejaVu Sans"/>
              </a:rPr>
              <a:t>Bedürfnisse, Knappheit und Kaufentscheidungen</a:t>
            </a:r>
          </a:p>
        </p:txBody>
      </p:sp>
      <p:sp>
        <p:nvSpPr>
          <p:cNvPr id="5" name="">
            <a:extLst xmlns:a="http://schemas.openxmlformats.org/drawingml/2006/main">
              <a:ext uri="{FF2B5EF4-FFF2-40B4-BE49-F238E27FC236}">
                <a16:creationId xmlns:a16="http://schemas.microsoft.com/office/drawing/2014/main" id="{04CDFBA9-74D0-4C2C-8413-D5BB71C562BE}"/>
              </a:ext>
            </a:extLst>
          </p:cNvPr>
          <p:cNvSpPr>
            <a:spLocks xmlns:a="http://schemas.openxmlformats.org/drawingml/2006/main" noGrp="1"/>
          </p:cNvSpPr>
          <p:nvPr/>
        </p:nvSpPr>
        <p:spPr>
          <a:xfrm xmlns:a="http://schemas.openxmlformats.org/drawingml/2006/main">
            <a:off x="685800" y="56578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50" b="1">
                <a:solidFill>
                  <a:srgbClr val="28C69F"/>
                </a:solidFill>
                <a:latin typeface="DejaVu Sans"/>
                <a:ea typeface="DejaVu Sans"/>
                <a:cs typeface="DejaVu Sans"/>
              </a:defRPr>
            </a:pPr>
            <a:r>
              <a:rPr sz="1050" b="1">
                <a:solidFill>
                  <a:srgbClr val="28C69F"/>
                </a:solidFill>
                <a:latin typeface="DejaVu Sans"/>
                <a:ea typeface="DejaVu Sans"/>
                <a:cs typeface="DejaVu Sans"/>
              </a:rPr>
              <a:t>Grundlagenmodul</a:t>
            </a:r>
          </a:p>
        </p:txBody>
      </p:sp>
      <p:sp>
        <p:nvSpPr>
          <p:cNvPr id="6" name="">
            <a:extLst xmlns:a="http://schemas.openxmlformats.org/drawingml/2006/main">
              <a:ext uri="{FF2B5EF4-FFF2-40B4-BE49-F238E27FC236}">
                <a16:creationId xmlns:a16="http://schemas.microsoft.com/office/drawing/2014/main" id="{7AD114B3-971D-4D14-9E27-CE0BB0381AF1}"/>
              </a:ext>
            </a:extLst>
          </p:cNvPr>
          <p:cNvSpPr>
            <a:spLocks xmlns:a="http://schemas.openxmlformats.org/drawingml/2006/main" noGrp="1"/>
          </p:cNvSpPr>
          <p:nvPr/>
        </p:nvSpPr>
        <p:spPr>
          <a:xfrm xmlns:a="http://schemas.openxmlformats.org/drawingml/2006/main">
            <a:off x="666750" y="6553200"/>
            <a:ext cx="3429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675" b="0">
                <a:solidFill>
                  <a:srgbClr val="91A0B2"/>
                </a:solidFill>
                <a:latin typeface="DejaVu Sans"/>
                <a:ea typeface="DejaVu Sans"/>
                <a:cs typeface="DejaVu Sans"/>
              </a:defRPr>
            </a:pPr>
            <a:r>
              <a:rPr sz="675" b="0">
                <a:solidFill>
                  <a:srgbClr val="91A0B2"/>
                </a:solidFill>
                <a:latin typeface="DejaVu Sans"/>
                <a:ea typeface="DejaVu Sans"/>
                <a:cs typeface="DejaVu Sans"/>
              </a:rPr>
              <a:t>Wirtschaft · Beruf · Klasse 7</a:t>
            </a:r>
          </a:p>
        </p:txBody>
      </p:sp>
      <p:sp>
        <p:nvSpPr>
          <p:cNvPr id="7" name="">
            <a:extLst xmlns:a="http://schemas.openxmlformats.org/drawingml/2006/main">
              <a:ext uri="{FF2B5EF4-FFF2-40B4-BE49-F238E27FC236}">
                <a16:creationId xmlns:a16="http://schemas.microsoft.com/office/drawing/2014/main" id="{1526E2C8-FD58-4B71-BA44-6B66D1923B51}"/>
              </a:ext>
            </a:extLst>
          </p:cNvPr>
          <p:cNvSpPr>
            <a:spLocks xmlns:a="http://schemas.openxmlformats.org/drawingml/2006/main" noGrp="1"/>
          </p:cNvSpPr>
          <p:nvPr/>
        </p:nvSpPr>
        <p:spPr>
          <a:xfrm xmlns:a="http://schemas.openxmlformats.org/drawingml/2006/main">
            <a:off x="11239500" y="655320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675" b="0">
                <a:solidFill>
                  <a:srgbClr val="91A0B2"/>
                </a:solidFill>
                <a:latin typeface="DejaVu Sans"/>
                <a:ea typeface="DejaVu Sans"/>
                <a:cs typeface="DejaVu Sans"/>
              </a:defRPr>
            </a:pPr>
            <a:r>
              <a:rPr sz="675" b="0">
                <a:solidFill>
                  <a:srgbClr val="91A0B2"/>
                </a:solidFill>
                <a:latin typeface="DejaVu Sans"/>
                <a:ea typeface="DejaVu Sans"/>
                <a:cs typeface="DejaVu Sans"/>
              </a:rPr>
              <a:t>1</a:t>
            </a:r>
          </a:p>
        </p:txBody>
      </p:sp>
    </p:spTree>
    <p:extLst>
      <p:ext uri="{BB962C8B-B14F-4D97-AF65-F5344CB8AC3E}">
        <p14:creationId xmlns:p14="http://schemas.microsoft.com/office/powerpoint/2010/main" val="440148927"/>
      </p:ext>
    </p:extLst>
  </p:cSld>
</p:sld>
</file>

<file path=ppt/slides/slide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B41FF1B-E941-44B2-8EC3-E08EF2C75AF7}"/>
              </a:ext>
            </a:extLst>
          </p:cNvPr>
          <p:cNvSpPr>
            <a:spLocks xmlns:a="http://schemas.openxmlformats.org/drawingml/2006/main" noGrp="1"/>
          </p:cNvSpPr>
          <p:nvPr/>
        </p:nvSpPr>
        <p:spPr>
          <a:xfrm xmlns:a="http://schemas.openxmlformats.org/drawingml/2006/main">
            <a:off x="666750" y="361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75" b="1">
                <a:solidFill>
                  <a:srgbClr val="28C69F"/>
                </a:solidFill>
                <a:latin typeface="DejaVu Sans"/>
                <a:ea typeface="DejaVu Sans"/>
                <a:cs typeface="DejaVu Sans"/>
              </a:defRPr>
            </a:pPr>
            <a:r>
              <a:rPr sz="975" b="1">
                <a:solidFill>
                  <a:srgbClr val="28C69F"/>
                </a:solidFill>
                <a:latin typeface="DejaVu Sans"/>
                <a:ea typeface="DejaVu Sans"/>
                <a:cs typeface="DejaVu Sans"/>
              </a:rPr>
              <a:t>EINSTIEG</a:t>
            </a:r>
          </a:p>
        </p:txBody>
      </p:sp>
      <p:sp>
        <p:nvSpPr>
          <p:cNvPr id="2" name="">
            <a:extLst xmlns:a="http://schemas.openxmlformats.org/drawingml/2006/main">
              <a:ext uri="{FF2B5EF4-FFF2-40B4-BE49-F238E27FC236}">
                <a16:creationId xmlns:a16="http://schemas.microsoft.com/office/drawing/2014/main" id="{8D3306DC-F7AD-44EA-B5BF-D6A64C89F87D}"/>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000" b="1">
                <a:solidFill>
                  <a:srgbClr val="0D1726"/>
                </a:solidFill>
                <a:latin typeface="DejaVu Sans"/>
                <a:ea typeface="DejaVu Sans"/>
                <a:cs typeface="DejaVu Sans"/>
              </a:defRPr>
            </a:pPr>
            <a:r>
              <a:rPr sz="3000" b="1">
                <a:solidFill>
                  <a:srgbClr val="0D1726"/>
                </a:solidFill>
                <a:latin typeface="DejaVu Sans"/>
                <a:ea typeface="DejaVu Sans"/>
                <a:cs typeface="DejaVu Sans"/>
              </a:rPr>
              <a:t>30 Euro. Drei Wünsche.</a:t>
            </a:r>
          </a:p>
        </p:txBody>
      </p:sp>
      <p:sp>
        <p:nvSpPr>
          <p:cNvPr id="3" name="">
            <a:extLst xmlns:a="http://schemas.openxmlformats.org/drawingml/2006/main">
              <a:ext uri="{FF2B5EF4-FFF2-40B4-BE49-F238E27FC236}">
                <a16:creationId xmlns:a16="http://schemas.microsoft.com/office/drawing/2014/main" id="{BCF30B82-95CF-427B-A72E-7E7DA481BC63}"/>
              </a:ext>
            </a:extLst>
          </p:cNvPr>
          <p:cNvSpPr>
            <a:spLocks xmlns:a="http://schemas.openxmlformats.org/drawingml/2006/main" noGrp="1"/>
          </p:cNvSpPr>
          <p:nvPr/>
        </p:nvSpPr>
        <p:spPr>
          <a:xfrm xmlns:a="http://schemas.openxmlformats.org/drawingml/2006/main">
            <a:off x="685800" y="139065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5D6879"/>
                </a:solidFill>
                <a:latin typeface="DejaVu Sans"/>
                <a:ea typeface="DejaVu Sans"/>
                <a:cs typeface="DejaVu Sans"/>
              </a:defRPr>
            </a:pPr>
            <a:r>
              <a:rPr sz="1800" b="0">
                <a:solidFill>
                  <a:srgbClr val="5D6879"/>
                </a:solidFill>
                <a:latin typeface="DejaVu Sans"/>
                <a:ea typeface="DejaVu Sans"/>
                <a:cs typeface="DejaVu Sans"/>
              </a:rPr>
              <a:t>Leon kann heute nur eine Möglichkeit wählen.</a:t>
            </a:r>
          </a:p>
        </p:txBody>
      </p:sp>
      <p:sp>
        <p:nvSpPr>
          <p:cNvPr id="4" name="">
            <a:extLst xmlns:a="http://schemas.openxmlformats.org/drawingml/2006/main">
              <a:ext uri="{FF2B5EF4-FFF2-40B4-BE49-F238E27FC236}">
                <a16:creationId xmlns:a16="http://schemas.microsoft.com/office/drawing/2014/main" id="{D54992B4-076C-4459-B6C5-F16321652C5C}"/>
              </a:ext>
            </a:extLst>
          </p:cNvPr>
          <p:cNvSpPr>
            <a:spLocks xmlns:a="http://schemas.openxmlformats.org/drawingml/2006/main" noGrp="1"/>
          </p:cNvSpPr>
          <p:nvPr/>
        </p:nvSpPr>
        <p:spPr>
          <a:xfrm xmlns:a="http://schemas.openxmlformats.org/drawingml/2006/main">
            <a:off x="762000" y="2266950"/>
            <a:ext cx="304800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DE3EA"/>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2250" b="1">
                <a:solidFill>
                  <a:srgbClr val="0D1726"/>
                </a:solidFill>
                <a:latin typeface="DejaVu Sans"/>
                <a:ea typeface="DejaVu Sans"/>
                <a:cs typeface="DejaVu Sans"/>
              </a:defRPr>
            </a:pPr>
            <a:r>
              <a:rPr sz="2250" b="1">
                <a:solidFill>
                  <a:srgbClr val="0D1726"/>
                </a:solidFill>
                <a:latin typeface="DejaVu Sans"/>
                <a:ea typeface="DejaVu Sans"/>
                <a:cs typeface="DejaVu Sans"/>
              </a:rPr>
              <a:t>Kopfhörer</a:t>
            </a:r>
          </a:p>
          <a:p xmlns:a="http://schemas.openxmlformats.org/drawingml/2006/main">
            <a:pPr algn="ctr">
              <a:lnSpc>
                <a:spcPct val="108000"/>
              </a:lnSpc>
              <a:buNone/>
              <a:defRPr sz="2250" b="1">
                <a:solidFill>
                  <a:srgbClr val="0D1726"/>
                </a:solidFill>
                <a:latin typeface="DejaVu Sans"/>
                <a:ea typeface="DejaVu Sans"/>
                <a:cs typeface="DejaVu Sans"/>
              </a:defRPr>
            </a:pPr>
            <a:r>
              <a:rPr sz="2250" b="1">
                <a:solidFill>
                  <a:srgbClr val="0D1726"/>
                </a:solidFill>
                <a:latin typeface="DejaVu Sans"/>
                <a:ea typeface="DejaVu Sans"/>
                <a:cs typeface="DejaVu Sans"/>
              </a:rPr>
              <a:t>29 €</a:t>
            </a:r>
          </a:p>
        </p:txBody>
      </p:sp>
      <p:sp>
        <p:nvSpPr>
          <p:cNvPr id="5" name="">
            <a:extLst xmlns:a="http://schemas.openxmlformats.org/drawingml/2006/main">
              <a:ext uri="{FF2B5EF4-FFF2-40B4-BE49-F238E27FC236}">
                <a16:creationId xmlns:a16="http://schemas.microsoft.com/office/drawing/2014/main" id="{8AD34AD4-DE0F-4BFC-BA6F-DD3B03FCACDC}"/>
              </a:ext>
            </a:extLst>
          </p:cNvPr>
          <p:cNvSpPr>
            <a:spLocks xmlns:a="http://schemas.openxmlformats.org/drawingml/2006/main" noGrp="1"/>
          </p:cNvSpPr>
          <p:nvPr/>
        </p:nvSpPr>
        <p:spPr>
          <a:xfrm xmlns:a="http://schemas.openxmlformats.org/drawingml/2006/main">
            <a:off x="4572000" y="2266950"/>
            <a:ext cx="304800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DE3EA"/>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2250" b="1">
                <a:solidFill>
                  <a:srgbClr val="0D1726"/>
                </a:solidFill>
                <a:latin typeface="DejaVu Sans"/>
                <a:ea typeface="DejaVu Sans"/>
                <a:cs typeface="DejaVu Sans"/>
              </a:defRPr>
            </a:pPr>
            <a:r>
              <a:rPr sz="2250" b="1">
                <a:solidFill>
                  <a:srgbClr val="0D1726"/>
                </a:solidFill>
                <a:latin typeface="DejaVu Sans"/>
                <a:ea typeface="DejaVu Sans"/>
                <a:cs typeface="DejaVu Sans"/>
              </a:rPr>
              <a:t>Kino + Snack</a:t>
            </a:r>
          </a:p>
          <a:p xmlns:a="http://schemas.openxmlformats.org/drawingml/2006/main">
            <a:pPr algn="ctr">
              <a:lnSpc>
                <a:spcPct val="108000"/>
              </a:lnSpc>
              <a:buNone/>
              <a:defRPr sz="2250" b="1">
                <a:solidFill>
                  <a:srgbClr val="0D1726"/>
                </a:solidFill>
                <a:latin typeface="DejaVu Sans"/>
                <a:ea typeface="DejaVu Sans"/>
                <a:cs typeface="DejaVu Sans"/>
              </a:defRPr>
            </a:pPr>
            <a:r>
              <a:rPr sz="2250" b="1">
                <a:solidFill>
                  <a:srgbClr val="0D1726"/>
                </a:solidFill>
                <a:latin typeface="DejaVu Sans"/>
                <a:ea typeface="DejaVu Sans"/>
                <a:cs typeface="DejaVu Sans"/>
              </a:rPr>
              <a:t>17 €</a:t>
            </a:r>
          </a:p>
        </p:txBody>
      </p:sp>
      <p:sp>
        <p:nvSpPr>
          <p:cNvPr id="6" name="">
            <a:extLst xmlns:a="http://schemas.openxmlformats.org/drawingml/2006/main">
              <a:ext uri="{FF2B5EF4-FFF2-40B4-BE49-F238E27FC236}">
                <a16:creationId xmlns:a16="http://schemas.microsoft.com/office/drawing/2014/main" id="{F73A36FA-F23B-45DF-8B4E-D1E5D96ADB9E}"/>
              </a:ext>
            </a:extLst>
          </p:cNvPr>
          <p:cNvSpPr>
            <a:spLocks xmlns:a="http://schemas.openxmlformats.org/drawingml/2006/main" noGrp="1"/>
          </p:cNvSpPr>
          <p:nvPr/>
        </p:nvSpPr>
        <p:spPr>
          <a:xfrm xmlns:a="http://schemas.openxmlformats.org/drawingml/2006/main">
            <a:off x="8382000" y="2266950"/>
            <a:ext cx="304800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DE3EA"/>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2250" b="1">
                <a:solidFill>
                  <a:srgbClr val="0D1726"/>
                </a:solidFill>
                <a:latin typeface="DejaVu Sans"/>
                <a:ea typeface="DejaVu Sans"/>
                <a:cs typeface="DejaVu Sans"/>
              </a:defRPr>
            </a:pPr>
            <a:r>
              <a:rPr sz="2250" b="1">
                <a:solidFill>
                  <a:srgbClr val="0D1726"/>
                </a:solidFill>
                <a:latin typeface="DejaVu Sans"/>
                <a:ea typeface="DejaVu Sans"/>
                <a:cs typeface="DejaVu Sans"/>
              </a:rPr>
              <a:t>Hoodie</a:t>
            </a:r>
          </a:p>
          <a:p xmlns:a="http://schemas.openxmlformats.org/drawingml/2006/main">
            <a:pPr algn="ctr">
              <a:lnSpc>
                <a:spcPct val="108000"/>
              </a:lnSpc>
              <a:buNone/>
              <a:defRPr sz="2250" b="1">
                <a:solidFill>
                  <a:srgbClr val="0D1726"/>
                </a:solidFill>
                <a:latin typeface="DejaVu Sans"/>
                <a:ea typeface="DejaVu Sans"/>
                <a:cs typeface="DejaVu Sans"/>
              </a:defRPr>
            </a:pPr>
            <a:r>
              <a:rPr sz="2250" b="1">
                <a:solidFill>
                  <a:srgbClr val="0D1726"/>
                </a:solidFill>
                <a:latin typeface="DejaVu Sans"/>
                <a:ea typeface="DejaVu Sans"/>
                <a:cs typeface="DejaVu Sans"/>
              </a:rPr>
              <a:t>25 €</a:t>
            </a:r>
          </a:p>
        </p:txBody>
      </p:sp>
      <p:sp>
        <p:nvSpPr>
          <p:cNvPr id="7" name="">
            <a:extLst xmlns:a="http://schemas.openxmlformats.org/drawingml/2006/main">
              <a:ext uri="{FF2B5EF4-FFF2-40B4-BE49-F238E27FC236}">
                <a16:creationId xmlns:a16="http://schemas.microsoft.com/office/drawing/2014/main" id="{053EAF87-C534-4CD2-AEFD-4C320E0D66DD}"/>
              </a:ext>
            </a:extLst>
          </p:cNvPr>
          <p:cNvSpPr>
            <a:spLocks xmlns:a="http://schemas.openxmlformats.org/drawingml/2006/main" noGrp="1"/>
          </p:cNvSpPr>
          <p:nvPr/>
        </p:nvSpPr>
        <p:spPr>
          <a:xfrm xmlns:a="http://schemas.openxmlformats.org/drawingml/2006/main">
            <a:off x="1695450" y="4876800"/>
            <a:ext cx="8801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00" b="1">
                <a:solidFill>
                  <a:srgbClr val="17324A"/>
                </a:solidFill>
                <a:latin typeface="DejaVu Sans"/>
                <a:ea typeface="DejaVu Sans"/>
                <a:cs typeface="DejaVu Sans"/>
              </a:defRPr>
            </a:pPr>
            <a:r>
              <a:rPr sz="2100" b="1">
                <a:solidFill>
                  <a:srgbClr val="17324A"/>
                </a:solidFill>
                <a:latin typeface="DejaVu Sans"/>
                <a:ea typeface="DejaVu Sans"/>
                <a:cs typeface="DejaVu Sans"/>
              </a:rPr>
              <a:t>Welche Wahl ist vernünftig? Begründe mit zwei Kriterien.</a:t>
            </a:r>
          </a:p>
        </p:txBody>
      </p:sp>
      <p:sp>
        <p:nvSpPr>
          <p:cNvPr id="8" name="">
            <a:extLst xmlns:a="http://schemas.openxmlformats.org/drawingml/2006/main">
              <a:ext uri="{FF2B5EF4-FFF2-40B4-BE49-F238E27FC236}">
                <a16:creationId xmlns:a16="http://schemas.microsoft.com/office/drawing/2014/main" id="{49513337-557C-467D-8A6D-D065748ABBA2}"/>
              </a:ext>
            </a:extLst>
          </p:cNvPr>
          <p:cNvSpPr>
            <a:spLocks xmlns:a="http://schemas.openxmlformats.org/drawingml/2006/main" noGrp="1"/>
          </p:cNvSpPr>
          <p:nvPr/>
        </p:nvSpPr>
        <p:spPr>
          <a:xfrm xmlns:a="http://schemas.openxmlformats.org/drawingml/2006/main">
            <a:off x="666750" y="6553200"/>
            <a:ext cx="3429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Wirtschaft · Beruf · Klasse 7</a:t>
            </a:r>
          </a:p>
        </p:txBody>
      </p:sp>
      <p:sp>
        <p:nvSpPr>
          <p:cNvPr id="9" name="">
            <a:extLst xmlns:a="http://schemas.openxmlformats.org/drawingml/2006/main">
              <a:ext uri="{FF2B5EF4-FFF2-40B4-BE49-F238E27FC236}">
                <a16:creationId xmlns:a16="http://schemas.microsoft.com/office/drawing/2014/main" id="{9490301D-D4C1-4543-9445-6AFCA35481FB}"/>
              </a:ext>
            </a:extLst>
          </p:cNvPr>
          <p:cNvSpPr>
            <a:spLocks xmlns:a="http://schemas.openxmlformats.org/drawingml/2006/main" noGrp="1"/>
          </p:cNvSpPr>
          <p:nvPr/>
        </p:nvSpPr>
        <p:spPr>
          <a:xfrm xmlns:a="http://schemas.openxmlformats.org/drawingml/2006/main">
            <a:off x="11239500" y="655320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2</a:t>
            </a:r>
          </a:p>
        </p:txBody>
      </p:sp>
    </p:spTree>
    <p:extLst>
      <p:ext uri="{BB962C8B-B14F-4D97-AF65-F5344CB8AC3E}">
        <p14:creationId xmlns:p14="http://schemas.microsoft.com/office/powerpoint/2010/main" val="1925817445"/>
      </p:ext>
    </p:extLst>
  </p:cSld>
</p:sld>
</file>

<file path=ppt/slides/slide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DCF66E6-EA54-40AA-B0C8-5956D3DA7CBE}"/>
              </a:ext>
            </a:extLst>
          </p:cNvPr>
          <p:cNvSpPr>
            <a:spLocks xmlns:a="http://schemas.openxmlformats.org/drawingml/2006/main" noGrp="1"/>
          </p:cNvSpPr>
          <p:nvPr/>
        </p:nvSpPr>
        <p:spPr>
          <a:xfrm xmlns:a="http://schemas.openxmlformats.org/drawingml/2006/main">
            <a:off x="666750" y="361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75" b="1">
                <a:solidFill>
                  <a:srgbClr val="28C69F"/>
                </a:solidFill>
                <a:latin typeface="DejaVu Sans"/>
                <a:ea typeface="DejaVu Sans"/>
                <a:cs typeface="DejaVu Sans"/>
              </a:defRPr>
            </a:pPr>
            <a:r>
              <a:rPr sz="975" b="1">
                <a:solidFill>
                  <a:srgbClr val="28C69F"/>
                </a:solidFill>
                <a:latin typeface="DejaVu Sans"/>
                <a:ea typeface="DejaVu Sans"/>
                <a:cs typeface="DejaVu Sans"/>
              </a:rPr>
              <a:t>GRUNDBEGRIFF</a:t>
            </a:r>
          </a:p>
        </p:txBody>
      </p:sp>
      <p:sp>
        <p:nvSpPr>
          <p:cNvPr id="2" name="">
            <a:extLst xmlns:a="http://schemas.openxmlformats.org/drawingml/2006/main">
              <a:ext uri="{FF2B5EF4-FFF2-40B4-BE49-F238E27FC236}">
                <a16:creationId xmlns:a16="http://schemas.microsoft.com/office/drawing/2014/main" id="{0D5502F7-FB38-4363-A281-2A0105A97A3E}"/>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000" b="1">
                <a:solidFill>
                  <a:srgbClr val="0D1726"/>
                </a:solidFill>
                <a:latin typeface="DejaVu Sans"/>
                <a:ea typeface="DejaVu Sans"/>
                <a:cs typeface="DejaVu Sans"/>
              </a:defRPr>
            </a:pPr>
            <a:r>
              <a:rPr sz="3000" b="1">
                <a:solidFill>
                  <a:srgbClr val="0D1726"/>
                </a:solidFill>
                <a:latin typeface="DejaVu Sans"/>
                <a:ea typeface="DejaVu Sans"/>
                <a:cs typeface="DejaVu Sans"/>
              </a:rPr>
              <a:t>Wer ist ein Konsument?</a:t>
            </a:r>
          </a:p>
        </p:txBody>
      </p:sp>
      <p:sp>
        <p:nvSpPr>
          <p:cNvPr id="3" name="">
            <a:extLst xmlns:a="http://schemas.openxmlformats.org/drawingml/2006/main">
              <a:ext uri="{FF2B5EF4-FFF2-40B4-BE49-F238E27FC236}">
                <a16:creationId xmlns:a16="http://schemas.microsoft.com/office/drawing/2014/main" id="{6B12C6C5-5B72-40E8-AD28-B7FE4FB1E681}"/>
              </a:ext>
            </a:extLst>
          </p:cNvPr>
          <p:cNvSpPr>
            <a:spLocks xmlns:a="http://schemas.openxmlformats.org/drawingml/2006/main" noGrp="1"/>
          </p:cNvSpPr>
          <p:nvPr/>
        </p:nvSpPr>
        <p:spPr>
          <a:xfrm xmlns:a="http://schemas.openxmlformats.org/drawingml/2006/main">
            <a:off x="1000125" y="1714500"/>
            <a:ext cx="10191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2000"/>
              </a:lnSpc>
              <a:buNone/>
              <a:defRPr sz="2400" b="1">
                <a:solidFill>
                  <a:srgbClr val="17324A"/>
                </a:solidFill>
                <a:latin typeface="DejaVu Sans"/>
                <a:ea typeface="DejaVu Sans"/>
                <a:cs typeface="DejaVu Sans"/>
              </a:defRPr>
            </a:pPr>
            <a:r>
              <a:rPr sz="2400" b="1">
                <a:solidFill>
                  <a:srgbClr val="17324A"/>
                </a:solidFill>
                <a:latin typeface="DejaVu Sans"/>
                <a:ea typeface="DejaVu Sans"/>
                <a:cs typeface="DejaVu Sans"/>
              </a:rPr>
              <a:t>Konsumenten kaufen oder nutzen Güter und Dienstleistungen, um Bedürfnisse zu befriedigen.</a:t>
            </a:r>
          </a:p>
        </p:txBody>
      </p:sp>
      <p:sp>
        <p:nvSpPr>
          <p:cNvPr id="4" name="">
            <a:extLst xmlns:a="http://schemas.openxmlformats.org/drawingml/2006/main">
              <a:ext uri="{FF2B5EF4-FFF2-40B4-BE49-F238E27FC236}">
                <a16:creationId xmlns:a16="http://schemas.microsoft.com/office/drawing/2014/main" id="{16EA445E-4DAD-423A-8E22-A1EF2C593319}"/>
              </a:ext>
            </a:extLst>
          </p:cNvPr>
          <p:cNvSpPr>
            <a:spLocks xmlns:a="http://schemas.openxmlformats.org/drawingml/2006/main" noGrp="1"/>
          </p:cNvSpPr>
          <p:nvPr/>
        </p:nvSpPr>
        <p:spPr>
          <a:xfrm xmlns:a="http://schemas.openxmlformats.org/drawingml/2006/main">
            <a:off x="1714500" y="3028950"/>
            <a:ext cx="8763000" cy="0"/>
          </a:xfrm>
          <a:prstGeom xmlns:a="http://schemas.openxmlformats.org/drawingml/2006/main" prst="line">
            <a:avLst/>
          </a:prstGeom>
          <a:noFill xmlns:a="http://schemas.openxmlformats.org/drawingml/2006/main"/>
          <a:ln xmlns:a="http://schemas.openxmlformats.org/drawingml/2006/main" w="38100">
            <a:solidFill>
              <a:srgbClr val="28C69F"/>
            </a:solidFill>
            <a:prstDash val="solid"/>
          </a:ln>
        </p:spPr>
      </p:sp>
      <p:sp>
        <p:nvSpPr>
          <p:cNvPr id="5" name="">
            <a:extLst xmlns:a="http://schemas.openxmlformats.org/drawingml/2006/main">
              <a:ext uri="{FF2B5EF4-FFF2-40B4-BE49-F238E27FC236}">
                <a16:creationId xmlns:a16="http://schemas.microsoft.com/office/drawing/2014/main" id="{7A0F0BCB-D9A2-48F0-9C79-97215152D9BB}"/>
              </a:ext>
            </a:extLst>
          </p:cNvPr>
          <p:cNvSpPr>
            <a:spLocks xmlns:a="http://schemas.openxmlformats.org/drawingml/2006/main" noGrp="1"/>
          </p:cNvSpPr>
          <p:nvPr/>
        </p:nvSpPr>
        <p:spPr>
          <a:xfrm xmlns:a="http://schemas.openxmlformats.org/drawingml/2006/main">
            <a:off x="1123950" y="3600450"/>
            <a:ext cx="4286250" cy="1447800"/>
          </a:xfrm>
          <a:prstGeom xmlns:a="http://schemas.openxmlformats.org/drawingml/2006/main" prst="roundRect">
            <a:avLst>
              <a:gd name="adj" fmla="val 11842"/>
            </a:avLst>
          </a:prstGeom>
          <a:solidFill xmlns:a="http://schemas.openxmlformats.org/drawingml/2006/main">
            <a:srgbClr val="FFFFFF"/>
          </a:solidFill>
          <a:ln xmlns:a="http://schemas.openxmlformats.org/drawingml/2006/main" w="9525">
            <a:solidFill>
              <a:srgbClr val="28C69F"/>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875" b="1">
                <a:solidFill>
                  <a:srgbClr val="0D1726"/>
                </a:solidFill>
                <a:latin typeface="DejaVu Sans"/>
                <a:ea typeface="DejaVu Sans"/>
                <a:cs typeface="DejaVu Sans"/>
              </a:defRPr>
            </a:pPr>
            <a:r>
              <a:rPr sz="1875" b="1">
                <a:solidFill>
                  <a:srgbClr val="0D1726"/>
                </a:solidFill>
                <a:latin typeface="DejaVu Sans"/>
                <a:ea typeface="DejaVu Sans"/>
                <a:cs typeface="DejaVu Sans"/>
              </a:rPr>
              <a:t>Gut</a:t>
            </a:r>
          </a:p>
          <a:p xmlns:a="http://schemas.openxmlformats.org/drawingml/2006/main">
            <a:pPr algn="ctr">
              <a:lnSpc>
                <a:spcPct val="108000"/>
              </a:lnSpc>
              <a:buNone/>
              <a:defRPr sz="1875" b="1">
                <a:solidFill>
                  <a:srgbClr val="0D1726"/>
                </a:solidFill>
                <a:latin typeface="DejaVu Sans"/>
                <a:ea typeface="DejaVu Sans"/>
                <a:cs typeface="DejaVu Sans"/>
              </a:defRPr>
            </a:pPr>
            <a:r>
              <a:rPr sz="1875" b="1">
                <a:solidFill>
                  <a:srgbClr val="0D1726"/>
                </a:solidFill>
                <a:latin typeface="DejaVu Sans"/>
                <a:ea typeface="DejaVu Sans"/>
                <a:cs typeface="DejaVu Sans"/>
              </a:rPr>
              <a:t>zum Beispiel ein Fahrrad</a:t>
            </a:r>
          </a:p>
        </p:txBody>
      </p:sp>
      <p:sp>
        <p:nvSpPr>
          <p:cNvPr id="6" name="">
            <a:extLst xmlns:a="http://schemas.openxmlformats.org/drawingml/2006/main">
              <a:ext uri="{FF2B5EF4-FFF2-40B4-BE49-F238E27FC236}">
                <a16:creationId xmlns:a16="http://schemas.microsoft.com/office/drawing/2014/main" id="{634A2F2A-CA8E-41FC-8946-B7A9B8E361F5}"/>
              </a:ext>
            </a:extLst>
          </p:cNvPr>
          <p:cNvSpPr>
            <a:spLocks xmlns:a="http://schemas.openxmlformats.org/drawingml/2006/main" noGrp="1"/>
          </p:cNvSpPr>
          <p:nvPr/>
        </p:nvSpPr>
        <p:spPr>
          <a:xfrm xmlns:a="http://schemas.openxmlformats.org/drawingml/2006/main">
            <a:off x="6781800" y="3600450"/>
            <a:ext cx="4286250" cy="1447800"/>
          </a:xfrm>
          <a:prstGeom xmlns:a="http://schemas.openxmlformats.org/drawingml/2006/main" prst="roundRect">
            <a:avLst>
              <a:gd name="adj" fmla="val 11842"/>
            </a:avLst>
          </a:prstGeom>
          <a:solidFill xmlns:a="http://schemas.openxmlformats.org/drawingml/2006/main">
            <a:srgbClr val="FFFFFF"/>
          </a:solidFill>
          <a:ln xmlns:a="http://schemas.openxmlformats.org/drawingml/2006/main" w="9525">
            <a:solidFill>
              <a:srgbClr val="6E8BF7"/>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875" b="1">
                <a:solidFill>
                  <a:srgbClr val="0D1726"/>
                </a:solidFill>
                <a:latin typeface="DejaVu Sans"/>
                <a:ea typeface="DejaVu Sans"/>
                <a:cs typeface="DejaVu Sans"/>
              </a:defRPr>
            </a:pPr>
            <a:r>
              <a:rPr sz="1875" b="1">
                <a:solidFill>
                  <a:srgbClr val="0D1726"/>
                </a:solidFill>
                <a:latin typeface="DejaVu Sans"/>
                <a:ea typeface="DejaVu Sans"/>
                <a:cs typeface="DejaVu Sans"/>
              </a:rPr>
              <a:t>Dienstleistung</a:t>
            </a:r>
          </a:p>
          <a:p xmlns:a="http://schemas.openxmlformats.org/drawingml/2006/main">
            <a:pPr algn="ctr">
              <a:lnSpc>
                <a:spcPct val="108000"/>
              </a:lnSpc>
              <a:buNone/>
              <a:defRPr sz="1875" b="1">
                <a:solidFill>
                  <a:srgbClr val="0D1726"/>
                </a:solidFill>
                <a:latin typeface="DejaVu Sans"/>
                <a:ea typeface="DejaVu Sans"/>
                <a:cs typeface="DejaVu Sans"/>
              </a:defRPr>
            </a:pPr>
            <a:r>
              <a:rPr sz="1875" b="1">
                <a:solidFill>
                  <a:srgbClr val="0D1726"/>
                </a:solidFill>
                <a:latin typeface="DejaVu Sans"/>
                <a:ea typeface="DejaVu Sans"/>
                <a:cs typeface="DejaVu Sans"/>
              </a:rPr>
              <a:t>zum Beispiel ein Haarschnitt</a:t>
            </a:r>
          </a:p>
        </p:txBody>
      </p:sp>
      <p:sp>
        <p:nvSpPr>
          <p:cNvPr id="7" name="">
            <a:extLst xmlns:a="http://schemas.openxmlformats.org/drawingml/2006/main">
              <a:ext uri="{FF2B5EF4-FFF2-40B4-BE49-F238E27FC236}">
                <a16:creationId xmlns:a16="http://schemas.microsoft.com/office/drawing/2014/main" id="{E393093A-5C98-4614-AA93-46B7612D34E5}"/>
              </a:ext>
            </a:extLst>
          </p:cNvPr>
          <p:cNvSpPr>
            <a:spLocks xmlns:a="http://schemas.openxmlformats.org/drawingml/2006/main" noGrp="1"/>
          </p:cNvSpPr>
          <p:nvPr/>
        </p:nvSpPr>
        <p:spPr>
          <a:xfrm xmlns:a="http://schemas.openxmlformats.org/drawingml/2006/main">
            <a:off x="1714500" y="55245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75" b="0">
                <a:solidFill>
                  <a:srgbClr val="5D6879"/>
                </a:solidFill>
                <a:latin typeface="DejaVu Sans"/>
                <a:ea typeface="DejaVu Sans"/>
                <a:cs typeface="DejaVu Sans"/>
              </a:defRPr>
            </a:pPr>
            <a:r>
              <a:rPr sz="1575" b="0">
                <a:solidFill>
                  <a:srgbClr val="5D6879"/>
                </a:solidFill>
                <a:latin typeface="DejaVu Sans"/>
                <a:ea typeface="DejaVu Sans"/>
                <a:cs typeface="DejaVu Sans"/>
              </a:rPr>
              <a:t>Konsum bezeichnet den Erwerb oder die Nutzung zur Bedürfnisbefriedigung.</a:t>
            </a:r>
          </a:p>
        </p:txBody>
      </p:sp>
      <p:sp>
        <p:nvSpPr>
          <p:cNvPr id="8" name="">
            <a:extLst xmlns:a="http://schemas.openxmlformats.org/drawingml/2006/main">
              <a:ext uri="{FF2B5EF4-FFF2-40B4-BE49-F238E27FC236}">
                <a16:creationId xmlns:a16="http://schemas.microsoft.com/office/drawing/2014/main" id="{8CB955B5-2FDD-410D-B244-DD5560F8C841}"/>
              </a:ext>
            </a:extLst>
          </p:cNvPr>
          <p:cNvSpPr>
            <a:spLocks xmlns:a="http://schemas.openxmlformats.org/drawingml/2006/main" noGrp="1"/>
          </p:cNvSpPr>
          <p:nvPr/>
        </p:nvSpPr>
        <p:spPr>
          <a:xfrm xmlns:a="http://schemas.openxmlformats.org/drawingml/2006/main">
            <a:off x="666750" y="6553200"/>
            <a:ext cx="3429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Wirtschaft · Beruf · Klasse 7</a:t>
            </a:r>
          </a:p>
        </p:txBody>
      </p:sp>
      <p:sp>
        <p:nvSpPr>
          <p:cNvPr id="9" name="">
            <a:extLst xmlns:a="http://schemas.openxmlformats.org/drawingml/2006/main">
              <a:ext uri="{FF2B5EF4-FFF2-40B4-BE49-F238E27FC236}">
                <a16:creationId xmlns:a16="http://schemas.microsoft.com/office/drawing/2014/main" id="{83C66340-F899-4267-B6BD-0D2F53FB2863}"/>
              </a:ext>
            </a:extLst>
          </p:cNvPr>
          <p:cNvSpPr>
            <a:spLocks xmlns:a="http://schemas.openxmlformats.org/drawingml/2006/main" noGrp="1"/>
          </p:cNvSpPr>
          <p:nvPr/>
        </p:nvSpPr>
        <p:spPr>
          <a:xfrm xmlns:a="http://schemas.openxmlformats.org/drawingml/2006/main">
            <a:off x="11239500" y="655320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3</a:t>
            </a:r>
          </a:p>
        </p:txBody>
      </p:sp>
    </p:spTree>
    <p:extLst>
      <p:ext uri="{BB962C8B-B14F-4D97-AF65-F5344CB8AC3E}">
        <p14:creationId xmlns:p14="http://schemas.microsoft.com/office/powerpoint/2010/main" val="1853327116"/>
      </p:ext>
    </p:extLst>
  </p:cSld>
</p:sld>
</file>

<file path=ppt/slides/slide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751316E-7AB4-4A30-B168-FD9A43B337E7}"/>
              </a:ext>
            </a:extLst>
          </p:cNvPr>
          <p:cNvSpPr>
            <a:spLocks xmlns:a="http://schemas.openxmlformats.org/drawingml/2006/main" noGrp="1"/>
          </p:cNvSpPr>
          <p:nvPr/>
        </p:nvSpPr>
        <p:spPr>
          <a:xfrm xmlns:a="http://schemas.openxmlformats.org/drawingml/2006/main">
            <a:off x="666750" y="361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75" b="1">
                <a:solidFill>
                  <a:srgbClr val="28C69F"/>
                </a:solidFill>
                <a:latin typeface="DejaVu Sans"/>
                <a:ea typeface="DejaVu Sans"/>
                <a:cs typeface="DejaVu Sans"/>
              </a:defRPr>
            </a:pPr>
            <a:r>
              <a:rPr sz="975" b="1">
                <a:solidFill>
                  <a:srgbClr val="28C69F"/>
                </a:solidFill>
                <a:latin typeface="DejaVu Sans"/>
                <a:ea typeface="DejaVu Sans"/>
                <a:cs typeface="DejaVu Sans"/>
              </a:rPr>
              <a:t>VOM WUNSCH ZUM MARKT</a:t>
            </a:r>
          </a:p>
        </p:txBody>
      </p:sp>
      <p:sp>
        <p:nvSpPr>
          <p:cNvPr id="2" name="">
            <a:extLst xmlns:a="http://schemas.openxmlformats.org/drawingml/2006/main">
              <a:ext uri="{FF2B5EF4-FFF2-40B4-BE49-F238E27FC236}">
                <a16:creationId xmlns:a16="http://schemas.microsoft.com/office/drawing/2014/main" id="{566CA4C5-B444-438D-817E-4BCA0F26882E}"/>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000" b="1">
                <a:solidFill>
                  <a:srgbClr val="0D1726"/>
                </a:solidFill>
                <a:latin typeface="DejaVu Sans"/>
                <a:ea typeface="DejaVu Sans"/>
                <a:cs typeface="DejaVu Sans"/>
              </a:defRPr>
            </a:pPr>
            <a:r>
              <a:rPr sz="3000" b="1">
                <a:solidFill>
                  <a:srgbClr val="0D1726"/>
                </a:solidFill>
                <a:latin typeface="DejaVu Sans"/>
                <a:ea typeface="DejaVu Sans"/>
                <a:cs typeface="DejaVu Sans"/>
              </a:rPr>
              <a:t>Bedürfnis, Bedarf und Nachfrage</a:t>
            </a:r>
          </a:p>
        </p:txBody>
      </p:sp>
      <p:sp>
        <p:nvSpPr>
          <p:cNvPr id="3" name="">
            <a:extLst xmlns:a="http://schemas.openxmlformats.org/drawingml/2006/main">
              <a:ext uri="{FF2B5EF4-FFF2-40B4-BE49-F238E27FC236}">
                <a16:creationId xmlns:a16="http://schemas.microsoft.com/office/drawing/2014/main" id="{A842AF1E-D2B7-4DB7-9F8C-6C0EDEE8F8BF}"/>
              </a:ext>
            </a:extLst>
          </p:cNvPr>
          <p:cNvSpPr>
            <a:spLocks xmlns:a="http://schemas.openxmlformats.org/drawingml/2006/main" noGrp="1"/>
          </p:cNvSpPr>
          <p:nvPr/>
        </p:nvSpPr>
        <p:spPr>
          <a:xfrm xmlns:a="http://schemas.openxmlformats.org/drawingml/2006/main">
            <a:off x="666750" y="1962150"/>
            <a:ext cx="3238500" cy="1695450"/>
          </a:xfrm>
          <a:prstGeom xmlns:a="http://schemas.openxmlformats.org/drawingml/2006/main" prst="roundRect">
            <a:avLst>
              <a:gd name="adj" fmla="val 10112"/>
            </a:avLst>
          </a:prstGeom>
          <a:solidFill xmlns:a="http://schemas.openxmlformats.org/drawingml/2006/main">
            <a:srgbClr val="E7F8F3"/>
          </a:solidFill>
          <a:ln xmlns:a="http://schemas.openxmlformats.org/drawingml/2006/main" w="9525">
            <a:solidFill>
              <a:srgbClr val="28C69F"/>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800" b="1">
                <a:solidFill>
                  <a:srgbClr val="0D1726"/>
                </a:solidFill>
                <a:latin typeface="DejaVu Sans"/>
                <a:ea typeface="DejaVu Sans"/>
                <a:cs typeface="DejaVu Sans"/>
              </a:defRPr>
            </a:pPr>
            <a:r>
              <a:rPr sz="1800" b="1">
                <a:solidFill>
                  <a:srgbClr val="0D1726"/>
                </a:solidFill>
                <a:latin typeface="DejaVu Sans"/>
                <a:ea typeface="DejaVu Sans"/>
                <a:cs typeface="DejaVu Sans"/>
              </a:rPr>
              <a:t>BEDÜRFNIS</a:t>
            </a:r>
          </a:p>
          <a:p xmlns:a="http://schemas.openxmlformats.org/drawingml/2006/main">
            <a:pPr algn="ctr">
              <a:lnSpc>
                <a:spcPct val="108000"/>
              </a:lnSpc>
              <a:buNone/>
              <a:defRPr sz="1800" b="1">
                <a:solidFill>
                  <a:srgbClr val="0D1726"/>
                </a:solidFill>
                <a:latin typeface="DejaVu Sans"/>
                <a:ea typeface="DejaVu Sans"/>
                <a:cs typeface="DejaVu Sans"/>
              </a:defRPr>
            </a:pPr>
            <a:r>
              <a:rPr sz="1800" b="1">
                <a:solidFill>
                  <a:srgbClr val="0D1726"/>
                </a:solidFill>
                <a:latin typeface="DejaVu Sans"/>
                <a:ea typeface="DejaVu Sans"/>
                <a:cs typeface="DejaVu Sans"/>
              </a:rPr>
              <a:t>Ich möchte Musik hören.</a:t>
            </a:r>
          </a:p>
        </p:txBody>
      </p:sp>
      <p:sp>
        <p:nvSpPr>
          <p:cNvPr id="4" name="">
            <a:extLst xmlns:a="http://schemas.openxmlformats.org/drawingml/2006/main">
              <a:ext uri="{FF2B5EF4-FFF2-40B4-BE49-F238E27FC236}">
                <a16:creationId xmlns:a16="http://schemas.microsoft.com/office/drawing/2014/main" id="{99DD575D-0269-4109-82AD-57E8F05343EF}"/>
              </a:ext>
            </a:extLst>
          </p:cNvPr>
          <p:cNvSpPr>
            <a:spLocks xmlns:a="http://schemas.openxmlformats.org/drawingml/2006/main" noGrp="1"/>
          </p:cNvSpPr>
          <p:nvPr/>
        </p:nvSpPr>
        <p:spPr>
          <a:xfrm xmlns:a="http://schemas.openxmlformats.org/drawingml/2006/main">
            <a:off x="4095750" y="2486025"/>
            <a:ext cx="628650" cy="628650"/>
          </a:xfrm>
          <a:prstGeom xmlns:a="http://schemas.openxmlformats.org/drawingml/2006/main" prst="ellipse">
            <a:avLst/>
          </a:prstGeom>
          <a:solidFill xmlns:a="http://schemas.openxmlformats.org/drawingml/2006/main">
            <a:srgbClr val="0D1726"/>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1</a:t>
            </a:r>
          </a:p>
        </p:txBody>
      </p:sp>
      <p:sp>
        <p:nvSpPr>
          <p:cNvPr id="5" name="">
            <a:extLst xmlns:a="http://schemas.openxmlformats.org/drawingml/2006/main">
              <a:ext uri="{FF2B5EF4-FFF2-40B4-BE49-F238E27FC236}">
                <a16:creationId xmlns:a16="http://schemas.microsoft.com/office/drawing/2014/main" id="{19BAFFE2-E588-4C6D-9004-3F30B3713274}"/>
              </a:ext>
            </a:extLst>
          </p:cNvPr>
          <p:cNvSpPr>
            <a:spLocks xmlns:a="http://schemas.openxmlformats.org/drawingml/2006/main" noGrp="1"/>
          </p:cNvSpPr>
          <p:nvPr/>
        </p:nvSpPr>
        <p:spPr>
          <a:xfrm xmlns:a="http://schemas.openxmlformats.org/drawingml/2006/main">
            <a:off x="4476750" y="1962150"/>
            <a:ext cx="3238500" cy="1695450"/>
          </a:xfrm>
          <a:prstGeom xmlns:a="http://schemas.openxmlformats.org/drawingml/2006/main" prst="roundRect">
            <a:avLst>
              <a:gd name="adj" fmla="val 10112"/>
            </a:avLst>
          </a:prstGeom>
          <a:solidFill xmlns:a="http://schemas.openxmlformats.org/drawingml/2006/main">
            <a:srgbClr val="EAF0FF"/>
          </a:solidFill>
          <a:ln xmlns:a="http://schemas.openxmlformats.org/drawingml/2006/main" w="9525">
            <a:solidFill>
              <a:srgbClr val="6E8BF7"/>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725" b="1">
                <a:solidFill>
                  <a:srgbClr val="0D1726"/>
                </a:solidFill>
                <a:latin typeface="DejaVu Sans"/>
                <a:ea typeface="DejaVu Sans"/>
                <a:cs typeface="DejaVu Sans"/>
              </a:defRPr>
            </a:pPr>
            <a:r>
              <a:rPr sz="1725" b="1">
                <a:solidFill>
                  <a:srgbClr val="0D1726"/>
                </a:solidFill>
                <a:latin typeface="DejaVu Sans"/>
                <a:ea typeface="DejaVu Sans"/>
                <a:cs typeface="DejaVu Sans"/>
              </a:rPr>
              <a:t>BEDARF</a:t>
            </a:r>
          </a:p>
          <a:p xmlns:a="http://schemas.openxmlformats.org/drawingml/2006/main">
            <a:pPr algn="ctr">
              <a:lnSpc>
                <a:spcPct val="108000"/>
              </a:lnSpc>
              <a:buNone/>
              <a:defRPr sz="1725" b="1">
                <a:solidFill>
                  <a:srgbClr val="0D1726"/>
                </a:solidFill>
                <a:latin typeface="DejaVu Sans"/>
                <a:ea typeface="DejaVu Sans"/>
                <a:cs typeface="DejaVu Sans"/>
              </a:defRPr>
            </a:pPr>
            <a:r>
              <a:rPr sz="1725" b="1">
                <a:solidFill>
                  <a:srgbClr val="0D1726"/>
                </a:solidFill>
                <a:latin typeface="DejaVu Sans"/>
                <a:ea typeface="DejaVu Sans"/>
                <a:cs typeface="DejaVu Sans"/>
              </a:rPr>
              <a:t>Ich will Kopfhörer und kann sie bezahlen.</a:t>
            </a:r>
          </a:p>
        </p:txBody>
      </p:sp>
      <p:sp>
        <p:nvSpPr>
          <p:cNvPr id="6" name="">
            <a:extLst xmlns:a="http://schemas.openxmlformats.org/drawingml/2006/main">
              <a:ext uri="{FF2B5EF4-FFF2-40B4-BE49-F238E27FC236}">
                <a16:creationId xmlns:a16="http://schemas.microsoft.com/office/drawing/2014/main" id="{F04E469F-8960-4E99-97F7-7DE95FE6690D}"/>
              </a:ext>
            </a:extLst>
          </p:cNvPr>
          <p:cNvSpPr>
            <a:spLocks xmlns:a="http://schemas.openxmlformats.org/drawingml/2006/main" noGrp="1"/>
          </p:cNvSpPr>
          <p:nvPr/>
        </p:nvSpPr>
        <p:spPr>
          <a:xfrm xmlns:a="http://schemas.openxmlformats.org/drawingml/2006/main">
            <a:off x="7905750" y="2486025"/>
            <a:ext cx="628650" cy="628650"/>
          </a:xfrm>
          <a:prstGeom xmlns:a="http://schemas.openxmlformats.org/drawingml/2006/main" prst="ellipse">
            <a:avLst/>
          </a:prstGeom>
          <a:solidFill xmlns:a="http://schemas.openxmlformats.org/drawingml/2006/main">
            <a:srgbClr val="0D1726"/>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2</a:t>
            </a:r>
          </a:p>
        </p:txBody>
      </p:sp>
      <p:sp>
        <p:nvSpPr>
          <p:cNvPr id="7" name="">
            <a:extLst xmlns:a="http://schemas.openxmlformats.org/drawingml/2006/main">
              <a:ext uri="{FF2B5EF4-FFF2-40B4-BE49-F238E27FC236}">
                <a16:creationId xmlns:a16="http://schemas.microsoft.com/office/drawing/2014/main" id="{922F4B03-75FB-4A48-87B0-7D1CE9DC4ED3}"/>
              </a:ext>
            </a:extLst>
          </p:cNvPr>
          <p:cNvSpPr>
            <a:spLocks xmlns:a="http://schemas.openxmlformats.org/drawingml/2006/main" noGrp="1"/>
          </p:cNvSpPr>
          <p:nvPr/>
        </p:nvSpPr>
        <p:spPr>
          <a:xfrm xmlns:a="http://schemas.openxmlformats.org/drawingml/2006/main">
            <a:off x="8286750" y="1962150"/>
            <a:ext cx="3238500" cy="1695450"/>
          </a:xfrm>
          <a:prstGeom xmlns:a="http://schemas.openxmlformats.org/drawingml/2006/main" prst="roundRect">
            <a:avLst>
              <a:gd name="adj" fmla="val 10112"/>
            </a:avLst>
          </a:prstGeom>
          <a:solidFill xmlns:a="http://schemas.openxmlformats.org/drawingml/2006/main">
            <a:srgbClr val="FFF4D7"/>
          </a:solidFill>
          <a:ln xmlns:a="http://schemas.openxmlformats.org/drawingml/2006/main" w="9525">
            <a:solidFill>
              <a:srgbClr val="E7B84B"/>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650" b="1">
                <a:solidFill>
                  <a:srgbClr val="0D1726"/>
                </a:solidFill>
                <a:latin typeface="DejaVu Sans"/>
                <a:ea typeface="DejaVu Sans"/>
                <a:cs typeface="DejaVu Sans"/>
              </a:defRPr>
            </a:pPr>
            <a:r>
              <a:rPr sz="1650" b="1">
                <a:solidFill>
                  <a:srgbClr val="0D1726"/>
                </a:solidFill>
                <a:latin typeface="DejaVu Sans"/>
                <a:ea typeface="DejaVu Sans"/>
                <a:cs typeface="DejaVu Sans"/>
              </a:rPr>
              <a:t>NACHFRAGE</a:t>
            </a:r>
          </a:p>
          <a:p xmlns:a="http://schemas.openxmlformats.org/drawingml/2006/main">
            <a:pPr algn="ctr">
              <a:lnSpc>
                <a:spcPct val="108000"/>
              </a:lnSpc>
              <a:buNone/>
              <a:defRPr sz="1650" b="1">
                <a:solidFill>
                  <a:srgbClr val="0D1726"/>
                </a:solidFill>
                <a:latin typeface="DejaVu Sans"/>
                <a:ea typeface="DejaVu Sans"/>
                <a:cs typeface="DejaVu Sans"/>
              </a:defRPr>
            </a:pPr>
            <a:r>
              <a:rPr sz="1650" b="1">
                <a:solidFill>
                  <a:srgbClr val="0D1726"/>
                </a:solidFill>
                <a:latin typeface="DejaVu Sans"/>
                <a:ea typeface="DejaVu Sans"/>
                <a:cs typeface="DejaVu Sans"/>
              </a:rPr>
              <a:t>Ich trete mit meinem Kaufwunsch am Markt auf.</a:t>
            </a:r>
          </a:p>
        </p:txBody>
      </p:sp>
      <p:sp>
        <p:nvSpPr>
          <p:cNvPr id="8" name="">
            <a:extLst xmlns:a="http://schemas.openxmlformats.org/drawingml/2006/main">
              <a:ext uri="{FF2B5EF4-FFF2-40B4-BE49-F238E27FC236}">
                <a16:creationId xmlns:a16="http://schemas.microsoft.com/office/drawing/2014/main" id="{A12F60B6-B2E1-4439-B9EA-0AE040BA649D}"/>
              </a:ext>
            </a:extLst>
          </p:cNvPr>
          <p:cNvSpPr>
            <a:spLocks xmlns:a="http://schemas.openxmlformats.org/drawingml/2006/main" noGrp="1"/>
          </p:cNvSpPr>
          <p:nvPr/>
        </p:nvSpPr>
        <p:spPr>
          <a:xfrm xmlns:a="http://schemas.openxmlformats.org/drawingml/2006/main">
            <a:off x="3905250" y="2800350"/>
            <a:ext cx="190500" cy="0"/>
          </a:xfrm>
          <a:prstGeom xmlns:a="http://schemas.openxmlformats.org/drawingml/2006/main" prst="line">
            <a:avLst/>
          </a:prstGeom>
          <a:noFill xmlns:a="http://schemas.openxmlformats.org/drawingml/2006/main"/>
          <a:ln xmlns:a="http://schemas.openxmlformats.org/drawingml/2006/main" w="19050">
            <a:solidFill>
              <a:srgbClr val="0D1726"/>
            </a:solidFill>
            <a:prstDash val="solid"/>
          </a:ln>
        </p:spPr>
      </p:sp>
      <p:sp>
        <p:nvSpPr>
          <p:cNvPr id="9" name="">
            <a:extLst xmlns:a="http://schemas.openxmlformats.org/drawingml/2006/main">
              <a:ext uri="{FF2B5EF4-FFF2-40B4-BE49-F238E27FC236}">
                <a16:creationId xmlns:a16="http://schemas.microsoft.com/office/drawing/2014/main" id="{764CB007-108D-4557-A5A2-D1CCC94CECA9}"/>
              </a:ext>
            </a:extLst>
          </p:cNvPr>
          <p:cNvSpPr>
            <a:spLocks xmlns:a="http://schemas.openxmlformats.org/drawingml/2006/main" noGrp="1"/>
          </p:cNvSpPr>
          <p:nvPr/>
        </p:nvSpPr>
        <p:spPr>
          <a:xfrm xmlns:a="http://schemas.openxmlformats.org/drawingml/2006/main">
            <a:off x="7715250" y="2800350"/>
            <a:ext cx="190500" cy="0"/>
          </a:xfrm>
          <a:prstGeom xmlns:a="http://schemas.openxmlformats.org/drawingml/2006/main" prst="line">
            <a:avLst/>
          </a:prstGeom>
          <a:noFill xmlns:a="http://schemas.openxmlformats.org/drawingml/2006/main"/>
          <a:ln xmlns:a="http://schemas.openxmlformats.org/drawingml/2006/main" w="19050">
            <a:solidFill>
              <a:srgbClr val="0D1726"/>
            </a:solidFill>
            <a:prstDash val="solid"/>
          </a:ln>
        </p:spPr>
      </p:sp>
      <p:sp>
        <p:nvSpPr>
          <p:cNvPr id="10" name="">
            <a:extLst xmlns:a="http://schemas.openxmlformats.org/drawingml/2006/main">
              <a:ext uri="{FF2B5EF4-FFF2-40B4-BE49-F238E27FC236}">
                <a16:creationId xmlns:a16="http://schemas.microsoft.com/office/drawing/2014/main" id="{A4A51A54-6887-4999-A0A1-7883908951E0}"/>
              </a:ext>
            </a:extLst>
          </p:cNvPr>
          <p:cNvSpPr>
            <a:spLocks xmlns:a="http://schemas.openxmlformats.org/drawingml/2006/main" noGrp="1"/>
          </p:cNvSpPr>
          <p:nvPr/>
        </p:nvSpPr>
        <p:spPr>
          <a:xfrm xmlns:a="http://schemas.openxmlformats.org/drawingml/2006/main">
            <a:off x="1428750" y="4533900"/>
            <a:ext cx="933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00" b="1">
                <a:solidFill>
                  <a:srgbClr val="17324A"/>
                </a:solidFill>
                <a:latin typeface="DejaVu Sans"/>
                <a:ea typeface="DejaVu Sans"/>
                <a:cs typeface="DejaVu Sans"/>
              </a:defRPr>
            </a:pPr>
            <a:r>
              <a:rPr sz="2100" b="1">
                <a:solidFill>
                  <a:srgbClr val="17324A"/>
                </a:solidFill>
                <a:latin typeface="DejaVu Sans"/>
                <a:ea typeface="DejaVu Sans"/>
                <a:cs typeface="DejaVu Sans"/>
              </a:rPr>
              <a:t>Kaufkraft macht aus einem Bedürfnis Bedarf. Erst am Markt wird daraus Nachfrage.</a:t>
            </a:r>
          </a:p>
        </p:txBody>
      </p:sp>
      <p:sp>
        <p:nvSpPr>
          <p:cNvPr id="11" name="">
            <a:extLst xmlns:a="http://schemas.openxmlformats.org/drawingml/2006/main">
              <a:ext uri="{FF2B5EF4-FFF2-40B4-BE49-F238E27FC236}">
                <a16:creationId xmlns:a16="http://schemas.microsoft.com/office/drawing/2014/main" id="{0A218A20-3DAB-4A4A-9CCE-2B63AEBF668E}"/>
              </a:ext>
            </a:extLst>
          </p:cNvPr>
          <p:cNvSpPr>
            <a:spLocks xmlns:a="http://schemas.openxmlformats.org/drawingml/2006/main" noGrp="1"/>
          </p:cNvSpPr>
          <p:nvPr/>
        </p:nvSpPr>
        <p:spPr>
          <a:xfrm xmlns:a="http://schemas.openxmlformats.org/drawingml/2006/main">
            <a:off x="666750" y="6553200"/>
            <a:ext cx="3429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Wirtschaft · Beruf · Klasse 7</a:t>
            </a:r>
          </a:p>
        </p:txBody>
      </p:sp>
      <p:sp>
        <p:nvSpPr>
          <p:cNvPr id="12" name="">
            <a:extLst xmlns:a="http://schemas.openxmlformats.org/drawingml/2006/main">
              <a:ext uri="{FF2B5EF4-FFF2-40B4-BE49-F238E27FC236}">
                <a16:creationId xmlns:a16="http://schemas.microsoft.com/office/drawing/2014/main" id="{4EB1712C-88A3-4B1A-A443-80C2D83F76FB}"/>
              </a:ext>
            </a:extLst>
          </p:cNvPr>
          <p:cNvSpPr>
            <a:spLocks xmlns:a="http://schemas.openxmlformats.org/drawingml/2006/main" noGrp="1"/>
          </p:cNvSpPr>
          <p:nvPr/>
        </p:nvSpPr>
        <p:spPr>
          <a:xfrm xmlns:a="http://schemas.openxmlformats.org/drawingml/2006/main">
            <a:off x="11239500" y="655320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4</a:t>
            </a:r>
          </a:p>
        </p:txBody>
      </p:sp>
    </p:spTree>
    <p:extLst>
      <p:ext uri="{BB962C8B-B14F-4D97-AF65-F5344CB8AC3E}">
        <p14:creationId xmlns:p14="http://schemas.microsoft.com/office/powerpoint/2010/main" val="2060154571"/>
      </p:ext>
    </p:extLst>
  </p:cSld>
</p:sld>
</file>

<file path=ppt/slides/slide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AC5C48A-D0E7-49BC-A848-018FEAB3F105}"/>
              </a:ext>
            </a:extLst>
          </p:cNvPr>
          <p:cNvSpPr>
            <a:spLocks xmlns:a="http://schemas.openxmlformats.org/drawingml/2006/main" noGrp="1"/>
          </p:cNvSpPr>
          <p:nvPr/>
        </p:nvSpPr>
        <p:spPr>
          <a:xfrm xmlns:a="http://schemas.openxmlformats.org/drawingml/2006/main">
            <a:off x="666750" y="361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75" b="1">
                <a:solidFill>
                  <a:srgbClr val="28C69F"/>
                </a:solidFill>
                <a:latin typeface="DejaVu Sans"/>
                <a:ea typeface="DejaVu Sans"/>
                <a:cs typeface="DejaVu Sans"/>
              </a:defRPr>
            </a:pPr>
            <a:r>
              <a:rPr sz="975" b="1">
                <a:solidFill>
                  <a:srgbClr val="28C69F"/>
                </a:solidFill>
                <a:latin typeface="DejaVu Sans"/>
                <a:ea typeface="DejaVu Sans"/>
                <a:cs typeface="DejaVu Sans"/>
              </a:rPr>
              <a:t>DAS GRUNDPROBLEM</a:t>
            </a:r>
          </a:p>
        </p:txBody>
      </p:sp>
      <p:sp>
        <p:nvSpPr>
          <p:cNvPr id="2" name="">
            <a:extLst xmlns:a="http://schemas.openxmlformats.org/drawingml/2006/main">
              <a:ext uri="{FF2B5EF4-FFF2-40B4-BE49-F238E27FC236}">
                <a16:creationId xmlns:a16="http://schemas.microsoft.com/office/drawing/2014/main" id="{24F157A9-8C92-4AEF-AB18-EB146F99B1C4}"/>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000" b="1">
                <a:solidFill>
                  <a:srgbClr val="0D1726"/>
                </a:solidFill>
                <a:latin typeface="DejaVu Sans"/>
                <a:ea typeface="DejaVu Sans"/>
                <a:cs typeface="DejaVu Sans"/>
              </a:defRPr>
            </a:pPr>
            <a:r>
              <a:rPr sz="3000" b="1">
                <a:solidFill>
                  <a:srgbClr val="0D1726"/>
                </a:solidFill>
                <a:latin typeface="DejaVu Sans"/>
                <a:ea typeface="DejaVu Sans"/>
                <a:cs typeface="DejaVu Sans"/>
              </a:rPr>
              <a:t>Knappheit zwingt zur Entscheidung</a:t>
            </a:r>
          </a:p>
        </p:txBody>
      </p:sp>
      <p:sp>
        <p:nvSpPr>
          <p:cNvPr id="3" name="">
            <a:extLst xmlns:a="http://schemas.openxmlformats.org/drawingml/2006/main">
              <a:ext uri="{FF2B5EF4-FFF2-40B4-BE49-F238E27FC236}">
                <a16:creationId xmlns:a16="http://schemas.microsoft.com/office/drawing/2014/main" id="{C5C1A481-52A6-4208-BFB0-63596FCB1A20}"/>
              </a:ext>
            </a:extLst>
          </p:cNvPr>
          <p:cNvSpPr>
            <a:spLocks xmlns:a="http://schemas.openxmlformats.org/drawingml/2006/main" noGrp="1"/>
          </p:cNvSpPr>
          <p:nvPr/>
        </p:nvSpPr>
        <p:spPr>
          <a:xfrm xmlns:a="http://schemas.openxmlformats.org/drawingml/2006/main">
            <a:off x="1238250" y="19050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250" b="1">
                <a:solidFill>
                  <a:srgbClr val="17324A"/>
                </a:solidFill>
                <a:latin typeface="DejaVu Sans"/>
                <a:ea typeface="DejaVu Sans"/>
                <a:cs typeface="DejaVu Sans"/>
              </a:defRPr>
            </a:pPr>
            <a:r>
              <a:rPr sz="2250" b="1">
                <a:solidFill>
                  <a:srgbClr val="17324A"/>
                </a:solidFill>
                <a:latin typeface="DejaVu Sans"/>
                <a:ea typeface="DejaVu Sans"/>
                <a:cs typeface="DejaVu Sans"/>
              </a:rPr>
              <a:t>Bedürfnisse</a:t>
            </a:r>
          </a:p>
        </p:txBody>
      </p:sp>
      <p:sp>
        <p:nvSpPr>
          <p:cNvPr id="4" name="">
            <a:extLst xmlns:a="http://schemas.openxmlformats.org/drawingml/2006/main">
              <a:ext uri="{FF2B5EF4-FFF2-40B4-BE49-F238E27FC236}">
                <a16:creationId xmlns:a16="http://schemas.microsoft.com/office/drawing/2014/main" id="{FC6029AA-C305-446B-85E3-55A9DA9CD519}"/>
              </a:ext>
            </a:extLst>
          </p:cNvPr>
          <p:cNvSpPr>
            <a:spLocks xmlns:a="http://schemas.openxmlformats.org/drawingml/2006/main" noGrp="1"/>
          </p:cNvSpPr>
          <p:nvPr/>
        </p:nvSpPr>
        <p:spPr>
          <a:xfrm xmlns:a="http://schemas.openxmlformats.org/drawingml/2006/main">
            <a:off x="1238250" y="23622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00" b="0">
                <a:solidFill>
                  <a:srgbClr val="5D6879"/>
                </a:solidFill>
                <a:latin typeface="DejaVu Sans"/>
                <a:ea typeface="DejaVu Sans"/>
                <a:cs typeface="DejaVu Sans"/>
              </a:defRPr>
            </a:pPr>
            <a:r>
              <a:rPr sz="1500" b="0">
                <a:solidFill>
                  <a:srgbClr val="5D6879"/>
                </a:solidFill>
                <a:latin typeface="DejaVu Sans"/>
                <a:ea typeface="DejaVu Sans"/>
                <a:cs typeface="DejaVu Sans"/>
              </a:rPr>
              <a:t>zahlreich und unterschiedlich</a:t>
            </a:r>
          </a:p>
        </p:txBody>
      </p:sp>
      <p:sp>
        <p:nvSpPr>
          <p:cNvPr id="5" name="">
            <a:extLst xmlns:a="http://schemas.openxmlformats.org/drawingml/2006/main">
              <a:ext uri="{FF2B5EF4-FFF2-40B4-BE49-F238E27FC236}">
                <a16:creationId xmlns:a16="http://schemas.microsoft.com/office/drawing/2014/main" id="{9177B938-6CD3-469D-A8FE-7C9D1B5B9709}"/>
              </a:ext>
            </a:extLst>
          </p:cNvPr>
          <p:cNvSpPr>
            <a:spLocks xmlns:a="http://schemas.openxmlformats.org/drawingml/2006/main" noGrp="1"/>
          </p:cNvSpPr>
          <p:nvPr/>
        </p:nvSpPr>
        <p:spPr>
          <a:xfrm xmlns:a="http://schemas.openxmlformats.org/drawingml/2006/main">
            <a:off x="1857375" y="3009900"/>
            <a:ext cx="2095500" cy="2095500"/>
          </a:xfrm>
          <a:prstGeom xmlns:a="http://schemas.openxmlformats.org/drawingml/2006/main" prst="ellipse">
            <a:avLst/>
          </a:prstGeom>
          <a:solidFill xmlns:a="http://schemas.openxmlformats.org/drawingml/2006/main">
            <a:srgbClr val="28C69F"/>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2250" b="1">
                <a:solidFill>
                  <a:srgbClr val="0D1726"/>
                </a:solidFill>
                <a:latin typeface="DejaVu Sans"/>
                <a:ea typeface="DejaVu Sans"/>
                <a:cs typeface="DejaVu Sans"/>
              </a:defRPr>
            </a:pPr>
            <a:r>
              <a:rPr sz="2250" b="1">
                <a:solidFill>
                  <a:srgbClr val="0D1726"/>
                </a:solidFill>
                <a:latin typeface="DejaVu Sans"/>
                <a:ea typeface="DejaVu Sans"/>
                <a:cs typeface="DejaVu Sans"/>
              </a:rPr>
              <a:t>VIELE</a:t>
            </a:r>
          </a:p>
        </p:txBody>
      </p:sp>
      <p:sp>
        <p:nvSpPr>
          <p:cNvPr id="6" name="">
            <a:extLst xmlns:a="http://schemas.openxmlformats.org/drawingml/2006/main">
              <a:ext uri="{FF2B5EF4-FFF2-40B4-BE49-F238E27FC236}">
                <a16:creationId xmlns:a16="http://schemas.microsoft.com/office/drawing/2014/main" id="{7BB435CC-980E-41F8-808D-5C55A8CDD502}"/>
              </a:ext>
            </a:extLst>
          </p:cNvPr>
          <p:cNvSpPr>
            <a:spLocks xmlns:a="http://schemas.openxmlformats.org/drawingml/2006/main" noGrp="1"/>
          </p:cNvSpPr>
          <p:nvPr/>
        </p:nvSpPr>
        <p:spPr>
          <a:xfrm xmlns:a="http://schemas.openxmlformats.org/drawingml/2006/main">
            <a:off x="7620000" y="19050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250" b="1">
                <a:solidFill>
                  <a:srgbClr val="17324A"/>
                </a:solidFill>
                <a:latin typeface="DejaVu Sans"/>
                <a:ea typeface="DejaVu Sans"/>
                <a:cs typeface="DejaVu Sans"/>
              </a:defRPr>
            </a:pPr>
            <a:r>
              <a:rPr sz="2250" b="1">
                <a:solidFill>
                  <a:srgbClr val="17324A"/>
                </a:solidFill>
                <a:latin typeface="DejaVu Sans"/>
                <a:ea typeface="DejaVu Sans"/>
                <a:cs typeface="DejaVu Sans"/>
              </a:rPr>
              <a:t>Ressourcen</a:t>
            </a:r>
          </a:p>
        </p:txBody>
      </p:sp>
      <p:sp>
        <p:nvSpPr>
          <p:cNvPr id="7" name="">
            <a:extLst xmlns:a="http://schemas.openxmlformats.org/drawingml/2006/main">
              <a:ext uri="{FF2B5EF4-FFF2-40B4-BE49-F238E27FC236}">
                <a16:creationId xmlns:a16="http://schemas.microsoft.com/office/drawing/2014/main" id="{2321D483-1C69-42A0-A731-248E84A9895E}"/>
              </a:ext>
            </a:extLst>
          </p:cNvPr>
          <p:cNvSpPr>
            <a:spLocks xmlns:a="http://schemas.openxmlformats.org/drawingml/2006/main" noGrp="1"/>
          </p:cNvSpPr>
          <p:nvPr/>
        </p:nvSpPr>
        <p:spPr>
          <a:xfrm xmlns:a="http://schemas.openxmlformats.org/drawingml/2006/main">
            <a:off x="7620000" y="23622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00" b="0">
                <a:solidFill>
                  <a:srgbClr val="5D6879"/>
                </a:solidFill>
                <a:latin typeface="DejaVu Sans"/>
                <a:ea typeface="DejaVu Sans"/>
                <a:cs typeface="DejaVu Sans"/>
              </a:defRPr>
            </a:pPr>
            <a:r>
              <a:rPr sz="1500" b="0">
                <a:solidFill>
                  <a:srgbClr val="5D6879"/>
                </a:solidFill>
                <a:latin typeface="DejaVu Sans"/>
                <a:ea typeface="DejaVu Sans"/>
                <a:cs typeface="DejaVu Sans"/>
              </a:rPr>
              <a:t>Geld, Zeit und Güter sind begrenzt</a:t>
            </a:r>
          </a:p>
        </p:txBody>
      </p:sp>
      <p:sp>
        <p:nvSpPr>
          <p:cNvPr id="8" name="">
            <a:extLst xmlns:a="http://schemas.openxmlformats.org/drawingml/2006/main">
              <a:ext uri="{FF2B5EF4-FFF2-40B4-BE49-F238E27FC236}">
                <a16:creationId xmlns:a16="http://schemas.microsoft.com/office/drawing/2014/main" id="{5F22144D-3449-4909-9D74-68B88EF89241}"/>
              </a:ext>
            </a:extLst>
          </p:cNvPr>
          <p:cNvSpPr>
            <a:spLocks xmlns:a="http://schemas.openxmlformats.org/drawingml/2006/main" noGrp="1"/>
          </p:cNvSpPr>
          <p:nvPr/>
        </p:nvSpPr>
        <p:spPr>
          <a:xfrm xmlns:a="http://schemas.openxmlformats.org/drawingml/2006/main">
            <a:off x="8239125" y="3009900"/>
            <a:ext cx="2095500" cy="2095500"/>
          </a:xfrm>
          <a:prstGeom xmlns:a="http://schemas.openxmlformats.org/drawingml/2006/main" prst="ellipse">
            <a:avLst/>
          </a:prstGeom>
          <a:solidFill xmlns:a="http://schemas.openxmlformats.org/drawingml/2006/main">
            <a:srgbClr val="E7B84B"/>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0D1726"/>
                </a:solidFill>
                <a:latin typeface="DejaVu Sans"/>
                <a:ea typeface="DejaVu Sans"/>
                <a:cs typeface="DejaVu Sans"/>
              </a:defRPr>
            </a:pPr>
            <a:r>
              <a:rPr sz="1500" b="1">
                <a:solidFill>
                  <a:srgbClr val="0D1726"/>
                </a:solidFill>
                <a:latin typeface="DejaVu Sans"/>
                <a:ea typeface="DejaVu Sans"/>
                <a:cs typeface="DejaVu Sans"/>
              </a:rPr>
              <a:t>BEGRENZT</a:t>
            </a:r>
          </a:p>
        </p:txBody>
      </p:sp>
      <p:sp>
        <p:nvSpPr>
          <p:cNvPr id="9" name="">
            <a:extLst xmlns:a="http://schemas.openxmlformats.org/drawingml/2006/main">
              <a:ext uri="{FF2B5EF4-FFF2-40B4-BE49-F238E27FC236}">
                <a16:creationId xmlns:a16="http://schemas.microsoft.com/office/drawing/2014/main" id="{783C86A1-A94C-4964-9374-127D71FEA8C9}"/>
              </a:ext>
            </a:extLst>
          </p:cNvPr>
          <p:cNvSpPr>
            <a:spLocks xmlns:a="http://schemas.openxmlformats.org/drawingml/2006/main" noGrp="1"/>
          </p:cNvSpPr>
          <p:nvPr/>
        </p:nvSpPr>
        <p:spPr>
          <a:xfrm xmlns:a="http://schemas.openxmlformats.org/drawingml/2006/main">
            <a:off x="4905375" y="3181350"/>
            <a:ext cx="2381250" cy="819150"/>
          </a:xfrm>
          <a:prstGeom xmlns:a="http://schemas.openxmlformats.org/drawingml/2006/main" prst="roundRect">
            <a:avLst>
              <a:gd name="adj" fmla="val 20930"/>
            </a:avLst>
          </a:prstGeom>
          <a:solidFill xmlns:a="http://schemas.openxmlformats.org/drawingml/2006/main">
            <a:srgbClr val="0D1726"/>
          </a:solidFill>
          <a:ln xmlns:a="http://schemas.openxmlformats.org/drawingml/2006/main" w="9525">
            <a:solidFill>
              <a:srgbClr val="0D1726"/>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KNAPPHEIT</a:t>
            </a:r>
          </a:p>
        </p:txBody>
      </p:sp>
      <p:sp>
        <p:nvSpPr>
          <p:cNvPr id="10" name="">
            <a:extLst xmlns:a="http://schemas.openxmlformats.org/drawingml/2006/main">
              <a:ext uri="{FF2B5EF4-FFF2-40B4-BE49-F238E27FC236}">
                <a16:creationId xmlns:a16="http://schemas.microsoft.com/office/drawing/2014/main" id="{10BD5CA1-AE2E-4D9A-A656-65BB146EF8D9}"/>
              </a:ext>
            </a:extLst>
          </p:cNvPr>
          <p:cNvSpPr>
            <a:spLocks xmlns:a="http://schemas.openxmlformats.org/drawingml/2006/main" noGrp="1"/>
          </p:cNvSpPr>
          <p:nvPr/>
        </p:nvSpPr>
        <p:spPr>
          <a:xfrm xmlns:a="http://schemas.openxmlformats.org/drawingml/2006/main">
            <a:off x="1714500" y="5372100"/>
            <a:ext cx="876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025" b="1">
                <a:solidFill>
                  <a:srgbClr val="E06B5F"/>
                </a:solidFill>
                <a:latin typeface="DejaVu Sans"/>
                <a:ea typeface="DejaVu Sans"/>
                <a:cs typeface="DejaVu Sans"/>
              </a:defRPr>
            </a:pPr>
            <a:r>
              <a:rPr sz="2025" b="1">
                <a:solidFill>
                  <a:srgbClr val="E06B5F"/>
                </a:solidFill>
                <a:latin typeface="DejaVu Sans"/>
                <a:ea typeface="DejaVu Sans"/>
                <a:cs typeface="DejaVu Sans"/>
              </a:rPr>
              <a:t>Jede Entscheidung für etwas bedeutet zugleich Verzicht auf etwas anderes.</a:t>
            </a:r>
          </a:p>
        </p:txBody>
      </p:sp>
      <p:sp>
        <p:nvSpPr>
          <p:cNvPr id="11" name="">
            <a:extLst xmlns:a="http://schemas.openxmlformats.org/drawingml/2006/main">
              <a:ext uri="{FF2B5EF4-FFF2-40B4-BE49-F238E27FC236}">
                <a16:creationId xmlns:a16="http://schemas.microsoft.com/office/drawing/2014/main" id="{85865A81-E02F-4BE4-8890-90C426DF172E}"/>
              </a:ext>
            </a:extLst>
          </p:cNvPr>
          <p:cNvSpPr>
            <a:spLocks xmlns:a="http://schemas.openxmlformats.org/drawingml/2006/main" noGrp="1"/>
          </p:cNvSpPr>
          <p:nvPr/>
        </p:nvSpPr>
        <p:spPr>
          <a:xfrm xmlns:a="http://schemas.openxmlformats.org/drawingml/2006/main">
            <a:off x="666750" y="6553200"/>
            <a:ext cx="3429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Wirtschaft · Beruf · Klasse 7</a:t>
            </a:r>
          </a:p>
        </p:txBody>
      </p:sp>
      <p:sp>
        <p:nvSpPr>
          <p:cNvPr id="12" name="">
            <a:extLst xmlns:a="http://schemas.openxmlformats.org/drawingml/2006/main">
              <a:ext uri="{FF2B5EF4-FFF2-40B4-BE49-F238E27FC236}">
                <a16:creationId xmlns:a16="http://schemas.microsoft.com/office/drawing/2014/main" id="{F5E3BAC0-E1C9-41D9-B2B5-38D56613B0F9}"/>
              </a:ext>
            </a:extLst>
          </p:cNvPr>
          <p:cNvSpPr>
            <a:spLocks xmlns:a="http://schemas.openxmlformats.org/drawingml/2006/main" noGrp="1"/>
          </p:cNvSpPr>
          <p:nvPr/>
        </p:nvSpPr>
        <p:spPr>
          <a:xfrm xmlns:a="http://schemas.openxmlformats.org/drawingml/2006/main">
            <a:off x="11239500" y="655320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5</a:t>
            </a:r>
          </a:p>
        </p:txBody>
      </p:sp>
    </p:spTree>
    <p:extLst>
      <p:ext uri="{BB962C8B-B14F-4D97-AF65-F5344CB8AC3E}">
        <p14:creationId xmlns:p14="http://schemas.microsoft.com/office/powerpoint/2010/main" val="876780097"/>
      </p:ext>
    </p:extLst>
  </p:cSld>
</p:sld>
</file>

<file path=ppt/slides/slide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00BC07-47EF-4E1D-B225-45D6137FAC95}"/>
              </a:ext>
            </a:extLst>
          </p:cNvPr>
          <p:cNvSpPr>
            <a:spLocks xmlns:a="http://schemas.openxmlformats.org/drawingml/2006/main" noGrp="1"/>
          </p:cNvSpPr>
          <p:nvPr/>
        </p:nvSpPr>
        <p:spPr>
          <a:xfrm xmlns:a="http://schemas.openxmlformats.org/drawingml/2006/main">
            <a:off x="666750" y="361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75" b="1">
                <a:solidFill>
                  <a:srgbClr val="28C69F"/>
                </a:solidFill>
                <a:latin typeface="DejaVu Sans"/>
                <a:ea typeface="DejaVu Sans"/>
                <a:cs typeface="DejaVu Sans"/>
              </a:defRPr>
            </a:pPr>
            <a:r>
              <a:rPr sz="975" b="1">
                <a:solidFill>
                  <a:srgbClr val="28C69F"/>
                </a:solidFill>
                <a:latin typeface="DejaVu Sans"/>
                <a:ea typeface="DejaVu Sans"/>
                <a:cs typeface="DejaVu Sans"/>
              </a:rPr>
              <a:t>ÖKONOMISCHES HANDELN</a:t>
            </a:r>
          </a:p>
        </p:txBody>
      </p:sp>
      <p:sp>
        <p:nvSpPr>
          <p:cNvPr id="2" name="">
            <a:extLst xmlns:a="http://schemas.openxmlformats.org/drawingml/2006/main">
              <a:ext uri="{FF2B5EF4-FFF2-40B4-BE49-F238E27FC236}">
                <a16:creationId xmlns:a16="http://schemas.microsoft.com/office/drawing/2014/main" id="{439690C4-C064-4BD4-AE56-FFD7D8FDA0E3}"/>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000" b="1">
                <a:solidFill>
                  <a:srgbClr val="0D1726"/>
                </a:solidFill>
                <a:latin typeface="DejaVu Sans"/>
                <a:ea typeface="DejaVu Sans"/>
                <a:cs typeface="DejaVu Sans"/>
              </a:defRPr>
            </a:pPr>
            <a:r>
              <a:rPr sz="3000" b="1">
                <a:solidFill>
                  <a:srgbClr val="0D1726"/>
                </a:solidFill>
                <a:latin typeface="DejaVu Sans"/>
                <a:ea typeface="DejaVu Sans"/>
                <a:cs typeface="DejaVu Sans"/>
              </a:rPr>
              <a:t>Das ökonomische Prinzip</a:t>
            </a:r>
          </a:p>
        </p:txBody>
      </p:sp>
      <p:sp>
        <p:nvSpPr>
          <p:cNvPr id="3" name="">
            <a:extLst xmlns:a="http://schemas.openxmlformats.org/drawingml/2006/main">
              <a:ext uri="{FF2B5EF4-FFF2-40B4-BE49-F238E27FC236}">
                <a16:creationId xmlns:a16="http://schemas.microsoft.com/office/drawing/2014/main" id="{F1A8D066-63E6-41D5-853D-BFBB0C64179C}"/>
              </a:ext>
            </a:extLst>
          </p:cNvPr>
          <p:cNvSpPr>
            <a:spLocks xmlns:a="http://schemas.openxmlformats.org/drawingml/2006/main" noGrp="1"/>
          </p:cNvSpPr>
          <p:nvPr/>
        </p:nvSpPr>
        <p:spPr>
          <a:xfrm xmlns:a="http://schemas.openxmlformats.org/drawingml/2006/main">
            <a:off x="685800" y="1809750"/>
            <a:ext cx="5143500" cy="781050"/>
          </a:xfrm>
          <a:prstGeom xmlns:a="http://schemas.openxmlformats.org/drawingml/2006/main" prst="roundRect">
            <a:avLst>
              <a:gd name="adj" fmla="val 21951"/>
            </a:avLst>
          </a:prstGeom>
          <a:solidFill xmlns:a="http://schemas.openxmlformats.org/drawingml/2006/main">
            <a:srgbClr val="28C69F"/>
          </a:solidFill>
          <a:ln xmlns:a="http://schemas.openxmlformats.org/drawingml/2006/main" w="9525">
            <a:solidFill>
              <a:srgbClr val="28C69F"/>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875" b="1">
                <a:solidFill>
                  <a:srgbClr val="0D1726"/>
                </a:solidFill>
                <a:latin typeface="DejaVu Sans"/>
                <a:ea typeface="DejaVu Sans"/>
                <a:cs typeface="DejaVu Sans"/>
              </a:defRPr>
            </a:pPr>
            <a:r>
              <a:rPr sz="1875" b="1">
                <a:solidFill>
                  <a:srgbClr val="0D1726"/>
                </a:solidFill>
                <a:latin typeface="DejaVu Sans"/>
                <a:ea typeface="DejaVu Sans"/>
                <a:cs typeface="DejaVu Sans"/>
              </a:rPr>
              <a:t>MINIMUMPRINZIP</a:t>
            </a:r>
          </a:p>
        </p:txBody>
      </p:sp>
      <p:sp>
        <p:nvSpPr>
          <p:cNvPr id="4" name="">
            <a:extLst xmlns:a="http://schemas.openxmlformats.org/drawingml/2006/main">
              <a:ext uri="{FF2B5EF4-FFF2-40B4-BE49-F238E27FC236}">
                <a16:creationId xmlns:a16="http://schemas.microsoft.com/office/drawing/2014/main" id="{ACB4F2C4-821E-4E68-A823-06686B29F228}"/>
              </a:ext>
            </a:extLst>
          </p:cNvPr>
          <p:cNvSpPr>
            <a:spLocks xmlns:a="http://schemas.openxmlformats.org/drawingml/2006/main" noGrp="1"/>
          </p:cNvSpPr>
          <p:nvPr/>
        </p:nvSpPr>
        <p:spPr>
          <a:xfrm xmlns:a="http://schemas.openxmlformats.org/drawingml/2006/main">
            <a:off x="933450" y="2914650"/>
            <a:ext cx="4648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950" b="1">
                <a:solidFill>
                  <a:srgbClr val="17324A"/>
                </a:solidFill>
                <a:latin typeface="DejaVu Sans"/>
                <a:ea typeface="DejaVu Sans"/>
                <a:cs typeface="DejaVu Sans"/>
              </a:defRPr>
            </a:pPr>
            <a:r>
              <a:rPr sz="1950" b="1">
                <a:solidFill>
                  <a:srgbClr val="17324A"/>
                </a:solidFill>
                <a:latin typeface="DejaVu Sans"/>
                <a:ea typeface="DejaVu Sans"/>
                <a:cs typeface="DejaVu Sans"/>
              </a:rPr>
              <a:t>Ein festes Ziel mit möglichst geringem Mitteleinsatz erreichen.</a:t>
            </a:r>
          </a:p>
        </p:txBody>
      </p:sp>
      <p:sp>
        <p:nvSpPr>
          <p:cNvPr id="5" name="">
            <a:extLst xmlns:a="http://schemas.openxmlformats.org/drawingml/2006/main">
              <a:ext uri="{FF2B5EF4-FFF2-40B4-BE49-F238E27FC236}">
                <a16:creationId xmlns:a16="http://schemas.microsoft.com/office/drawing/2014/main" id="{96EA6854-7583-4F62-9654-8E5D54A95984}"/>
              </a:ext>
            </a:extLst>
          </p:cNvPr>
          <p:cNvSpPr>
            <a:spLocks xmlns:a="http://schemas.openxmlformats.org/drawingml/2006/main" noGrp="1"/>
          </p:cNvSpPr>
          <p:nvPr/>
        </p:nvSpPr>
        <p:spPr>
          <a:xfrm xmlns:a="http://schemas.openxmlformats.org/drawingml/2006/main">
            <a:off x="1123950" y="3943350"/>
            <a:ext cx="4267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00" b="0">
                <a:solidFill>
                  <a:srgbClr val="5D6879"/>
                </a:solidFill>
                <a:latin typeface="DejaVu Sans"/>
                <a:ea typeface="DejaVu Sans"/>
                <a:cs typeface="DejaVu Sans"/>
              </a:defRPr>
            </a:pPr>
            <a:r>
              <a:rPr sz="1500" b="0">
                <a:solidFill>
                  <a:srgbClr val="5D6879"/>
                </a:solidFill>
                <a:latin typeface="DejaVu Sans"/>
                <a:ea typeface="DejaVu Sans"/>
                <a:cs typeface="DejaVu Sans"/>
              </a:rPr>
              <a:t>Beispiel: dieselbe Busfahrt möglichst günstig buchen</a:t>
            </a:r>
          </a:p>
        </p:txBody>
      </p:sp>
      <p:sp>
        <p:nvSpPr>
          <p:cNvPr id="6" name="">
            <a:extLst xmlns:a="http://schemas.openxmlformats.org/drawingml/2006/main">
              <a:ext uri="{FF2B5EF4-FFF2-40B4-BE49-F238E27FC236}">
                <a16:creationId xmlns:a16="http://schemas.microsoft.com/office/drawing/2014/main" id="{14C1A6DC-24A4-4E96-9210-69202202402D}"/>
              </a:ext>
            </a:extLst>
          </p:cNvPr>
          <p:cNvSpPr>
            <a:spLocks xmlns:a="http://schemas.openxmlformats.org/drawingml/2006/main" noGrp="1"/>
          </p:cNvSpPr>
          <p:nvPr/>
        </p:nvSpPr>
        <p:spPr>
          <a:xfrm xmlns:a="http://schemas.openxmlformats.org/drawingml/2006/main">
            <a:off x="6362700" y="1809750"/>
            <a:ext cx="5143500" cy="781050"/>
          </a:xfrm>
          <a:prstGeom xmlns:a="http://schemas.openxmlformats.org/drawingml/2006/main" prst="roundRect">
            <a:avLst>
              <a:gd name="adj" fmla="val 21951"/>
            </a:avLst>
          </a:prstGeom>
          <a:solidFill xmlns:a="http://schemas.openxmlformats.org/drawingml/2006/main">
            <a:srgbClr val="6E8BF7"/>
          </a:solidFill>
          <a:ln xmlns:a="http://schemas.openxmlformats.org/drawingml/2006/main" w="9525">
            <a:solidFill>
              <a:srgbClr val="6E8BF7"/>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MAXIMUMPRINZIP</a:t>
            </a:r>
          </a:p>
        </p:txBody>
      </p:sp>
      <p:sp>
        <p:nvSpPr>
          <p:cNvPr id="7" name="">
            <a:extLst xmlns:a="http://schemas.openxmlformats.org/drawingml/2006/main">
              <a:ext uri="{FF2B5EF4-FFF2-40B4-BE49-F238E27FC236}">
                <a16:creationId xmlns:a16="http://schemas.microsoft.com/office/drawing/2014/main" id="{64A6E0A1-DA4D-45CE-8A00-39D14FF00F3B}"/>
              </a:ext>
            </a:extLst>
          </p:cNvPr>
          <p:cNvSpPr>
            <a:spLocks xmlns:a="http://schemas.openxmlformats.org/drawingml/2006/main" noGrp="1"/>
          </p:cNvSpPr>
          <p:nvPr/>
        </p:nvSpPr>
        <p:spPr>
          <a:xfrm xmlns:a="http://schemas.openxmlformats.org/drawingml/2006/main">
            <a:off x="6610350" y="2914650"/>
            <a:ext cx="4648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950" b="1">
                <a:solidFill>
                  <a:srgbClr val="17324A"/>
                </a:solidFill>
                <a:latin typeface="DejaVu Sans"/>
                <a:ea typeface="DejaVu Sans"/>
                <a:cs typeface="DejaVu Sans"/>
              </a:defRPr>
            </a:pPr>
            <a:r>
              <a:rPr sz="1950" b="1">
                <a:solidFill>
                  <a:srgbClr val="17324A"/>
                </a:solidFill>
                <a:latin typeface="DejaVu Sans"/>
                <a:ea typeface="DejaVu Sans"/>
                <a:cs typeface="DejaVu Sans"/>
              </a:rPr>
              <a:t>Mit festen Mitteln ein möglichst großes Ergebnis erreichen.</a:t>
            </a:r>
          </a:p>
        </p:txBody>
      </p:sp>
      <p:sp>
        <p:nvSpPr>
          <p:cNvPr id="8" name="">
            <a:extLst xmlns:a="http://schemas.openxmlformats.org/drawingml/2006/main">
              <a:ext uri="{FF2B5EF4-FFF2-40B4-BE49-F238E27FC236}">
                <a16:creationId xmlns:a16="http://schemas.microsoft.com/office/drawing/2014/main" id="{3A46238F-2668-4463-B282-61F76299DDBF}"/>
              </a:ext>
            </a:extLst>
          </p:cNvPr>
          <p:cNvSpPr>
            <a:spLocks xmlns:a="http://schemas.openxmlformats.org/drawingml/2006/main" noGrp="1"/>
          </p:cNvSpPr>
          <p:nvPr/>
        </p:nvSpPr>
        <p:spPr>
          <a:xfrm xmlns:a="http://schemas.openxmlformats.org/drawingml/2006/main">
            <a:off x="6800850" y="3943350"/>
            <a:ext cx="4267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00" b="0">
                <a:solidFill>
                  <a:srgbClr val="5D6879"/>
                </a:solidFill>
                <a:latin typeface="DejaVu Sans"/>
                <a:ea typeface="DejaVu Sans"/>
                <a:cs typeface="DejaVu Sans"/>
              </a:defRPr>
            </a:pPr>
            <a:r>
              <a:rPr sz="1500" b="0">
                <a:solidFill>
                  <a:srgbClr val="5D6879"/>
                </a:solidFill>
                <a:latin typeface="DejaVu Sans"/>
                <a:ea typeface="DejaVu Sans"/>
                <a:cs typeface="DejaVu Sans"/>
              </a:rPr>
              <a:t>Beispiel: mit 20 Euro möglichst viele passende Schulhefte kaufen</a:t>
            </a:r>
          </a:p>
        </p:txBody>
      </p:sp>
      <p:sp>
        <p:nvSpPr>
          <p:cNvPr id="9" name="">
            <a:extLst xmlns:a="http://schemas.openxmlformats.org/drawingml/2006/main">
              <a:ext uri="{FF2B5EF4-FFF2-40B4-BE49-F238E27FC236}">
                <a16:creationId xmlns:a16="http://schemas.microsoft.com/office/drawing/2014/main" id="{9AB0AC0B-4D1C-467D-A31B-80AD4B203C32}"/>
              </a:ext>
            </a:extLst>
          </p:cNvPr>
          <p:cNvSpPr>
            <a:spLocks xmlns:a="http://schemas.openxmlformats.org/drawingml/2006/main" noGrp="1"/>
          </p:cNvSpPr>
          <p:nvPr/>
        </p:nvSpPr>
        <p:spPr>
          <a:xfrm xmlns:a="http://schemas.openxmlformats.org/drawingml/2006/main">
            <a:off x="1714500" y="5219700"/>
            <a:ext cx="8763000" cy="666750"/>
          </a:xfrm>
          <a:prstGeom xmlns:a="http://schemas.openxmlformats.org/drawingml/2006/main" prst="roundRect">
            <a:avLst>
              <a:gd name="adj" fmla="val 25714"/>
            </a:avLst>
          </a:prstGeom>
          <a:solidFill xmlns:a="http://schemas.openxmlformats.org/drawingml/2006/main">
            <a:srgbClr val="FFF4D7"/>
          </a:solidFill>
          <a:ln xmlns:a="http://schemas.openxmlformats.org/drawingml/2006/main" w="9525">
            <a:solidFill>
              <a:srgbClr val="E7B84B"/>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725" b="1">
                <a:solidFill>
                  <a:srgbClr val="0D1726"/>
                </a:solidFill>
                <a:latin typeface="DejaVu Sans"/>
                <a:ea typeface="DejaVu Sans"/>
                <a:cs typeface="DejaVu Sans"/>
              </a:defRPr>
            </a:pPr>
            <a:r>
              <a:rPr sz="1725" b="1">
                <a:solidFill>
                  <a:srgbClr val="0D1726"/>
                </a:solidFill>
                <a:latin typeface="DejaVu Sans"/>
                <a:ea typeface="DejaVu Sans"/>
                <a:cs typeface="DejaVu Sans"/>
              </a:rPr>
              <a:t>Es geht um das Verhältnis von Ziel und Mitteln. Billig ist nicht automatisch vernünftig.</a:t>
            </a:r>
          </a:p>
        </p:txBody>
      </p:sp>
      <p:sp>
        <p:nvSpPr>
          <p:cNvPr id="10" name="">
            <a:extLst xmlns:a="http://schemas.openxmlformats.org/drawingml/2006/main">
              <a:ext uri="{FF2B5EF4-FFF2-40B4-BE49-F238E27FC236}">
                <a16:creationId xmlns:a16="http://schemas.microsoft.com/office/drawing/2014/main" id="{1025AF16-D7E9-454F-90F9-7107F69FBA7D}"/>
              </a:ext>
            </a:extLst>
          </p:cNvPr>
          <p:cNvSpPr>
            <a:spLocks xmlns:a="http://schemas.openxmlformats.org/drawingml/2006/main" noGrp="1"/>
          </p:cNvSpPr>
          <p:nvPr/>
        </p:nvSpPr>
        <p:spPr>
          <a:xfrm xmlns:a="http://schemas.openxmlformats.org/drawingml/2006/main">
            <a:off x="666750" y="6553200"/>
            <a:ext cx="3429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Wirtschaft · Beruf · Klasse 7</a:t>
            </a:r>
          </a:p>
        </p:txBody>
      </p:sp>
      <p:sp>
        <p:nvSpPr>
          <p:cNvPr id="11" name="">
            <a:extLst xmlns:a="http://schemas.openxmlformats.org/drawingml/2006/main">
              <a:ext uri="{FF2B5EF4-FFF2-40B4-BE49-F238E27FC236}">
                <a16:creationId xmlns:a16="http://schemas.microsoft.com/office/drawing/2014/main" id="{FDEBEC85-EE49-4FA6-855C-80D03D7C1406}"/>
              </a:ext>
            </a:extLst>
          </p:cNvPr>
          <p:cNvSpPr>
            <a:spLocks xmlns:a="http://schemas.openxmlformats.org/drawingml/2006/main" noGrp="1"/>
          </p:cNvSpPr>
          <p:nvPr/>
        </p:nvSpPr>
        <p:spPr>
          <a:xfrm xmlns:a="http://schemas.openxmlformats.org/drawingml/2006/main">
            <a:off x="11239500" y="655320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6</a:t>
            </a:r>
          </a:p>
        </p:txBody>
      </p:sp>
    </p:spTree>
    <p:extLst>
      <p:ext uri="{BB962C8B-B14F-4D97-AF65-F5344CB8AC3E}">
        <p14:creationId xmlns:p14="http://schemas.microsoft.com/office/powerpoint/2010/main" val="77902740"/>
      </p:ext>
    </p:extLst>
  </p:cSld>
</p:sld>
</file>

<file path=ppt/slides/slide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D13C799-7B0F-4A4E-8DA9-84F7EE6EAAA1}"/>
              </a:ext>
            </a:extLst>
          </p:cNvPr>
          <p:cNvSpPr>
            <a:spLocks xmlns:a="http://schemas.openxmlformats.org/drawingml/2006/main" noGrp="1"/>
          </p:cNvSpPr>
          <p:nvPr/>
        </p:nvSpPr>
        <p:spPr>
          <a:xfrm xmlns:a="http://schemas.openxmlformats.org/drawingml/2006/main">
            <a:off x="666750" y="361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75" b="1">
                <a:solidFill>
                  <a:srgbClr val="28C69F"/>
                </a:solidFill>
                <a:latin typeface="DejaVu Sans"/>
                <a:ea typeface="DejaVu Sans"/>
                <a:cs typeface="DejaVu Sans"/>
              </a:defRPr>
            </a:pPr>
            <a:r>
              <a:rPr sz="975" b="1">
                <a:solidFill>
                  <a:srgbClr val="28C69F"/>
                </a:solidFill>
                <a:latin typeface="DejaVu Sans"/>
                <a:ea typeface="DejaVu Sans"/>
                <a:cs typeface="DejaVu Sans"/>
              </a:rPr>
              <a:t>ANWENDEN</a:t>
            </a:r>
          </a:p>
        </p:txBody>
      </p:sp>
      <p:sp>
        <p:nvSpPr>
          <p:cNvPr id="2" name="">
            <a:extLst xmlns:a="http://schemas.openxmlformats.org/drawingml/2006/main">
              <a:ext uri="{FF2B5EF4-FFF2-40B4-BE49-F238E27FC236}">
                <a16:creationId xmlns:a16="http://schemas.microsoft.com/office/drawing/2014/main" id="{4D943037-3AF2-406C-8CCC-CD750A891892}"/>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000" b="1">
                <a:solidFill>
                  <a:srgbClr val="0D1726"/>
                </a:solidFill>
                <a:latin typeface="DejaVu Sans"/>
                <a:ea typeface="DejaVu Sans"/>
                <a:cs typeface="DejaVu Sans"/>
              </a:defRPr>
            </a:pPr>
            <a:r>
              <a:rPr sz="3000" b="1">
                <a:solidFill>
                  <a:srgbClr val="0D1726"/>
                </a:solidFill>
                <a:latin typeface="DejaVu Sans"/>
                <a:ea typeface="DejaVu Sans"/>
                <a:cs typeface="DejaVu Sans"/>
              </a:rPr>
              <a:t>Welches Prinzip passt?</a:t>
            </a:r>
          </a:p>
        </p:txBody>
      </p:sp>
      <p:sp>
        <p:nvSpPr>
          <p:cNvPr id="3" name="">
            <a:extLst xmlns:a="http://schemas.openxmlformats.org/drawingml/2006/main">
              <a:ext uri="{FF2B5EF4-FFF2-40B4-BE49-F238E27FC236}">
                <a16:creationId xmlns:a16="http://schemas.microsoft.com/office/drawing/2014/main" id="{DC13DA51-2F5B-4A89-B63C-C7C5263E730E}"/>
              </a:ext>
            </a:extLst>
          </p:cNvPr>
          <p:cNvSpPr>
            <a:spLocks xmlns:a="http://schemas.openxmlformats.org/drawingml/2006/main" noGrp="1"/>
          </p:cNvSpPr>
          <p:nvPr/>
        </p:nvSpPr>
        <p:spPr>
          <a:xfrm xmlns:a="http://schemas.openxmlformats.org/drawingml/2006/main">
            <a:off x="762000" y="1752600"/>
            <a:ext cx="4953000" cy="16573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28C69F"/>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800" b="1">
                <a:solidFill>
                  <a:srgbClr val="0D1726"/>
                </a:solidFill>
                <a:latin typeface="DejaVu Sans"/>
                <a:ea typeface="DejaVu Sans"/>
                <a:cs typeface="DejaVu Sans"/>
              </a:defRPr>
            </a:pPr>
            <a:r>
              <a:rPr sz="1800" b="1">
                <a:solidFill>
                  <a:srgbClr val="0D1726"/>
                </a:solidFill>
                <a:latin typeface="DejaVu Sans"/>
                <a:ea typeface="DejaVu Sans"/>
                <a:cs typeface="DejaVu Sans"/>
              </a:rPr>
              <a:t>A</a:t>
            </a:r>
          </a:p>
          <a:p xmlns:a="http://schemas.openxmlformats.org/drawingml/2006/main">
            <a:pPr algn="ctr">
              <a:lnSpc>
                <a:spcPct val="108000"/>
              </a:lnSpc>
              <a:buNone/>
              <a:defRPr sz="1800" b="1">
                <a:solidFill>
                  <a:srgbClr val="0D1726"/>
                </a:solidFill>
                <a:latin typeface="DejaVu Sans"/>
                <a:ea typeface="DejaVu Sans"/>
                <a:cs typeface="DejaVu Sans"/>
              </a:defRPr>
            </a:pPr>
            <a:r>
              <a:rPr sz="1800" b="1">
                <a:solidFill>
                  <a:srgbClr val="0D1726"/>
                </a:solidFill>
                <a:latin typeface="DejaVu Sans"/>
                <a:ea typeface="DejaVu Sans"/>
                <a:cs typeface="DejaVu Sans"/>
              </a:rPr>
              <a:t>Mina hat 25 Euro. Sie sucht dafür die haltbarsten Kopfhörer.</a:t>
            </a:r>
          </a:p>
        </p:txBody>
      </p:sp>
      <p:sp>
        <p:nvSpPr>
          <p:cNvPr id="4" name="">
            <a:extLst xmlns:a="http://schemas.openxmlformats.org/drawingml/2006/main">
              <a:ext uri="{FF2B5EF4-FFF2-40B4-BE49-F238E27FC236}">
                <a16:creationId xmlns:a16="http://schemas.microsoft.com/office/drawing/2014/main" id="{125F4F14-B5DC-4487-9B46-4D1A3022164A}"/>
              </a:ext>
            </a:extLst>
          </p:cNvPr>
          <p:cNvSpPr>
            <a:spLocks xmlns:a="http://schemas.openxmlformats.org/drawingml/2006/main" noGrp="1"/>
          </p:cNvSpPr>
          <p:nvPr/>
        </p:nvSpPr>
        <p:spPr>
          <a:xfrm xmlns:a="http://schemas.openxmlformats.org/drawingml/2006/main">
            <a:off x="6477000" y="1752600"/>
            <a:ext cx="4953000" cy="16573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6E8BF7"/>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800" b="1">
                <a:solidFill>
                  <a:srgbClr val="0D1726"/>
                </a:solidFill>
                <a:latin typeface="DejaVu Sans"/>
                <a:ea typeface="DejaVu Sans"/>
                <a:cs typeface="DejaVu Sans"/>
              </a:defRPr>
            </a:pPr>
            <a:r>
              <a:rPr sz="1800" b="1">
                <a:solidFill>
                  <a:srgbClr val="0D1726"/>
                </a:solidFill>
                <a:latin typeface="DejaVu Sans"/>
                <a:ea typeface="DejaVu Sans"/>
                <a:cs typeface="DejaVu Sans"/>
              </a:rPr>
              <a:t>B</a:t>
            </a:r>
          </a:p>
          <a:p xmlns:a="http://schemas.openxmlformats.org/drawingml/2006/main">
            <a:pPr algn="ctr">
              <a:lnSpc>
                <a:spcPct val="108000"/>
              </a:lnSpc>
              <a:buNone/>
              <a:defRPr sz="1800" b="1">
                <a:solidFill>
                  <a:srgbClr val="0D1726"/>
                </a:solidFill>
                <a:latin typeface="DejaVu Sans"/>
                <a:ea typeface="DejaVu Sans"/>
                <a:cs typeface="DejaVu Sans"/>
              </a:defRPr>
            </a:pPr>
            <a:r>
              <a:rPr sz="1800" b="1">
                <a:solidFill>
                  <a:srgbClr val="0D1726"/>
                </a:solidFill>
                <a:latin typeface="DejaVu Sans"/>
                <a:ea typeface="DejaVu Sans"/>
                <a:cs typeface="DejaVu Sans"/>
              </a:rPr>
              <a:t>Noah will genau dieses Schulbuch kaufen und vergleicht die Preise.</a:t>
            </a:r>
          </a:p>
        </p:txBody>
      </p:sp>
      <p:sp>
        <p:nvSpPr>
          <p:cNvPr id="5" name="">
            <a:extLst xmlns:a="http://schemas.openxmlformats.org/drawingml/2006/main">
              <a:ext uri="{FF2B5EF4-FFF2-40B4-BE49-F238E27FC236}">
                <a16:creationId xmlns:a16="http://schemas.microsoft.com/office/drawing/2014/main" id="{33FD8BC5-CF3E-4213-9E54-876A1A3C6405}"/>
              </a:ext>
            </a:extLst>
          </p:cNvPr>
          <p:cNvSpPr>
            <a:spLocks xmlns:a="http://schemas.openxmlformats.org/drawingml/2006/main" noGrp="1"/>
          </p:cNvSpPr>
          <p:nvPr/>
        </p:nvSpPr>
        <p:spPr>
          <a:xfrm xmlns:a="http://schemas.openxmlformats.org/drawingml/2006/main">
            <a:off x="1714500" y="4000500"/>
            <a:ext cx="876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550" b="1">
                <a:solidFill>
                  <a:srgbClr val="0D1726"/>
                </a:solidFill>
                <a:latin typeface="DejaVu Sans"/>
                <a:ea typeface="DejaVu Sans"/>
                <a:cs typeface="DejaVu Sans"/>
              </a:defRPr>
            </a:pPr>
            <a:r>
              <a:rPr sz="2550" b="1">
                <a:solidFill>
                  <a:srgbClr val="0D1726"/>
                </a:solidFill>
                <a:latin typeface="DejaVu Sans"/>
                <a:ea typeface="DejaVu Sans"/>
                <a:cs typeface="DejaVu Sans"/>
              </a:rPr>
              <a:t>Maximum oder Minimum?</a:t>
            </a:r>
          </a:p>
        </p:txBody>
      </p:sp>
      <p:sp>
        <p:nvSpPr>
          <p:cNvPr id="6" name="">
            <a:extLst xmlns:a="http://schemas.openxmlformats.org/drawingml/2006/main">
              <a:ext uri="{FF2B5EF4-FFF2-40B4-BE49-F238E27FC236}">
                <a16:creationId xmlns:a16="http://schemas.microsoft.com/office/drawing/2014/main" id="{B3091A7E-D49E-427C-A927-B967408034EC}"/>
              </a:ext>
            </a:extLst>
          </p:cNvPr>
          <p:cNvSpPr>
            <a:spLocks xmlns:a="http://schemas.openxmlformats.org/drawingml/2006/main" noGrp="1"/>
          </p:cNvSpPr>
          <p:nvPr/>
        </p:nvSpPr>
        <p:spPr>
          <a:xfrm xmlns:a="http://schemas.openxmlformats.org/drawingml/2006/main">
            <a:off x="2190750" y="464820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800" b="0">
                <a:solidFill>
                  <a:srgbClr val="5D6879"/>
                </a:solidFill>
                <a:latin typeface="DejaVu Sans"/>
                <a:ea typeface="DejaVu Sans"/>
                <a:cs typeface="DejaVu Sans"/>
              </a:defRPr>
            </a:pPr>
            <a:r>
              <a:rPr sz="1800" b="0">
                <a:solidFill>
                  <a:srgbClr val="5D6879"/>
                </a:solidFill>
                <a:latin typeface="DejaVu Sans"/>
                <a:ea typeface="DejaVu Sans"/>
                <a:cs typeface="DejaVu Sans"/>
              </a:rPr>
              <a:t>Formuliere jeweils das feste Ziel oder die festen Mittel.</a:t>
            </a:r>
          </a:p>
        </p:txBody>
      </p:sp>
      <p:sp>
        <p:nvSpPr>
          <p:cNvPr id="7" name="">
            <a:extLst xmlns:a="http://schemas.openxmlformats.org/drawingml/2006/main">
              <a:ext uri="{FF2B5EF4-FFF2-40B4-BE49-F238E27FC236}">
                <a16:creationId xmlns:a16="http://schemas.microsoft.com/office/drawing/2014/main" id="{5C395654-7071-45EE-AA55-E074D725F1A0}"/>
              </a:ext>
            </a:extLst>
          </p:cNvPr>
          <p:cNvSpPr>
            <a:spLocks xmlns:a="http://schemas.openxmlformats.org/drawingml/2006/main" noGrp="1"/>
          </p:cNvSpPr>
          <p:nvPr/>
        </p:nvSpPr>
        <p:spPr>
          <a:xfrm xmlns:a="http://schemas.openxmlformats.org/drawingml/2006/main">
            <a:off x="2724150" y="5391150"/>
            <a:ext cx="2857500" cy="533400"/>
          </a:xfrm>
          <a:prstGeom xmlns:a="http://schemas.openxmlformats.org/drawingml/2006/main" prst="roundRect">
            <a:avLst>
              <a:gd name="adj" fmla="val 32143"/>
            </a:avLst>
          </a:prstGeom>
          <a:solidFill xmlns:a="http://schemas.openxmlformats.org/drawingml/2006/main">
            <a:srgbClr val="E7F8F3"/>
          </a:solidFill>
          <a:ln xmlns:a="http://schemas.openxmlformats.org/drawingml/2006/main" w="9525">
            <a:solidFill>
              <a:srgbClr val="28C69F"/>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500" b="1">
                <a:solidFill>
                  <a:srgbClr val="0D1726"/>
                </a:solidFill>
                <a:latin typeface="DejaVu Sans"/>
                <a:ea typeface="DejaVu Sans"/>
                <a:cs typeface="DejaVu Sans"/>
              </a:defRPr>
            </a:pPr>
            <a:r>
              <a:rPr sz="1500" b="1">
                <a:solidFill>
                  <a:srgbClr val="0D1726"/>
                </a:solidFill>
                <a:latin typeface="DejaVu Sans"/>
                <a:ea typeface="DejaVu Sans"/>
                <a:cs typeface="DejaVu Sans"/>
              </a:rPr>
              <a:t>A: feste Mittel</a:t>
            </a:r>
          </a:p>
        </p:txBody>
      </p:sp>
      <p:sp>
        <p:nvSpPr>
          <p:cNvPr id="8" name="">
            <a:extLst xmlns:a="http://schemas.openxmlformats.org/drawingml/2006/main">
              <a:ext uri="{FF2B5EF4-FFF2-40B4-BE49-F238E27FC236}">
                <a16:creationId xmlns:a16="http://schemas.microsoft.com/office/drawing/2014/main" id="{773382E9-CB56-4635-A9AC-2893F7E4094E}"/>
              </a:ext>
            </a:extLst>
          </p:cNvPr>
          <p:cNvSpPr>
            <a:spLocks xmlns:a="http://schemas.openxmlformats.org/drawingml/2006/main" noGrp="1"/>
          </p:cNvSpPr>
          <p:nvPr/>
        </p:nvSpPr>
        <p:spPr>
          <a:xfrm xmlns:a="http://schemas.openxmlformats.org/drawingml/2006/main">
            <a:off x="6610350" y="5391150"/>
            <a:ext cx="2857500" cy="533400"/>
          </a:xfrm>
          <a:prstGeom xmlns:a="http://schemas.openxmlformats.org/drawingml/2006/main" prst="roundRect">
            <a:avLst>
              <a:gd name="adj" fmla="val 32143"/>
            </a:avLst>
          </a:prstGeom>
          <a:solidFill xmlns:a="http://schemas.openxmlformats.org/drawingml/2006/main">
            <a:srgbClr val="EAF0FF"/>
          </a:solidFill>
          <a:ln xmlns:a="http://schemas.openxmlformats.org/drawingml/2006/main" w="9525">
            <a:solidFill>
              <a:srgbClr val="6E8BF7"/>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500" b="1">
                <a:solidFill>
                  <a:srgbClr val="0D1726"/>
                </a:solidFill>
                <a:latin typeface="DejaVu Sans"/>
                <a:ea typeface="DejaVu Sans"/>
                <a:cs typeface="DejaVu Sans"/>
              </a:defRPr>
            </a:pPr>
            <a:r>
              <a:rPr sz="1500" b="1">
                <a:solidFill>
                  <a:srgbClr val="0D1726"/>
                </a:solidFill>
                <a:latin typeface="DejaVu Sans"/>
                <a:ea typeface="DejaVu Sans"/>
                <a:cs typeface="DejaVu Sans"/>
              </a:rPr>
              <a:t>B: festes Ziel</a:t>
            </a:r>
          </a:p>
        </p:txBody>
      </p:sp>
      <p:sp>
        <p:nvSpPr>
          <p:cNvPr id="9" name="">
            <a:extLst xmlns:a="http://schemas.openxmlformats.org/drawingml/2006/main">
              <a:ext uri="{FF2B5EF4-FFF2-40B4-BE49-F238E27FC236}">
                <a16:creationId xmlns:a16="http://schemas.microsoft.com/office/drawing/2014/main" id="{07489C57-3309-4F26-A2A0-9B7E5B28C3D8}"/>
              </a:ext>
            </a:extLst>
          </p:cNvPr>
          <p:cNvSpPr>
            <a:spLocks xmlns:a="http://schemas.openxmlformats.org/drawingml/2006/main" noGrp="1"/>
          </p:cNvSpPr>
          <p:nvPr/>
        </p:nvSpPr>
        <p:spPr>
          <a:xfrm xmlns:a="http://schemas.openxmlformats.org/drawingml/2006/main">
            <a:off x="666750" y="6553200"/>
            <a:ext cx="3429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Wirtschaft · Beruf · Klasse 7</a:t>
            </a:r>
          </a:p>
        </p:txBody>
      </p:sp>
      <p:sp>
        <p:nvSpPr>
          <p:cNvPr id="10" name="">
            <a:extLst xmlns:a="http://schemas.openxmlformats.org/drawingml/2006/main">
              <a:ext uri="{FF2B5EF4-FFF2-40B4-BE49-F238E27FC236}">
                <a16:creationId xmlns:a16="http://schemas.microsoft.com/office/drawing/2014/main" id="{FFAB3DD2-45E2-4179-A7AE-D30B5B42C367}"/>
              </a:ext>
            </a:extLst>
          </p:cNvPr>
          <p:cNvSpPr>
            <a:spLocks xmlns:a="http://schemas.openxmlformats.org/drawingml/2006/main" noGrp="1"/>
          </p:cNvSpPr>
          <p:nvPr/>
        </p:nvSpPr>
        <p:spPr>
          <a:xfrm xmlns:a="http://schemas.openxmlformats.org/drawingml/2006/main">
            <a:off x="11239500" y="655320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7</a:t>
            </a:r>
          </a:p>
        </p:txBody>
      </p:sp>
    </p:spTree>
    <p:extLst>
      <p:ext uri="{BB962C8B-B14F-4D97-AF65-F5344CB8AC3E}">
        <p14:creationId xmlns:p14="http://schemas.microsoft.com/office/powerpoint/2010/main" val="1621333919"/>
      </p:ext>
    </p:extLst>
  </p:cSld>
</p:sld>
</file>

<file path=ppt/slides/slide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21422C7-3911-4B71-B013-FC4732E78023}"/>
              </a:ext>
            </a:extLst>
          </p:cNvPr>
          <p:cNvSpPr>
            <a:spLocks xmlns:a="http://schemas.openxmlformats.org/drawingml/2006/main" noGrp="1"/>
          </p:cNvSpPr>
          <p:nvPr/>
        </p:nvSpPr>
        <p:spPr>
          <a:xfrm xmlns:a="http://schemas.openxmlformats.org/drawingml/2006/main">
            <a:off x="666750" y="361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75" b="1">
                <a:solidFill>
                  <a:srgbClr val="28C69F"/>
                </a:solidFill>
                <a:latin typeface="DejaVu Sans"/>
                <a:ea typeface="DejaVu Sans"/>
                <a:cs typeface="DejaVu Sans"/>
              </a:defRPr>
            </a:pPr>
            <a:r>
              <a:rPr sz="975" b="1">
                <a:solidFill>
                  <a:srgbClr val="28C69F"/>
                </a:solidFill>
                <a:latin typeface="DejaVu Sans"/>
                <a:ea typeface="DejaVu Sans"/>
                <a:cs typeface="DejaVu Sans"/>
              </a:rPr>
              <a:t>BUDGET</a:t>
            </a:r>
          </a:p>
        </p:txBody>
      </p:sp>
      <p:sp>
        <p:nvSpPr>
          <p:cNvPr id="2" name="">
            <a:extLst xmlns:a="http://schemas.openxmlformats.org/drawingml/2006/main">
              <a:ext uri="{FF2B5EF4-FFF2-40B4-BE49-F238E27FC236}">
                <a16:creationId xmlns:a16="http://schemas.microsoft.com/office/drawing/2014/main" id="{040D9100-62D6-4F9E-A14A-9DD00744F0B9}"/>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000" b="1">
                <a:solidFill>
                  <a:srgbClr val="0D1726"/>
                </a:solidFill>
                <a:latin typeface="DejaVu Sans"/>
                <a:ea typeface="DejaVu Sans"/>
                <a:cs typeface="DejaVu Sans"/>
              </a:defRPr>
            </a:pPr>
            <a:r>
              <a:rPr sz="3000" b="1">
                <a:solidFill>
                  <a:srgbClr val="0D1726"/>
                </a:solidFill>
                <a:latin typeface="DejaVu Sans"/>
                <a:ea typeface="DejaVu Sans"/>
                <a:cs typeface="DejaVu Sans"/>
              </a:rPr>
              <a:t>Ein Haushaltsplan zeigt den Spielraum</a:t>
            </a:r>
          </a:p>
        </p:txBody>
      </p:sp>
      <p:graphicFrame>
        <p:nvGraphicFramePr>
          <p:cNvPr id="11" name=""/>
          <p:cNvGraphicFramePr/>
          <p:nvPr/>
        </p:nvGraphicFramePr>
        <p:xfrm>
          <a:off xmlns:a="http://schemas.openxmlformats.org/drawingml/2006/main" x="952500" y="1543050"/>
          <a:ext xmlns:a="http://schemas.openxmlformats.org/drawingml/2006/main" cx="7239000" cy="3790950"/>
        </p:xfrm>
        <a:graphic xmlns:a="http://schemas.openxmlformats.org/drawingml/2006/main">
          <a:graphicData uri="http://schemas.openxmlformats.org/drawingml/2006/table">
            <a:tbl>
              <a:tblPr/>
              <a:tblGrid>
                <a:gridCol w="2413000"/>
                <a:gridCol w="2413000"/>
                <a:gridCol w="2413000"/>
              </a:tblGrid>
              <a:tr h="631825">
                <a:tc>
                  <a:txBody>
                    <a:bodyPr lIns="76200" tIns="47625" rIns="76200" bIns="47625">
                      <a:noAutofit/>
                    </a:bodyPr>
                    <a:lstStyle/>
                    <a:p>
                      <a:pPr algn="l"/>
                      <a:r>
                        <a:rPr sz="1500" b="1">
                          <a:solidFill>
                            <a:srgbClr val="FFFFFF"/>
                          </a:solidFill>
                          <a:latin typeface="DejaVu Sans"/>
                          <a:ea typeface="DejaVu Sans"/>
                          <a:cs typeface="DejaVu Sans"/>
                        </a:rPr>
                        <a:t>Position</a:t>
                      </a:r>
                    </a:p>
                  </a:txBody>
                  <a:tcPr marL="91440" marR="91440" marT="45720" marB="45720" anchor="ctr">
                    <a:solidFill>
                      <a:srgbClr val="0D1726"/>
                    </a:solidFill>
                  </a:tcPr>
                </a:tc>
                <a:tc>
                  <a:txBody>
                    <a:bodyPr lIns="76200" tIns="47625" rIns="76200" bIns="47625">
                      <a:noAutofit/>
                    </a:bodyPr>
                    <a:lstStyle/>
                    <a:p>
                      <a:pPr algn="ctr"/>
                      <a:r>
                        <a:rPr sz="1500" b="1">
                          <a:solidFill>
                            <a:srgbClr val="FFFFFF"/>
                          </a:solidFill>
                          <a:latin typeface="DejaVu Sans"/>
                          <a:ea typeface="DejaVu Sans"/>
                          <a:cs typeface="DejaVu Sans"/>
                        </a:rPr>
                        <a:t>Einnahmen</a:t>
                      </a:r>
                    </a:p>
                  </a:txBody>
                  <a:tcPr marL="91440" marR="91440" marT="45720" marB="45720" anchor="ctr">
                    <a:solidFill>
                      <a:srgbClr val="0D1726"/>
                    </a:solidFill>
                  </a:tcPr>
                </a:tc>
                <a:tc>
                  <a:txBody>
                    <a:bodyPr lIns="76200" tIns="47625" rIns="76200" bIns="47625">
                      <a:noAutofit/>
                    </a:bodyPr>
                    <a:lstStyle/>
                    <a:p>
                      <a:pPr algn="ctr"/>
                      <a:r>
                        <a:rPr sz="1500" b="1">
                          <a:solidFill>
                            <a:srgbClr val="FFFFFF"/>
                          </a:solidFill>
                          <a:latin typeface="DejaVu Sans"/>
                          <a:ea typeface="DejaVu Sans"/>
                          <a:cs typeface="DejaVu Sans"/>
                        </a:rPr>
                        <a:t>Ausgaben</a:t>
                      </a:r>
                    </a:p>
                  </a:txBody>
                  <a:tcPr marL="91440" marR="91440" marT="45720" marB="45720" anchor="ctr">
                    <a:solidFill>
                      <a:srgbClr val="0D1726"/>
                    </a:solidFill>
                  </a:tcPr>
                </a:tc>
              </a:tr>
              <a:tr h="631825">
                <a:tc>
                  <a:txBody>
                    <a:bodyPr lIns="76200" tIns="47625" rIns="76200" bIns="47625">
                      <a:noAutofit/>
                    </a:bodyPr>
                    <a:lstStyle/>
                    <a:p>
                      <a:pPr algn="l"/>
                      <a:r>
                        <a:rPr sz="1425" b="0">
                          <a:solidFill>
                            <a:srgbClr val="0D1726"/>
                          </a:solidFill>
                          <a:latin typeface="DejaVu Sans"/>
                          <a:ea typeface="DejaVu Sans"/>
                          <a:cs typeface="DejaVu Sans"/>
                        </a:rPr>
                        <a:t>Taschengeld</a:t>
                      </a:r>
                    </a:p>
                  </a:txBody>
                  <a:tcPr marL="91440" marR="91440" marT="45720" marB="45720" anchor="ctr">
                    <a:solidFill>
                      <a:srgbClr val="FFFFFF"/>
                    </a:solidFill>
                  </a:tcPr>
                </a:tc>
                <a:tc>
                  <a:txBody>
                    <a:bodyPr lIns="76200" tIns="47625" rIns="76200" bIns="47625">
                      <a:noAutofit/>
                    </a:bodyPr>
                    <a:lstStyle/>
                    <a:p>
                      <a:pPr algn="ctr"/>
                      <a:r>
                        <a:rPr sz="1425" b="0">
                          <a:solidFill>
                            <a:srgbClr val="0D1726"/>
                          </a:solidFill>
                          <a:latin typeface="DejaVu Sans"/>
                          <a:ea typeface="DejaVu Sans"/>
                          <a:cs typeface="DejaVu Sans"/>
                        </a:rPr>
                        <a:t>35 €</a:t>
                      </a:r>
                    </a:p>
                  </a:txBody>
                  <a:tcPr marL="91440" marR="91440" marT="45720" marB="45720" anchor="ctr">
                    <a:solidFill>
                      <a:srgbClr val="FFFFFF"/>
                    </a:solidFill>
                  </a:tcPr>
                </a:tc>
                <a:tc>
                  <a:txBody>
                    <a:bodyPr lIns="76200" tIns="47625" rIns="76200" bIns="47625">
                      <a:noAutofit/>
                    </a:bodyPr>
                    <a:lstStyle/>
                    <a:p>
                      <a:r>
                        <a:rPr sz="1425" b="0">
                          <a:solidFill>
                            <a:srgbClr val="0D1726"/>
                          </a:solidFill>
                          <a:latin typeface="DejaVu Sans"/>
                          <a:ea typeface="DejaVu Sans"/>
                          <a:cs typeface="DejaVu Sans"/>
                        </a:rPr>
                        <a:t/>
                      </a:r>
                    </a:p>
                  </a:txBody>
                  <a:tcPr marL="91440" marR="91440" marT="45720" marB="45720" anchor="ctr">
                    <a:solidFill>
                      <a:srgbClr val="FFFFFF"/>
                    </a:solidFill>
                  </a:tcPr>
                </a:tc>
              </a:tr>
              <a:tr h="631825">
                <a:tc>
                  <a:txBody>
                    <a:bodyPr lIns="76200" tIns="47625" rIns="76200" bIns="47625">
                      <a:noAutofit/>
                    </a:bodyPr>
                    <a:lstStyle/>
                    <a:p>
                      <a:pPr algn="l"/>
                      <a:r>
                        <a:rPr sz="1425" b="0">
                          <a:solidFill>
                            <a:srgbClr val="0D1726"/>
                          </a:solidFill>
                          <a:latin typeface="DejaVu Sans"/>
                          <a:ea typeface="DejaVu Sans"/>
                          <a:cs typeface="DejaVu Sans"/>
                        </a:rPr>
                        <a:t>Babysitten</a:t>
                      </a:r>
                    </a:p>
                  </a:txBody>
                  <a:tcPr marL="91440" marR="91440" marT="45720" marB="45720" anchor="ctr">
                    <a:solidFill>
                      <a:srgbClr val="FFFFFF"/>
                    </a:solidFill>
                  </a:tcPr>
                </a:tc>
                <a:tc>
                  <a:txBody>
                    <a:bodyPr lIns="76200" tIns="47625" rIns="76200" bIns="47625">
                      <a:noAutofit/>
                    </a:bodyPr>
                    <a:lstStyle/>
                    <a:p>
                      <a:pPr algn="ctr"/>
                      <a:r>
                        <a:rPr sz="1425" b="0">
                          <a:solidFill>
                            <a:srgbClr val="0D1726"/>
                          </a:solidFill>
                          <a:latin typeface="DejaVu Sans"/>
                          <a:ea typeface="DejaVu Sans"/>
                          <a:cs typeface="DejaVu Sans"/>
                        </a:rPr>
                        <a:t>18 €</a:t>
                      </a:r>
                    </a:p>
                  </a:txBody>
                  <a:tcPr marL="91440" marR="91440" marT="45720" marB="45720" anchor="ctr">
                    <a:solidFill>
                      <a:srgbClr val="FFFFFF"/>
                    </a:solidFill>
                  </a:tcPr>
                </a:tc>
                <a:tc>
                  <a:txBody>
                    <a:bodyPr lIns="76200" tIns="47625" rIns="76200" bIns="47625">
                      <a:noAutofit/>
                    </a:bodyPr>
                    <a:lstStyle/>
                    <a:p>
                      <a:r>
                        <a:rPr sz="1425" b="0">
                          <a:solidFill>
                            <a:srgbClr val="0D1726"/>
                          </a:solidFill>
                          <a:latin typeface="DejaVu Sans"/>
                          <a:ea typeface="DejaVu Sans"/>
                          <a:cs typeface="DejaVu Sans"/>
                        </a:rPr>
                        <a:t/>
                      </a:r>
                    </a:p>
                  </a:txBody>
                  <a:tcPr marL="91440" marR="91440" marT="45720" marB="45720" anchor="ctr">
                    <a:solidFill>
                      <a:srgbClr val="FFFFFF"/>
                    </a:solidFill>
                  </a:tcPr>
                </a:tc>
              </a:tr>
              <a:tr h="631825">
                <a:tc>
                  <a:txBody>
                    <a:bodyPr lIns="76200" tIns="47625" rIns="76200" bIns="47625">
                      <a:noAutofit/>
                    </a:bodyPr>
                    <a:lstStyle/>
                    <a:p>
                      <a:pPr algn="l"/>
                      <a:r>
                        <a:rPr sz="1425" b="0">
                          <a:solidFill>
                            <a:srgbClr val="0D1726"/>
                          </a:solidFill>
                          <a:latin typeface="DejaVu Sans"/>
                          <a:ea typeface="DejaVu Sans"/>
                          <a:cs typeface="DejaVu Sans"/>
                        </a:rPr>
                        <a:t>Handy</a:t>
                      </a:r>
                    </a:p>
                  </a:txBody>
                  <a:tcPr marL="91440" marR="91440" marT="45720" marB="45720" anchor="ctr">
                    <a:solidFill>
                      <a:srgbClr val="FFFFFF"/>
                    </a:solidFill>
                  </a:tcPr>
                </a:tc>
                <a:tc>
                  <a:txBody>
                    <a:bodyPr lIns="76200" tIns="47625" rIns="76200" bIns="47625">
                      <a:noAutofit/>
                    </a:bodyPr>
                    <a:lstStyle/>
                    <a:p>
                      <a:r>
                        <a:rPr sz="1425" b="0">
                          <a:solidFill>
                            <a:srgbClr val="0D1726"/>
                          </a:solidFill>
                          <a:latin typeface="DejaVu Sans"/>
                          <a:ea typeface="DejaVu Sans"/>
                          <a:cs typeface="DejaVu Sans"/>
                        </a:rPr>
                        <a:t/>
                      </a:r>
                    </a:p>
                  </a:txBody>
                  <a:tcPr marL="91440" marR="91440" marT="45720" marB="45720" anchor="ctr">
                    <a:solidFill>
                      <a:srgbClr val="FFFFFF"/>
                    </a:solidFill>
                  </a:tcPr>
                </a:tc>
                <a:tc>
                  <a:txBody>
                    <a:bodyPr lIns="76200" tIns="47625" rIns="76200" bIns="47625">
                      <a:noAutofit/>
                    </a:bodyPr>
                    <a:lstStyle/>
                    <a:p>
                      <a:pPr algn="ctr"/>
                      <a:r>
                        <a:rPr sz="1425" b="0">
                          <a:solidFill>
                            <a:srgbClr val="0D1726"/>
                          </a:solidFill>
                          <a:latin typeface="DejaVu Sans"/>
                          <a:ea typeface="DejaVu Sans"/>
                          <a:cs typeface="DejaVu Sans"/>
                        </a:rPr>
                        <a:t>8 €</a:t>
                      </a:r>
                    </a:p>
                  </a:txBody>
                  <a:tcPr marL="91440" marR="91440" marT="45720" marB="45720" anchor="ctr">
                    <a:solidFill>
                      <a:srgbClr val="FFFFFF"/>
                    </a:solidFill>
                  </a:tcPr>
                </a:tc>
              </a:tr>
              <a:tr h="631825">
                <a:tc>
                  <a:txBody>
                    <a:bodyPr lIns="76200" tIns="47625" rIns="76200" bIns="47625">
                      <a:noAutofit/>
                    </a:bodyPr>
                    <a:lstStyle/>
                    <a:p>
                      <a:pPr algn="l"/>
                      <a:r>
                        <a:rPr sz="1425" b="0">
                          <a:solidFill>
                            <a:srgbClr val="0D1726"/>
                          </a:solidFill>
                          <a:latin typeface="DejaVu Sans"/>
                          <a:ea typeface="DejaVu Sans"/>
                          <a:cs typeface="DejaVu Sans"/>
                        </a:rPr>
                        <a:t>Sportverein</a:t>
                      </a:r>
                    </a:p>
                  </a:txBody>
                  <a:tcPr marL="91440" marR="91440" marT="45720" marB="45720" anchor="ctr">
                    <a:solidFill>
                      <a:srgbClr val="FFFFFF"/>
                    </a:solidFill>
                  </a:tcPr>
                </a:tc>
                <a:tc>
                  <a:txBody>
                    <a:bodyPr lIns="76200" tIns="47625" rIns="76200" bIns="47625">
                      <a:noAutofit/>
                    </a:bodyPr>
                    <a:lstStyle/>
                    <a:p>
                      <a:r>
                        <a:rPr sz="1425" b="0">
                          <a:solidFill>
                            <a:srgbClr val="0D1726"/>
                          </a:solidFill>
                          <a:latin typeface="DejaVu Sans"/>
                          <a:ea typeface="DejaVu Sans"/>
                          <a:cs typeface="DejaVu Sans"/>
                        </a:rPr>
                        <a:t/>
                      </a:r>
                    </a:p>
                  </a:txBody>
                  <a:tcPr marL="91440" marR="91440" marT="45720" marB="45720" anchor="ctr">
                    <a:solidFill>
                      <a:srgbClr val="FFFFFF"/>
                    </a:solidFill>
                  </a:tcPr>
                </a:tc>
                <a:tc>
                  <a:txBody>
                    <a:bodyPr lIns="76200" tIns="47625" rIns="76200" bIns="47625">
                      <a:noAutofit/>
                    </a:bodyPr>
                    <a:lstStyle/>
                    <a:p>
                      <a:pPr algn="ctr"/>
                      <a:r>
                        <a:rPr sz="1425" b="0">
                          <a:solidFill>
                            <a:srgbClr val="0D1726"/>
                          </a:solidFill>
                          <a:latin typeface="DejaVu Sans"/>
                          <a:ea typeface="DejaVu Sans"/>
                          <a:cs typeface="DejaVu Sans"/>
                        </a:rPr>
                        <a:t>12 €</a:t>
                      </a:r>
                    </a:p>
                  </a:txBody>
                  <a:tcPr marL="91440" marR="91440" marT="45720" marB="45720" anchor="ctr">
                    <a:solidFill>
                      <a:srgbClr val="FFFFFF"/>
                    </a:solidFill>
                  </a:tcPr>
                </a:tc>
              </a:tr>
              <a:tr h="631825">
                <a:tc>
                  <a:txBody>
                    <a:bodyPr lIns="76200" tIns="47625" rIns="76200" bIns="47625">
                      <a:noAutofit/>
                    </a:bodyPr>
                    <a:lstStyle/>
                    <a:p>
                      <a:pPr algn="l"/>
                      <a:r>
                        <a:rPr sz="1425" b="1">
                          <a:solidFill>
                            <a:srgbClr val="0D1726"/>
                          </a:solidFill>
                          <a:latin typeface="DejaVu Sans"/>
                          <a:ea typeface="DejaVu Sans"/>
                          <a:cs typeface="DejaVu Sans"/>
                        </a:rPr>
                        <a:t>Summe</a:t>
                      </a:r>
                    </a:p>
                  </a:txBody>
                  <a:tcPr marL="91440" marR="91440" marT="45720" marB="45720" anchor="ctr">
                    <a:solidFill>
                      <a:srgbClr val="E7F8F3"/>
                    </a:solidFill>
                  </a:tcPr>
                </a:tc>
                <a:tc>
                  <a:txBody>
                    <a:bodyPr lIns="76200" tIns="47625" rIns="76200" bIns="47625">
                      <a:noAutofit/>
                    </a:bodyPr>
                    <a:lstStyle/>
                    <a:p>
                      <a:pPr algn="ctr"/>
                      <a:r>
                        <a:rPr sz="1425" b="1">
                          <a:solidFill>
                            <a:srgbClr val="0D1726"/>
                          </a:solidFill>
                          <a:latin typeface="DejaVu Sans"/>
                          <a:ea typeface="DejaVu Sans"/>
                          <a:cs typeface="DejaVu Sans"/>
                        </a:rPr>
                        <a:t>53 €</a:t>
                      </a:r>
                    </a:p>
                  </a:txBody>
                  <a:tcPr marL="91440" marR="91440" marT="45720" marB="45720" anchor="ctr">
                    <a:solidFill>
                      <a:srgbClr val="E7F8F3"/>
                    </a:solidFill>
                  </a:tcPr>
                </a:tc>
                <a:tc>
                  <a:txBody>
                    <a:bodyPr lIns="76200" tIns="47625" rIns="76200" bIns="47625">
                      <a:noAutofit/>
                    </a:bodyPr>
                    <a:lstStyle/>
                    <a:p>
                      <a:pPr algn="ctr"/>
                      <a:r>
                        <a:rPr sz="1425" b="1">
                          <a:solidFill>
                            <a:srgbClr val="0D1726"/>
                          </a:solidFill>
                          <a:latin typeface="DejaVu Sans"/>
                          <a:ea typeface="DejaVu Sans"/>
                          <a:cs typeface="DejaVu Sans"/>
                        </a:rPr>
                        <a:t>20 €</a:t>
                      </a:r>
                    </a:p>
                  </a:txBody>
                  <a:tcPr marL="91440" marR="91440" marT="45720" marB="45720" anchor="ctr">
                    <a:solidFill>
                      <a:srgbClr val="E7F8F3"/>
                    </a:solidFill>
                  </a:tcPr>
                </a:tc>
              </a:tr>
            </a:tbl>
          </a:graphicData>
        </a:graphic>
      </p:graphicFrame>
      <p:sp>
        <p:nvSpPr>
          <p:cNvPr id="4" name="">
            <a:extLst xmlns:a="http://schemas.openxmlformats.org/drawingml/2006/main">
              <a:ext uri="{FF2B5EF4-FFF2-40B4-BE49-F238E27FC236}">
                <a16:creationId xmlns:a16="http://schemas.microsoft.com/office/drawing/2014/main" id="{981E855F-7503-4ED4-9D0A-9504EF9FFCDD}"/>
              </a:ext>
            </a:extLst>
          </p:cNvPr>
          <p:cNvSpPr>
            <a:spLocks xmlns:a="http://schemas.openxmlformats.org/drawingml/2006/main" noGrp="1"/>
          </p:cNvSpPr>
          <p:nvPr/>
        </p:nvSpPr>
        <p:spPr>
          <a:xfrm xmlns:a="http://schemas.openxmlformats.org/drawingml/2006/main">
            <a:off x="8782050" y="20383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00" b="0">
                <a:solidFill>
                  <a:srgbClr val="5D6879"/>
                </a:solidFill>
                <a:latin typeface="DejaVu Sans"/>
                <a:ea typeface="DejaVu Sans"/>
                <a:cs typeface="DejaVu Sans"/>
              </a:defRPr>
            </a:pPr>
            <a:r>
              <a:rPr sz="1500" b="0">
                <a:solidFill>
                  <a:srgbClr val="5D6879"/>
                </a:solidFill>
                <a:latin typeface="DejaVu Sans"/>
                <a:ea typeface="DejaVu Sans"/>
                <a:cs typeface="DejaVu Sans"/>
              </a:rPr>
              <a:t>Verfügbar</a:t>
            </a:r>
          </a:p>
        </p:txBody>
      </p:sp>
      <p:sp>
        <p:nvSpPr>
          <p:cNvPr id="5" name="">
            <a:extLst xmlns:a="http://schemas.openxmlformats.org/drawingml/2006/main">
              <a:ext uri="{FF2B5EF4-FFF2-40B4-BE49-F238E27FC236}">
                <a16:creationId xmlns:a16="http://schemas.microsoft.com/office/drawing/2014/main" id="{62675E32-65C0-4D57-8C65-5903359BB112}"/>
              </a:ext>
            </a:extLst>
          </p:cNvPr>
          <p:cNvSpPr>
            <a:spLocks xmlns:a="http://schemas.openxmlformats.org/drawingml/2006/main" noGrp="1"/>
          </p:cNvSpPr>
          <p:nvPr/>
        </p:nvSpPr>
        <p:spPr>
          <a:xfrm xmlns:a="http://schemas.openxmlformats.org/drawingml/2006/main">
            <a:off x="8915400" y="2552700"/>
            <a:ext cx="2095500" cy="2095500"/>
          </a:xfrm>
          <a:prstGeom xmlns:a="http://schemas.openxmlformats.org/drawingml/2006/main" prst="ellipse">
            <a:avLst/>
          </a:prstGeom>
          <a:solidFill xmlns:a="http://schemas.openxmlformats.org/drawingml/2006/main">
            <a:srgbClr val="28C69F"/>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2550" b="1">
                <a:solidFill>
                  <a:srgbClr val="0D1726"/>
                </a:solidFill>
                <a:latin typeface="DejaVu Sans"/>
                <a:ea typeface="DejaVu Sans"/>
                <a:cs typeface="DejaVu Sans"/>
              </a:defRPr>
            </a:pPr>
            <a:r>
              <a:rPr sz="2550" b="1">
                <a:solidFill>
                  <a:srgbClr val="0D1726"/>
                </a:solidFill>
                <a:latin typeface="DejaVu Sans"/>
                <a:ea typeface="DejaVu Sans"/>
                <a:cs typeface="DejaVu Sans"/>
              </a:rPr>
              <a:t>33 €</a:t>
            </a:r>
          </a:p>
        </p:txBody>
      </p:sp>
      <p:sp>
        <p:nvSpPr>
          <p:cNvPr id="6" name="">
            <a:extLst xmlns:a="http://schemas.openxmlformats.org/drawingml/2006/main">
              <a:ext uri="{FF2B5EF4-FFF2-40B4-BE49-F238E27FC236}">
                <a16:creationId xmlns:a16="http://schemas.microsoft.com/office/drawing/2014/main" id="{695C7D82-213A-47B6-A36A-331C2FD3CFF2}"/>
              </a:ext>
            </a:extLst>
          </p:cNvPr>
          <p:cNvSpPr>
            <a:spLocks xmlns:a="http://schemas.openxmlformats.org/drawingml/2006/main" noGrp="1"/>
          </p:cNvSpPr>
          <p:nvPr/>
        </p:nvSpPr>
        <p:spPr>
          <a:xfrm xmlns:a="http://schemas.openxmlformats.org/drawingml/2006/main">
            <a:off x="8591550" y="487680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425" b="0">
                <a:solidFill>
                  <a:srgbClr val="5D6879"/>
                </a:solidFill>
                <a:latin typeface="DejaVu Sans"/>
                <a:ea typeface="DejaVu Sans"/>
                <a:cs typeface="DejaVu Sans"/>
              </a:defRPr>
            </a:pPr>
            <a:r>
              <a:rPr sz="1425" b="0">
                <a:solidFill>
                  <a:srgbClr val="5D6879"/>
                </a:solidFill>
                <a:latin typeface="DejaVu Sans"/>
                <a:ea typeface="DejaVu Sans"/>
                <a:cs typeface="DejaVu Sans"/>
              </a:rPr>
              <a:t>Einnahmen minus Ausgaben</a:t>
            </a:r>
          </a:p>
        </p:txBody>
      </p:sp>
      <p:sp>
        <p:nvSpPr>
          <p:cNvPr id="7" name="">
            <a:extLst xmlns:a="http://schemas.openxmlformats.org/drawingml/2006/main">
              <a:ext uri="{FF2B5EF4-FFF2-40B4-BE49-F238E27FC236}">
                <a16:creationId xmlns:a16="http://schemas.microsoft.com/office/drawing/2014/main" id="{722412B3-080D-4792-A400-B80692BAFCE3}"/>
              </a:ext>
            </a:extLst>
          </p:cNvPr>
          <p:cNvSpPr>
            <a:spLocks xmlns:a="http://schemas.openxmlformats.org/drawingml/2006/main" noGrp="1"/>
          </p:cNvSpPr>
          <p:nvPr/>
        </p:nvSpPr>
        <p:spPr>
          <a:xfrm xmlns:a="http://schemas.openxmlformats.org/drawingml/2006/main">
            <a:off x="666750" y="6553200"/>
            <a:ext cx="3429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Wirtschaft · Beruf · Klasse 7</a:t>
            </a:r>
          </a:p>
        </p:txBody>
      </p:sp>
      <p:sp>
        <p:nvSpPr>
          <p:cNvPr id="8" name="">
            <a:extLst xmlns:a="http://schemas.openxmlformats.org/drawingml/2006/main">
              <a:ext uri="{FF2B5EF4-FFF2-40B4-BE49-F238E27FC236}">
                <a16:creationId xmlns:a16="http://schemas.microsoft.com/office/drawing/2014/main" id="{9A029CF5-E9FD-49B3-AA57-7ECF033E4314}"/>
              </a:ext>
            </a:extLst>
          </p:cNvPr>
          <p:cNvSpPr>
            <a:spLocks xmlns:a="http://schemas.openxmlformats.org/drawingml/2006/main" noGrp="1"/>
          </p:cNvSpPr>
          <p:nvPr/>
        </p:nvSpPr>
        <p:spPr>
          <a:xfrm xmlns:a="http://schemas.openxmlformats.org/drawingml/2006/main">
            <a:off x="11239500" y="655320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8</a:t>
            </a:r>
          </a:p>
        </p:txBody>
      </p:sp>
    </p:spTree>
    <p:extLst>
      <p:ext uri="{BB962C8B-B14F-4D97-AF65-F5344CB8AC3E}">
        <p14:creationId xmlns:p14="http://schemas.microsoft.com/office/powerpoint/2010/main" val="1278079311"/>
      </p:ext>
    </p:extLst>
  </p:cSld>
</p:sld>
</file>

<file path=ppt/slides/slide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B046AAE-B114-42A9-9A03-03FFE7BB0793}"/>
              </a:ext>
            </a:extLst>
          </p:cNvPr>
          <p:cNvSpPr>
            <a:spLocks xmlns:a="http://schemas.openxmlformats.org/drawingml/2006/main" noGrp="1"/>
          </p:cNvSpPr>
          <p:nvPr/>
        </p:nvSpPr>
        <p:spPr>
          <a:xfrm xmlns:a="http://schemas.openxmlformats.org/drawingml/2006/main">
            <a:off x="666750" y="361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75" b="1">
                <a:solidFill>
                  <a:srgbClr val="28C69F"/>
                </a:solidFill>
                <a:latin typeface="DejaVu Sans"/>
                <a:ea typeface="DejaVu Sans"/>
                <a:cs typeface="DejaVu Sans"/>
              </a:defRPr>
            </a:pPr>
            <a:r>
              <a:rPr sz="975" b="1">
                <a:solidFill>
                  <a:srgbClr val="28C69F"/>
                </a:solidFill>
                <a:latin typeface="DejaVu Sans"/>
                <a:ea typeface="DejaVu Sans"/>
                <a:cs typeface="DejaVu Sans"/>
              </a:rPr>
              <a:t>KAUFVERHALTEN</a:t>
            </a:r>
          </a:p>
        </p:txBody>
      </p:sp>
      <p:sp>
        <p:nvSpPr>
          <p:cNvPr id="2" name="">
            <a:extLst xmlns:a="http://schemas.openxmlformats.org/drawingml/2006/main">
              <a:ext uri="{FF2B5EF4-FFF2-40B4-BE49-F238E27FC236}">
                <a16:creationId xmlns:a16="http://schemas.microsoft.com/office/drawing/2014/main" id="{FA9B4B9F-9B19-49CD-8512-AE47FDC69E97}"/>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000" b="1">
                <a:solidFill>
                  <a:srgbClr val="0D1726"/>
                </a:solidFill>
                <a:latin typeface="DejaVu Sans"/>
                <a:ea typeface="DejaVu Sans"/>
                <a:cs typeface="DejaVu Sans"/>
              </a:defRPr>
            </a:pPr>
            <a:r>
              <a:rPr sz="3000" b="1">
                <a:solidFill>
                  <a:srgbClr val="0D1726"/>
                </a:solidFill>
                <a:latin typeface="DejaVu Sans"/>
                <a:ea typeface="DejaVu Sans"/>
                <a:cs typeface="DejaVu Sans"/>
              </a:rPr>
              <a:t>Vom Bedürfnis zur Entscheidung</a:t>
            </a:r>
          </a:p>
        </p:txBody>
      </p:sp>
      <p:sp>
        <p:nvSpPr>
          <p:cNvPr id="3" name="">
            <a:extLst xmlns:a="http://schemas.openxmlformats.org/drawingml/2006/main">
              <a:ext uri="{FF2B5EF4-FFF2-40B4-BE49-F238E27FC236}">
                <a16:creationId xmlns:a16="http://schemas.microsoft.com/office/drawing/2014/main" id="{51A84A0C-0FBC-4D53-B9AC-8152023ADA7F}"/>
              </a:ext>
            </a:extLst>
          </p:cNvPr>
          <p:cNvSpPr>
            <a:spLocks xmlns:a="http://schemas.openxmlformats.org/drawingml/2006/main" noGrp="1"/>
          </p:cNvSpPr>
          <p:nvPr/>
        </p:nvSpPr>
        <p:spPr>
          <a:xfrm xmlns:a="http://schemas.openxmlformats.org/drawingml/2006/main">
            <a:off x="1333500" y="2019300"/>
            <a:ext cx="666750" cy="666750"/>
          </a:xfrm>
          <a:prstGeom xmlns:a="http://schemas.openxmlformats.org/drawingml/2006/main" prst="ellipse">
            <a:avLst/>
          </a:prstGeom>
          <a:solidFill xmlns:a="http://schemas.openxmlformats.org/drawingml/2006/main">
            <a:srgbClr val="E7F8F3"/>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0D1726"/>
                </a:solidFill>
                <a:latin typeface="DejaVu Sans"/>
                <a:ea typeface="DejaVu Sans"/>
                <a:cs typeface="DejaVu Sans"/>
              </a:defRPr>
            </a:pPr>
            <a:r>
              <a:rPr sz="1800" b="1">
                <a:solidFill>
                  <a:srgbClr val="0D1726"/>
                </a:solidFill>
                <a:latin typeface="DejaVu Sans"/>
                <a:ea typeface="DejaVu Sans"/>
                <a:cs typeface="DejaVu Sans"/>
              </a:rPr>
              <a:t>1</a:t>
            </a:r>
          </a:p>
        </p:txBody>
      </p:sp>
      <p:sp>
        <p:nvSpPr>
          <p:cNvPr id="4" name="">
            <a:extLst xmlns:a="http://schemas.openxmlformats.org/drawingml/2006/main">
              <a:ext uri="{FF2B5EF4-FFF2-40B4-BE49-F238E27FC236}">
                <a16:creationId xmlns:a16="http://schemas.microsoft.com/office/drawing/2014/main" id="{3A9F720F-568F-40FC-AD1A-54C7A4B1981C}"/>
              </a:ext>
            </a:extLst>
          </p:cNvPr>
          <p:cNvSpPr>
            <a:spLocks xmlns:a="http://schemas.openxmlformats.org/drawingml/2006/main" noGrp="1"/>
          </p:cNvSpPr>
          <p:nvPr/>
        </p:nvSpPr>
        <p:spPr>
          <a:xfrm xmlns:a="http://schemas.openxmlformats.org/drawingml/2006/main">
            <a:off x="704850" y="2971800"/>
            <a:ext cx="1924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2000"/>
              </a:lnSpc>
              <a:buNone/>
              <a:defRPr sz="1650" b="1">
                <a:solidFill>
                  <a:srgbClr val="17324A"/>
                </a:solidFill>
                <a:latin typeface="DejaVu Sans"/>
                <a:ea typeface="DejaVu Sans"/>
                <a:cs typeface="DejaVu Sans"/>
              </a:defRPr>
            </a:pPr>
            <a:r>
              <a:rPr sz="1650" b="1">
                <a:solidFill>
                  <a:srgbClr val="17324A"/>
                </a:solidFill>
                <a:latin typeface="DejaVu Sans"/>
                <a:ea typeface="DejaVu Sans"/>
                <a:cs typeface="DejaVu Sans"/>
              </a:rPr>
              <a:t>Bedürfnis erkennen</a:t>
            </a:r>
          </a:p>
        </p:txBody>
      </p:sp>
      <p:sp>
        <p:nvSpPr>
          <p:cNvPr id="5" name="">
            <a:extLst xmlns:a="http://schemas.openxmlformats.org/drawingml/2006/main">
              <a:ext uri="{FF2B5EF4-FFF2-40B4-BE49-F238E27FC236}">
                <a16:creationId xmlns:a16="http://schemas.microsoft.com/office/drawing/2014/main" id="{E633D8D7-2629-43DA-AB0E-1FD7B8E9FE1B}"/>
              </a:ext>
            </a:extLst>
          </p:cNvPr>
          <p:cNvSpPr>
            <a:spLocks xmlns:a="http://schemas.openxmlformats.org/drawingml/2006/main" noGrp="1"/>
          </p:cNvSpPr>
          <p:nvPr/>
        </p:nvSpPr>
        <p:spPr>
          <a:xfrm xmlns:a="http://schemas.openxmlformats.org/drawingml/2006/main">
            <a:off x="2628900" y="2352675"/>
            <a:ext cx="361950" cy="0"/>
          </a:xfrm>
          <a:prstGeom xmlns:a="http://schemas.openxmlformats.org/drawingml/2006/main" prst="line">
            <a:avLst/>
          </a:prstGeom>
          <a:noFill xmlns:a="http://schemas.openxmlformats.org/drawingml/2006/main"/>
          <a:ln xmlns:a="http://schemas.openxmlformats.org/drawingml/2006/main" w="28575">
            <a:solidFill>
              <a:srgbClr val="DDE3EA"/>
            </a:solidFill>
            <a:prstDash val="solid"/>
          </a:ln>
        </p:spPr>
      </p:sp>
      <p:sp>
        <p:nvSpPr>
          <p:cNvPr id="6" name="">
            <a:extLst xmlns:a="http://schemas.openxmlformats.org/drawingml/2006/main">
              <a:ext uri="{FF2B5EF4-FFF2-40B4-BE49-F238E27FC236}">
                <a16:creationId xmlns:a16="http://schemas.microsoft.com/office/drawing/2014/main" id="{CF3ACEAA-743B-4C33-B32B-F195872210C9}"/>
              </a:ext>
            </a:extLst>
          </p:cNvPr>
          <p:cNvSpPr>
            <a:spLocks xmlns:a="http://schemas.openxmlformats.org/drawingml/2006/main" noGrp="1"/>
          </p:cNvSpPr>
          <p:nvPr/>
        </p:nvSpPr>
        <p:spPr>
          <a:xfrm xmlns:a="http://schemas.openxmlformats.org/drawingml/2006/main">
            <a:off x="3619500" y="2019300"/>
            <a:ext cx="666750" cy="666750"/>
          </a:xfrm>
          <a:prstGeom xmlns:a="http://schemas.openxmlformats.org/drawingml/2006/main" prst="ellipse">
            <a:avLst/>
          </a:prstGeom>
          <a:solidFill xmlns:a="http://schemas.openxmlformats.org/drawingml/2006/main">
            <a:srgbClr val="E7F8F3"/>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0D1726"/>
                </a:solidFill>
                <a:latin typeface="DejaVu Sans"/>
                <a:ea typeface="DejaVu Sans"/>
                <a:cs typeface="DejaVu Sans"/>
              </a:defRPr>
            </a:pPr>
            <a:r>
              <a:rPr sz="1800" b="1">
                <a:solidFill>
                  <a:srgbClr val="0D1726"/>
                </a:solidFill>
                <a:latin typeface="DejaVu Sans"/>
                <a:ea typeface="DejaVu Sans"/>
                <a:cs typeface="DejaVu Sans"/>
              </a:rPr>
              <a:t>2</a:t>
            </a:r>
          </a:p>
        </p:txBody>
      </p:sp>
      <p:sp>
        <p:nvSpPr>
          <p:cNvPr id="7" name="">
            <a:extLst xmlns:a="http://schemas.openxmlformats.org/drawingml/2006/main">
              <a:ext uri="{FF2B5EF4-FFF2-40B4-BE49-F238E27FC236}">
                <a16:creationId xmlns:a16="http://schemas.microsoft.com/office/drawing/2014/main" id="{40043CD3-744D-40CC-AC2E-937B4229548F}"/>
              </a:ext>
            </a:extLst>
          </p:cNvPr>
          <p:cNvSpPr>
            <a:spLocks xmlns:a="http://schemas.openxmlformats.org/drawingml/2006/main" noGrp="1"/>
          </p:cNvSpPr>
          <p:nvPr/>
        </p:nvSpPr>
        <p:spPr>
          <a:xfrm xmlns:a="http://schemas.openxmlformats.org/drawingml/2006/main">
            <a:off x="2990850" y="2971800"/>
            <a:ext cx="1924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2000"/>
              </a:lnSpc>
              <a:buNone/>
              <a:defRPr sz="1650" b="1">
                <a:solidFill>
                  <a:srgbClr val="17324A"/>
                </a:solidFill>
                <a:latin typeface="DejaVu Sans"/>
                <a:ea typeface="DejaVu Sans"/>
                <a:cs typeface="DejaVu Sans"/>
              </a:defRPr>
            </a:pPr>
            <a:r>
              <a:rPr sz="1650" b="1">
                <a:solidFill>
                  <a:srgbClr val="17324A"/>
                </a:solidFill>
                <a:latin typeface="DejaVu Sans"/>
                <a:ea typeface="DejaVu Sans"/>
                <a:cs typeface="DejaVu Sans"/>
              </a:rPr>
              <a:t>Informationen suchen</a:t>
            </a:r>
          </a:p>
        </p:txBody>
      </p:sp>
      <p:sp>
        <p:nvSpPr>
          <p:cNvPr id="8" name="">
            <a:extLst xmlns:a="http://schemas.openxmlformats.org/drawingml/2006/main">
              <a:ext uri="{FF2B5EF4-FFF2-40B4-BE49-F238E27FC236}">
                <a16:creationId xmlns:a16="http://schemas.microsoft.com/office/drawing/2014/main" id="{CD1EFEF4-50E0-43A1-8E44-7138A86A4587}"/>
              </a:ext>
            </a:extLst>
          </p:cNvPr>
          <p:cNvSpPr>
            <a:spLocks xmlns:a="http://schemas.openxmlformats.org/drawingml/2006/main" noGrp="1"/>
          </p:cNvSpPr>
          <p:nvPr/>
        </p:nvSpPr>
        <p:spPr>
          <a:xfrm xmlns:a="http://schemas.openxmlformats.org/drawingml/2006/main">
            <a:off x="4914900" y="2352675"/>
            <a:ext cx="361950" cy="0"/>
          </a:xfrm>
          <a:prstGeom xmlns:a="http://schemas.openxmlformats.org/drawingml/2006/main" prst="line">
            <a:avLst/>
          </a:prstGeom>
          <a:noFill xmlns:a="http://schemas.openxmlformats.org/drawingml/2006/main"/>
          <a:ln xmlns:a="http://schemas.openxmlformats.org/drawingml/2006/main" w="28575">
            <a:solidFill>
              <a:srgbClr val="DDE3EA"/>
            </a:solidFill>
            <a:prstDash val="solid"/>
          </a:ln>
        </p:spPr>
      </p:sp>
      <p:sp>
        <p:nvSpPr>
          <p:cNvPr id="9" name="">
            <a:extLst xmlns:a="http://schemas.openxmlformats.org/drawingml/2006/main">
              <a:ext uri="{FF2B5EF4-FFF2-40B4-BE49-F238E27FC236}">
                <a16:creationId xmlns:a16="http://schemas.microsoft.com/office/drawing/2014/main" id="{09A46161-05CB-4683-A8F2-8BCBEF7C6136}"/>
              </a:ext>
            </a:extLst>
          </p:cNvPr>
          <p:cNvSpPr>
            <a:spLocks xmlns:a="http://schemas.openxmlformats.org/drawingml/2006/main" noGrp="1"/>
          </p:cNvSpPr>
          <p:nvPr/>
        </p:nvSpPr>
        <p:spPr>
          <a:xfrm xmlns:a="http://schemas.openxmlformats.org/drawingml/2006/main">
            <a:off x="5905500" y="2019300"/>
            <a:ext cx="666750" cy="666750"/>
          </a:xfrm>
          <a:prstGeom xmlns:a="http://schemas.openxmlformats.org/drawingml/2006/main" prst="ellipse">
            <a:avLst/>
          </a:prstGeom>
          <a:solidFill xmlns:a="http://schemas.openxmlformats.org/drawingml/2006/main">
            <a:srgbClr val="E7F8F3"/>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0D1726"/>
                </a:solidFill>
                <a:latin typeface="DejaVu Sans"/>
                <a:ea typeface="DejaVu Sans"/>
                <a:cs typeface="DejaVu Sans"/>
              </a:defRPr>
            </a:pPr>
            <a:r>
              <a:rPr sz="1800" b="1">
                <a:solidFill>
                  <a:srgbClr val="0D1726"/>
                </a:solidFill>
                <a:latin typeface="DejaVu Sans"/>
                <a:ea typeface="DejaVu Sans"/>
                <a:cs typeface="DejaVu Sans"/>
              </a:rPr>
              <a:t>3</a:t>
            </a:r>
          </a:p>
        </p:txBody>
      </p:sp>
      <p:sp>
        <p:nvSpPr>
          <p:cNvPr id="10" name="">
            <a:extLst xmlns:a="http://schemas.openxmlformats.org/drawingml/2006/main">
              <a:ext uri="{FF2B5EF4-FFF2-40B4-BE49-F238E27FC236}">
                <a16:creationId xmlns:a16="http://schemas.microsoft.com/office/drawing/2014/main" id="{53EF9017-51A6-45D8-91DC-89896AC26228}"/>
              </a:ext>
            </a:extLst>
          </p:cNvPr>
          <p:cNvSpPr>
            <a:spLocks xmlns:a="http://schemas.openxmlformats.org/drawingml/2006/main" noGrp="1"/>
          </p:cNvSpPr>
          <p:nvPr/>
        </p:nvSpPr>
        <p:spPr>
          <a:xfrm xmlns:a="http://schemas.openxmlformats.org/drawingml/2006/main">
            <a:off x="5276850" y="2971800"/>
            <a:ext cx="1924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2000"/>
              </a:lnSpc>
              <a:buNone/>
              <a:defRPr sz="1650" b="1">
                <a:solidFill>
                  <a:srgbClr val="17324A"/>
                </a:solidFill>
                <a:latin typeface="DejaVu Sans"/>
                <a:ea typeface="DejaVu Sans"/>
                <a:cs typeface="DejaVu Sans"/>
              </a:defRPr>
            </a:pPr>
            <a:r>
              <a:rPr sz="1650" b="1">
                <a:solidFill>
                  <a:srgbClr val="17324A"/>
                </a:solidFill>
                <a:latin typeface="DejaVu Sans"/>
                <a:ea typeface="DejaVu Sans"/>
                <a:cs typeface="DejaVu Sans"/>
              </a:rPr>
              <a:t>Alternativen vergleichen</a:t>
            </a:r>
          </a:p>
        </p:txBody>
      </p:sp>
      <p:sp>
        <p:nvSpPr>
          <p:cNvPr id="11" name="">
            <a:extLst xmlns:a="http://schemas.openxmlformats.org/drawingml/2006/main">
              <a:ext uri="{FF2B5EF4-FFF2-40B4-BE49-F238E27FC236}">
                <a16:creationId xmlns:a16="http://schemas.microsoft.com/office/drawing/2014/main" id="{C9681285-80A8-4823-B6E3-CFDE868296E5}"/>
              </a:ext>
            </a:extLst>
          </p:cNvPr>
          <p:cNvSpPr>
            <a:spLocks xmlns:a="http://schemas.openxmlformats.org/drawingml/2006/main" noGrp="1"/>
          </p:cNvSpPr>
          <p:nvPr/>
        </p:nvSpPr>
        <p:spPr>
          <a:xfrm xmlns:a="http://schemas.openxmlformats.org/drawingml/2006/main">
            <a:off x="7200900" y="2352675"/>
            <a:ext cx="361950" cy="0"/>
          </a:xfrm>
          <a:prstGeom xmlns:a="http://schemas.openxmlformats.org/drawingml/2006/main" prst="line">
            <a:avLst/>
          </a:prstGeom>
          <a:noFill xmlns:a="http://schemas.openxmlformats.org/drawingml/2006/main"/>
          <a:ln xmlns:a="http://schemas.openxmlformats.org/drawingml/2006/main" w="28575">
            <a:solidFill>
              <a:srgbClr val="DDE3EA"/>
            </a:solidFill>
            <a:prstDash val="solid"/>
          </a:ln>
        </p:spPr>
      </p:sp>
      <p:sp>
        <p:nvSpPr>
          <p:cNvPr id="12" name="">
            <a:extLst xmlns:a="http://schemas.openxmlformats.org/drawingml/2006/main">
              <a:ext uri="{FF2B5EF4-FFF2-40B4-BE49-F238E27FC236}">
                <a16:creationId xmlns:a16="http://schemas.microsoft.com/office/drawing/2014/main" id="{811C9029-DFF3-4BF0-8A4F-3F1FCA478A81}"/>
              </a:ext>
            </a:extLst>
          </p:cNvPr>
          <p:cNvSpPr>
            <a:spLocks xmlns:a="http://schemas.openxmlformats.org/drawingml/2006/main" noGrp="1"/>
          </p:cNvSpPr>
          <p:nvPr/>
        </p:nvSpPr>
        <p:spPr>
          <a:xfrm xmlns:a="http://schemas.openxmlformats.org/drawingml/2006/main">
            <a:off x="8191500" y="2019300"/>
            <a:ext cx="666750" cy="666750"/>
          </a:xfrm>
          <a:prstGeom xmlns:a="http://schemas.openxmlformats.org/drawingml/2006/main" prst="ellipse">
            <a:avLst/>
          </a:prstGeom>
          <a:solidFill xmlns:a="http://schemas.openxmlformats.org/drawingml/2006/main">
            <a:srgbClr val="E7B84B"/>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0D1726"/>
                </a:solidFill>
                <a:latin typeface="DejaVu Sans"/>
                <a:ea typeface="DejaVu Sans"/>
                <a:cs typeface="DejaVu Sans"/>
              </a:defRPr>
            </a:pPr>
            <a:r>
              <a:rPr sz="1800" b="1">
                <a:solidFill>
                  <a:srgbClr val="0D1726"/>
                </a:solidFill>
                <a:latin typeface="DejaVu Sans"/>
                <a:ea typeface="DejaVu Sans"/>
                <a:cs typeface="DejaVu Sans"/>
              </a:rPr>
              <a:t>4</a:t>
            </a:r>
          </a:p>
        </p:txBody>
      </p:sp>
      <p:sp>
        <p:nvSpPr>
          <p:cNvPr id="13" name="">
            <a:extLst xmlns:a="http://schemas.openxmlformats.org/drawingml/2006/main">
              <a:ext uri="{FF2B5EF4-FFF2-40B4-BE49-F238E27FC236}">
                <a16:creationId xmlns:a16="http://schemas.microsoft.com/office/drawing/2014/main" id="{E320B5E8-DFDF-4F3C-93C9-4D5846E2E2EF}"/>
              </a:ext>
            </a:extLst>
          </p:cNvPr>
          <p:cNvSpPr>
            <a:spLocks xmlns:a="http://schemas.openxmlformats.org/drawingml/2006/main" noGrp="1"/>
          </p:cNvSpPr>
          <p:nvPr/>
        </p:nvSpPr>
        <p:spPr>
          <a:xfrm xmlns:a="http://schemas.openxmlformats.org/drawingml/2006/main">
            <a:off x="7562850" y="2971800"/>
            <a:ext cx="1924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2000"/>
              </a:lnSpc>
              <a:buNone/>
              <a:defRPr sz="1650" b="1">
                <a:solidFill>
                  <a:srgbClr val="17324A"/>
                </a:solidFill>
                <a:latin typeface="DejaVu Sans"/>
                <a:ea typeface="DejaVu Sans"/>
                <a:cs typeface="DejaVu Sans"/>
              </a:defRPr>
            </a:pPr>
            <a:r>
              <a:rPr sz="1650" b="1">
                <a:solidFill>
                  <a:srgbClr val="17324A"/>
                </a:solidFill>
                <a:latin typeface="DejaVu Sans"/>
                <a:ea typeface="DejaVu Sans"/>
                <a:cs typeface="DejaVu Sans"/>
              </a:rPr>
              <a:t>Entscheiden und kaufen</a:t>
            </a:r>
          </a:p>
        </p:txBody>
      </p:sp>
      <p:sp>
        <p:nvSpPr>
          <p:cNvPr id="14" name="">
            <a:extLst xmlns:a="http://schemas.openxmlformats.org/drawingml/2006/main">
              <a:ext uri="{FF2B5EF4-FFF2-40B4-BE49-F238E27FC236}">
                <a16:creationId xmlns:a16="http://schemas.microsoft.com/office/drawing/2014/main" id="{DF0BD1F4-3148-4657-81E8-1944591CC7F7}"/>
              </a:ext>
            </a:extLst>
          </p:cNvPr>
          <p:cNvSpPr>
            <a:spLocks xmlns:a="http://schemas.openxmlformats.org/drawingml/2006/main" noGrp="1"/>
          </p:cNvSpPr>
          <p:nvPr/>
        </p:nvSpPr>
        <p:spPr>
          <a:xfrm xmlns:a="http://schemas.openxmlformats.org/drawingml/2006/main">
            <a:off x="9486900" y="2352675"/>
            <a:ext cx="361950" cy="0"/>
          </a:xfrm>
          <a:prstGeom xmlns:a="http://schemas.openxmlformats.org/drawingml/2006/main" prst="line">
            <a:avLst/>
          </a:prstGeom>
          <a:noFill xmlns:a="http://schemas.openxmlformats.org/drawingml/2006/main"/>
          <a:ln xmlns:a="http://schemas.openxmlformats.org/drawingml/2006/main" w="28575">
            <a:solidFill>
              <a:srgbClr val="DDE3EA"/>
            </a:solidFill>
            <a:prstDash val="solid"/>
          </a:ln>
        </p:spPr>
      </p:sp>
      <p:sp>
        <p:nvSpPr>
          <p:cNvPr id="15" name="">
            <a:extLst xmlns:a="http://schemas.openxmlformats.org/drawingml/2006/main">
              <a:ext uri="{FF2B5EF4-FFF2-40B4-BE49-F238E27FC236}">
                <a16:creationId xmlns:a16="http://schemas.microsoft.com/office/drawing/2014/main" id="{AB48A591-C7AB-4F1C-B8FD-2D7E6BB7BCAA}"/>
              </a:ext>
            </a:extLst>
          </p:cNvPr>
          <p:cNvSpPr>
            <a:spLocks xmlns:a="http://schemas.openxmlformats.org/drawingml/2006/main" noGrp="1"/>
          </p:cNvSpPr>
          <p:nvPr/>
        </p:nvSpPr>
        <p:spPr>
          <a:xfrm xmlns:a="http://schemas.openxmlformats.org/drawingml/2006/main">
            <a:off x="10477500" y="2019300"/>
            <a:ext cx="666750" cy="666750"/>
          </a:xfrm>
          <a:prstGeom xmlns:a="http://schemas.openxmlformats.org/drawingml/2006/main" prst="ellipse">
            <a:avLst/>
          </a:prstGeom>
          <a:solidFill xmlns:a="http://schemas.openxmlformats.org/drawingml/2006/main">
            <a:srgbClr val="E7F8F3"/>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0D1726"/>
                </a:solidFill>
                <a:latin typeface="DejaVu Sans"/>
                <a:ea typeface="DejaVu Sans"/>
                <a:cs typeface="DejaVu Sans"/>
              </a:defRPr>
            </a:pPr>
            <a:r>
              <a:rPr sz="1800" b="1">
                <a:solidFill>
                  <a:srgbClr val="0D1726"/>
                </a:solidFill>
                <a:latin typeface="DejaVu Sans"/>
                <a:ea typeface="DejaVu Sans"/>
                <a:cs typeface="DejaVu Sans"/>
              </a:rPr>
              <a:t>5</a:t>
            </a:r>
          </a:p>
        </p:txBody>
      </p:sp>
      <p:sp>
        <p:nvSpPr>
          <p:cNvPr id="16" name="">
            <a:extLst xmlns:a="http://schemas.openxmlformats.org/drawingml/2006/main">
              <a:ext uri="{FF2B5EF4-FFF2-40B4-BE49-F238E27FC236}">
                <a16:creationId xmlns:a16="http://schemas.microsoft.com/office/drawing/2014/main" id="{6D9CC73F-47CC-4757-9128-39C175168082}"/>
              </a:ext>
            </a:extLst>
          </p:cNvPr>
          <p:cNvSpPr>
            <a:spLocks xmlns:a="http://schemas.openxmlformats.org/drawingml/2006/main" noGrp="1"/>
          </p:cNvSpPr>
          <p:nvPr/>
        </p:nvSpPr>
        <p:spPr>
          <a:xfrm xmlns:a="http://schemas.openxmlformats.org/drawingml/2006/main">
            <a:off x="9848850" y="2971800"/>
            <a:ext cx="1924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2000"/>
              </a:lnSpc>
              <a:buNone/>
              <a:defRPr sz="1650" b="1">
                <a:solidFill>
                  <a:srgbClr val="17324A"/>
                </a:solidFill>
                <a:latin typeface="DejaVu Sans"/>
                <a:ea typeface="DejaVu Sans"/>
                <a:cs typeface="DejaVu Sans"/>
              </a:defRPr>
            </a:pPr>
            <a:r>
              <a:rPr sz="1650" b="1">
                <a:solidFill>
                  <a:srgbClr val="17324A"/>
                </a:solidFill>
                <a:latin typeface="DejaVu Sans"/>
                <a:ea typeface="DejaVu Sans"/>
                <a:cs typeface="DejaVu Sans"/>
              </a:rPr>
              <a:t>Ergebnis prüfen</a:t>
            </a:r>
          </a:p>
        </p:txBody>
      </p:sp>
      <p:sp>
        <p:nvSpPr>
          <p:cNvPr id="17" name="">
            <a:extLst xmlns:a="http://schemas.openxmlformats.org/drawingml/2006/main">
              <a:ext uri="{FF2B5EF4-FFF2-40B4-BE49-F238E27FC236}">
                <a16:creationId xmlns:a16="http://schemas.microsoft.com/office/drawing/2014/main" id="{B8E01CB9-F090-45F1-BD37-B1D013A12436}"/>
              </a:ext>
            </a:extLst>
          </p:cNvPr>
          <p:cNvSpPr>
            <a:spLocks xmlns:a="http://schemas.openxmlformats.org/drawingml/2006/main" noGrp="1"/>
          </p:cNvSpPr>
          <p:nvPr/>
        </p:nvSpPr>
        <p:spPr>
          <a:xfrm xmlns:a="http://schemas.openxmlformats.org/drawingml/2006/main">
            <a:off x="1657350" y="4667250"/>
            <a:ext cx="8877300" cy="876300"/>
          </a:xfrm>
          <a:prstGeom xmlns:a="http://schemas.openxmlformats.org/drawingml/2006/main" prst="roundRect">
            <a:avLst>
              <a:gd name="adj" fmla="val 19565"/>
            </a:avLst>
          </a:prstGeom>
          <a:solidFill xmlns:a="http://schemas.openxmlformats.org/drawingml/2006/main">
            <a:srgbClr val="EAF0FF"/>
          </a:solidFill>
          <a:ln xmlns:a="http://schemas.openxmlformats.org/drawingml/2006/main" w="9525">
            <a:solidFill>
              <a:srgbClr val="6E8BF7"/>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800" b="1">
                <a:solidFill>
                  <a:srgbClr val="0D1726"/>
                </a:solidFill>
                <a:latin typeface="DejaVu Sans"/>
                <a:ea typeface="DejaVu Sans"/>
                <a:cs typeface="DejaVu Sans"/>
              </a:defRPr>
            </a:pPr>
            <a:r>
              <a:rPr sz="1800" b="1">
                <a:solidFill>
                  <a:srgbClr val="0D1726"/>
                </a:solidFill>
                <a:latin typeface="DejaVu Sans"/>
                <a:ea typeface="DejaVu Sans"/>
                <a:cs typeface="DejaVu Sans"/>
              </a:rPr>
              <a:t>Nicht jeder Kauf läuft bewusst in fünf Schritten ab. Werbung und Gewohnheiten können den Ablauf verkürzen.</a:t>
            </a:r>
          </a:p>
        </p:txBody>
      </p:sp>
      <p:sp>
        <p:nvSpPr>
          <p:cNvPr id="18" name="">
            <a:extLst xmlns:a="http://schemas.openxmlformats.org/drawingml/2006/main">
              <a:ext uri="{FF2B5EF4-FFF2-40B4-BE49-F238E27FC236}">
                <a16:creationId xmlns:a16="http://schemas.microsoft.com/office/drawing/2014/main" id="{6E3BD93C-E35D-4C48-A0D1-E63414980294}"/>
              </a:ext>
            </a:extLst>
          </p:cNvPr>
          <p:cNvSpPr>
            <a:spLocks xmlns:a="http://schemas.openxmlformats.org/drawingml/2006/main" noGrp="1"/>
          </p:cNvSpPr>
          <p:nvPr/>
        </p:nvSpPr>
        <p:spPr>
          <a:xfrm xmlns:a="http://schemas.openxmlformats.org/drawingml/2006/main">
            <a:off x="666750" y="6553200"/>
            <a:ext cx="3429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Wirtschaft · Beruf · Klasse 7</a:t>
            </a:r>
          </a:p>
        </p:txBody>
      </p:sp>
      <p:sp>
        <p:nvSpPr>
          <p:cNvPr id="19" name="">
            <a:extLst xmlns:a="http://schemas.openxmlformats.org/drawingml/2006/main">
              <a:ext uri="{FF2B5EF4-FFF2-40B4-BE49-F238E27FC236}">
                <a16:creationId xmlns:a16="http://schemas.microsoft.com/office/drawing/2014/main" id="{B2F3E2C8-40E8-4534-BD30-8DE83C895A36}"/>
              </a:ext>
            </a:extLst>
          </p:cNvPr>
          <p:cNvSpPr>
            <a:spLocks xmlns:a="http://schemas.openxmlformats.org/drawingml/2006/main" noGrp="1"/>
          </p:cNvSpPr>
          <p:nvPr/>
        </p:nvSpPr>
        <p:spPr>
          <a:xfrm xmlns:a="http://schemas.openxmlformats.org/drawingml/2006/main">
            <a:off x="11239500" y="655320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9</a:t>
            </a:r>
          </a:p>
        </p:txBody>
      </p:sp>
    </p:spTree>
    <p:extLst>
      <p:ext uri="{BB962C8B-B14F-4D97-AF65-F5344CB8AC3E}">
        <p14:creationId xmlns:p14="http://schemas.microsoft.com/office/powerpoint/2010/main" val="1247143629"/>
      </p:ext>
    </p:extLst>
  </p:cSld>
</p:sld>
</file>

<file path=ppt/slides/slide1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8201491-6CE7-4A62-8804-C78789D8992E}"/>
              </a:ext>
            </a:extLst>
          </p:cNvPr>
          <p:cNvSpPr>
            <a:spLocks xmlns:a="http://schemas.openxmlformats.org/drawingml/2006/main" noGrp="1"/>
          </p:cNvSpPr>
          <p:nvPr/>
        </p:nvSpPr>
        <p:spPr>
          <a:xfrm xmlns:a="http://schemas.openxmlformats.org/drawingml/2006/main">
            <a:off x="666750" y="361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75" b="1">
                <a:solidFill>
                  <a:srgbClr val="28C69F"/>
                </a:solidFill>
                <a:latin typeface="DejaVu Sans"/>
                <a:ea typeface="DejaVu Sans"/>
                <a:cs typeface="DejaVu Sans"/>
              </a:defRPr>
            </a:pPr>
            <a:r>
              <a:rPr sz="975" b="1">
                <a:solidFill>
                  <a:srgbClr val="28C69F"/>
                </a:solidFill>
                <a:latin typeface="DejaVu Sans"/>
                <a:ea typeface="DejaVu Sans"/>
                <a:cs typeface="DejaVu Sans"/>
              </a:rPr>
              <a:t>NACHFRAGE</a:t>
            </a:r>
          </a:p>
        </p:txBody>
      </p:sp>
      <p:sp>
        <p:nvSpPr>
          <p:cNvPr id="2" name="">
            <a:extLst xmlns:a="http://schemas.openxmlformats.org/drawingml/2006/main">
              <a:ext uri="{FF2B5EF4-FFF2-40B4-BE49-F238E27FC236}">
                <a16:creationId xmlns:a16="http://schemas.microsoft.com/office/drawing/2014/main" id="{76009B8F-55EA-4283-BD6B-66046AC019A5}"/>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000" b="1">
                <a:solidFill>
                  <a:srgbClr val="0D1726"/>
                </a:solidFill>
                <a:latin typeface="DejaVu Sans"/>
                <a:ea typeface="DejaVu Sans"/>
                <a:cs typeface="DejaVu Sans"/>
              </a:defRPr>
            </a:pPr>
            <a:r>
              <a:rPr sz="3000" b="1">
                <a:solidFill>
                  <a:srgbClr val="0D1726"/>
                </a:solidFill>
                <a:latin typeface="DejaVu Sans"/>
                <a:ea typeface="DejaVu Sans"/>
                <a:cs typeface="DejaVu Sans"/>
              </a:rPr>
              <a:t>Was eine Kaufentscheidung beeinflusst</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bf1de5be8d548c9"/>
          <a:srcRect xmlns:a="http://schemas.openxmlformats.org/drawingml/2006/main" l="13750" t="0" r="13750" b="0"/>
          <a:stretch xmlns:a="http://schemas.openxmlformats.org/drawingml/2006/main">
            <a:fillRect l="0" t="0" r="0" b="0"/>
          </a:stretch>
        </p:blipFill>
        <p:spPr>
          <a:xfrm xmlns:a="http://schemas.openxmlformats.org/drawingml/2006/main">
            <a:off x="666750" y="1428750"/>
            <a:ext cx="5619750" cy="4362450"/>
          </a:xfrm>
          <a:prstGeom xmlns:a="http://schemas.openxmlformats.org/drawingml/2006/main" prst="roundRect">
            <a:avLst>
              <a:gd name="adj" fmla="val 4803"/>
            </a:avLst>
          </a:prstGeom>
        </p:spPr>
      </p:pic>
      <p:sp>
        <p:nvSpPr>
          <p:cNvPr id="4" name="">
            <a:extLst xmlns:a="http://schemas.openxmlformats.org/drawingml/2006/main">
              <a:ext uri="{FF2B5EF4-FFF2-40B4-BE49-F238E27FC236}">
                <a16:creationId xmlns:a16="http://schemas.microsoft.com/office/drawing/2014/main" id="{83F61FE1-DD0C-4938-A473-5E5540DCD64C}"/>
              </a:ext>
            </a:extLst>
          </p:cNvPr>
          <p:cNvSpPr>
            <a:spLocks xmlns:a="http://schemas.openxmlformats.org/drawingml/2006/main" noGrp="1"/>
          </p:cNvSpPr>
          <p:nvPr/>
        </p:nvSpPr>
        <p:spPr>
          <a:xfrm xmlns:a="http://schemas.openxmlformats.org/drawingml/2006/main">
            <a:off x="6858000" y="1428750"/>
            <a:ext cx="4572000" cy="533400"/>
          </a:xfrm>
          <a:prstGeom xmlns:a="http://schemas.openxmlformats.org/drawingml/2006/main" prst="roundRect">
            <a:avLst>
              <a:gd name="adj" fmla="val 32143"/>
            </a:avLst>
          </a:prstGeom>
          <a:solidFill xmlns:a="http://schemas.openxmlformats.org/drawingml/2006/main">
            <a:srgbClr val="FFFFFF"/>
          </a:solidFill>
          <a:ln xmlns:a="http://schemas.openxmlformats.org/drawingml/2006/main" w="9525">
            <a:solidFill>
              <a:srgbClr val="DDE3EA"/>
            </a:solidFill>
            <a:prstDash val="solid"/>
          </a:ln>
        </p:spPr>
        <p:txBody>
          <a:bodyPr xmlns:a="http://schemas.openxmlformats.org/drawingml/2006/main" wrap="square" lIns="171450" tIns="76200" rIns="133350" bIns="76200" anchor="ctr">
            <a:noAutofit/>
          </a:bodyPr>
          <a:lstStyle xmlns:a="http://schemas.openxmlformats.org/drawingml/2006/main"/>
          <a:p xmlns:a="http://schemas.openxmlformats.org/drawingml/2006/main">
            <a:pPr algn="l">
              <a:lnSpc>
                <a:spcPct val="108000"/>
              </a:lnSpc>
              <a:buNone/>
              <a:defRPr sz="1575" b="1">
                <a:solidFill>
                  <a:srgbClr val="0D1726"/>
                </a:solidFill>
                <a:latin typeface="DejaVu Sans"/>
                <a:ea typeface="DejaVu Sans"/>
                <a:cs typeface="DejaVu Sans"/>
              </a:defRPr>
            </a:pPr>
            <a:r>
              <a:rPr sz="1575" b="1">
                <a:solidFill>
                  <a:srgbClr val="0D1726"/>
                </a:solidFill>
                <a:latin typeface="DejaVu Sans"/>
                <a:ea typeface="DejaVu Sans"/>
                <a:cs typeface="DejaVu Sans"/>
              </a:rPr>
              <a:t>eigene Bedürfnisse</a:t>
            </a:r>
          </a:p>
        </p:txBody>
      </p:sp>
      <p:sp>
        <p:nvSpPr>
          <p:cNvPr id="5" name="">
            <a:extLst xmlns:a="http://schemas.openxmlformats.org/drawingml/2006/main">
              <a:ext uri="{FF2B5EF4-FFF2-40B4-BE49-F238E27FC236}">
                <a16:creationId xmlns:a16="http://schemas.microsoft.com/office/drawing/2014/main" id="{429646D6-6E69-4E0F-A9AE-7F379DB81CCA}"/>
              </a:ext>
            </a:extLst>
          </p:cNvPr>
          <p:cNvSpPr>
            <a:spLocks xmlns:a="http://schemas.openxmlformats.org/drawingml/2006/main" noGrp="1"/>
          </p:cNvSpPr>
          <p:nvPr/>
        </p:nvSpPr>
        <p:spPr>
          <a:xfrm xmlns:a="http://schemas.openxmlformats.org/drawingml/2006/main">
            <a:off x="6858000" y="2152650"/>
            <a:ext cx="4572000" cy="533400"/>
          </a:xfrm>
          <a:prstGeom xmlns:a="http://schemas.openxmlformats.org/drawingml/2006/main" prst="roundRect">
            <a:avLst>
              <a:gd name="adj" fmla="val 32143"/>
            </a:avLst>
          </a:prstGeom>
          <a:solidFill xmlns:a="http://schemas.openxmlformats.org/drawingml/2006/main">
            <a:srgbClr val="FFF4D7"/>
          </a:solidFill>
          <a:ln xmlns:a="http://schemas.openxmlformats.org/drawingml/2006/main" w="9525">
            <a:solidFill>
              <a:srgbClr val="E7B84B"/>
            </a:solidFill>
            <a:prstDash val="solid"/>
          </a:ln>
        </p:spPr>
        <p:txBody>
          <a:bodyPr xmlns:a="http://schemas.openxmlformats.org/drawingml/2006/main" wrap="square" lIns="171450" tIns="76200" rIns="133350" bIns="76200" anchor="ctr">
            <a:noAutofit/>
          </a:bodyPr>
          <a:lstStyle xmlns:a="http://schemas.openxmlformats.org/drawingml/2006/main"/>
          <a:p xmlns:a="http://schemas.openxmlformats.org/drawingml/2006/main">
            <a:pPr algn="l">
              <a:lnSpc>
                <a:spcPct val="108000"/>
              </a:lnSpc>
              <a:buNone/>
              <a:defRPr sz="1575" b="1">
                <a:solidFill>
                  <a:srgbClr val="0D1726"/>
                </a:solidFill>
                <a:latin typeface="DejaVu Sans"/>
                <a:ea typeface="DejaVu Sans"/>
                <a:cs typeface="DejaVu Sans"/>
              </a:defRPr>
            </a:pPr>
            <a:r>
              <a:rPr sz="1575" b="1">
                <a:solidFill>
                  <a:srgbClr val="0D1726"/>
                </a:solidFill>
                <a:latin typeface="DejaVu Sans"/>
                <a:ea typeface="DejaVu Sans"/>
                <a:cs typeface="DejaVu Sans"/>
              </a:rPr>
              <a:t>Budgetgrenze</a:t>
            </a:r>
          </a:p>
        </p:txBody>
      </p:sp>
      <p:sp>
        <p:nvSpPr>
          <p:cNvPr id="6" name="">
            <a:extLst xmlns:a="http://schemas.openxmlformats.org/drawingml/2006/main">
              <a:ext uri="{FF2B5EF4-FFF2-40B4-BE49-F238E27FC236}">
                <a16:creationId xmlns:a16="http://schemas.microsoft.com/office/drawing/2014/main" id="{660C3F6D-A331-4FBE-872A-0E3A0C214918}"/>
              </a:ext>
            </a:extLst>
          </p:cNvPr>
          <p:cNvSpPr>
            <a:spLocks xmlns:a="http://schemas.openxmlformats.org/drawingml/2006/main" noGrp="1"/>
          </p:cNvSpPr>
          <p:nvPr/>
        </p:nvSpPr>
        <p:spPr>
          <a:xfrm xmlns:a="http://schemas.openxmlformats.org/drawingml/2006/main">
            <a:off x="6858000" y="2876550"/>
            <a:ext cx="4572000" cy="533400"/>
          </a:xfrm>
          <a:prstGeom xmlns:a="http://schemas.openxmlformats.org/drawingml/2006/main" prst="roundRect">
            <a:avLst>
              <a:gd name="adj" fmla="val 32143"/>
            </a:avLst>
          </a:prstGeom>
          <a:solidFill xmlns:a="http://schemas.openxmlformats.org/drawingml/2006/main">
            <a:srgbClr val="FFFFFF"/>
          </a:solidFill>
          <a:ln xmlns:a="http://schemas.openxmlformats.org/drawingml/2006/main" w="9525">
            <a:solidFill>
              <a:srgbClr val="DDE3EA"/>
            </a:solidFill>
            <a:prstDash val="solid"/>
          </a:ln>
        </p:spPr>
        <p:txBody>
          <a:bodyPr xmlns:a="http://schemas.openxmlformats.org/drawingml/2006/main" wrap="square" lIns="171450" tIns="76200" rIns="133350" bIns="76200" anchor="ctr">
            <a:noAutofit/>
          </a:bodyPr>
          <a:lstStyle xmlns:a="http://schemas.openxmlformats.org/drawingml/2006/main"/>
          <a:p xmlns:a="http://schemas.openxmlformats.org/drawingml/2006/main">
            <a:pPr algn="l">
              <a:lnSpc>
                <a:spcPct val="108000"/>
              </a:lnSpc>
              <a:buNone/>
              <a:defRPr sz="1575" b="1">
                <a:solidFill>
                  <a:srgbClr val="0D1726"/>
                </a:solidFill>
                <a:latin typeface="DejaVu Sans"/>
                <a:ea typeface="DejaVu Sans"/>
                <a:cs typeface="DejaVu Sans"/>
              </a:defRPr>
            </a:pPr>
            <a:r>
              <a:rPr sz="1575" b="1">
                <a:solidFill>
                  <a:srgbClr val="0D1726"/>
                </a:solidFill>
                <a:latin typeface="DejaVu Sans"/>
                <a:ea typeface="DejaVu Sans"/>
                <a:cs typeface="DejaVu Sans"/>
              </a:rPr>
              <a:t>Preis und Qualität</a:t>
            </a:r>
          </a:p>
        </p:txBody>
      </p:sp>
      <p:sp>
        <p:nvSpPr>
          <p:cNvPr id="7" name="">
            <a:extLst xmlns:a="http://schemas.openxmlformats.org/drawingml/2006/main">
              <a:ext uri="{FF2B5EF4-FFF2-40B4-BE49-F238E27FC236}">
                <a16:creationId xmlns:a16="http://schemas.microsoft.com/office/drawing/2014/main" id="{7F72E14C-F452-4FC9-B63A-1A80C0335770}"/>
              </a:ext>
            </a:extLst>
          </p:cNvPr>
          <p:cNvSpPr>
            <a:spLocks xmlns:a="http://schemas.openxmlformats.org/drawingml/2006/main" noGrp="1"/>
          </p:cNvSpPr>
          <p:nvPr/>
        </p:nvSpPr>
        <p:spPr>
          <a:xfrm xmlns:a="http://schemas.openxmlformats.org/drawingml/2006/main">
            <a:off x="6858000" y="3600450"/>
            <a:ext cx="4572000" cy="533400"/>
          </a:xfrm>
          <a:prstGeom xmlns:a="http://schemas.openxmlformats.org/drawingml/2006/main" prst="roundRect">
            <a:avLst>
              <a:gd name="adj" fmla="val 32143"/>
            </a:avLst>
          </a:prstGeom>
          <a:solidFill xmlns:a="http://schemas.openxmlformats.org/drawingml/2006/main">
            <a:srgbClr val="FFFFFF"/>
          </a:solidFill>
          <a:ln xmlns:a="http://schemas.openxmlformats.org/drawingml/2006/main" w="9525">
            <a:solidFill>
              <a:srgbClr val="DDE3EA"/>
            </a:solidFill>
            <a:prstDash val="solid"/>
          </a:ln>
        </p:spPr>
        <p:txBody>
          <a:bodyPr xmlns:a="http://schemas.openxmlformats.org/drawingml/2006/main" wrap="square" lIns="171450" tIns="76200" rIns="133350" bIns="76200" anchor="ctr">
            <a:noAutofit/>
          </a:bodyPr>
          <a:lstStyle xmlns:a="http://schemas.openxmlformats.org/drawingml/2006/main"/>
          <a:p xmlns:a="http://schemas.openxmlformats.org/drawingml/2006/main">
            <a:pPr algn="l">
              <a:lnSpc>
                <a:spcPct val="108000"/>
              </a:lnSpc>
              <a:buNone/>
              <a:defRPr sz="1575" b="1">
                <a:solidFill>
                  <a:srgbClr val="0D1726"/>
                </a:solidFill>
                <a:latin typeface="DejaVu Sans"/>
                <a:ea typeface="DejaVu Sans"/>
                <a:cs typeface="DejaVu Sans"/>
              </a:defRPr>
            </a:pPr>
            <a:r>
              <a:rPr sz="1575" b="1">
                <a:solidFill>
                  <a:srgbClr val="0D1726"/>
                </a:solidFill>
                <a:latin typeface="DejaVu Sans"/>
                <a:ea typeface="DejaVu Sans"/>
                <a:cs typeface="DejaVu Sans"/>
              </a:rPr>
              <a:t>Peergroup</a:t>
            </a:r>
          </a:p>
        </p:txBody>
      </p:sp>
      <p:sp>
        <p:nvSpPr>
          <p:cNvPr id="8" name="">
            <a:extLst xmlns:a="http://schemas.openxmlformats.org/drawingml/2006/main">
              <a:ext uri="{FF2B5EF4-FFF2-40B4-BE49-F238E27FC236}">
                <a16:creationId xmlns:a16="http://schemas.microsoft.com/office/drawing/2014/main" id="{356DC485-4452-4E36-8118-80AC105114A3}"/>
              </a:ext>
            </a:extLst>
          </p:cNvPr>
          <p:cNvSpPr>
            <a:spLocks xmlns:a="http://schemas.openxmlformats.org/drawingml/2006/main" noGrp="1"/>
          </p:cNvSpPr>
          <p:nvPr/>
        </p:nvSpPr>
        <p:spPr>
          <a:xfrm xmlns:a="http://schemas.openxmlformats.org/drawingml/2006/main">
            <a:off x="6858000" y="4324350"/>
            <a:ext cx="4572000" cy="533400"/>
          </a:xfrm>
          <a:prstGeom xmlns:a="http://schemas.openxmlformats.org/drawingml/2006/main" prst="roundRect">
            <a:avLst>
              <a:gd name="adj" fmla="val 32143"/>
            </a:avLst>
          </a:prstGeom>
          <a:solidFill xmlns:a="http://schemas.openxmlformats.org/drawingml/2006/main">
            <a:srgbClr val="FFFFFF"/>
          </a:solidFill>
          <a:ln xmlns:a="http://schemas.openxmlformats.org/drawingml/2006/main" w="9525">
            <a:solidFill>
              <a:srgbClr val="DDE3EA"/>
            </a:solidFill>
            <a:prstDash val="solid"/>
          </a:ln>
        </p:spPr>
        <p:txBody>
          <a:bodyPr xmlns:a="http://schemas.openxmlformats.org/drawingml/2006/main" wrap="square" lIns="171450" tIns="76200" rIns="133350" bIns="76200" anchor="ctr">
            <a:noAutofit/>
          </a:bodyPr>
          <a:lstStyle xmlns:a="http://schemas.openxmlformats.org/drawingml/2006/main"/>
          <a:p xmlns:a="http://schemas.openxmlformats.org/drawingml/2006/main">
            <a:pPr algn="l">
              <a:lnSpc>
                <a:spcPct val="108000"/>
              </a:lnSpc>
              <a:buNone/>
              <a:defRPr sz="1575" b="1">
                <a:solidFill>
                  <a:srgbClr val="0D1726"/>
                </a:solidFill>
                <a:latin typeface="DejaVu Sans"/>
                <a:ea typeface="DejaVu Sans"/>
                <a:cs typeface="DejaVu Sans"/>
              </a:defRPr>
            </a:pPr>
            <a:r>
              <a:rPr sz="1575" b="1">
                <a:solidFill>
                  <a:srgbClr val="0D1726"/>
                </a:solidFill>
                <a:latin typeface="DejaVu Sans"/>
                <a:ea typeface="DejaVu Sans"/>
                <a:cs typeface="DejaVu Sans"/>
              </a:rPr>
              <a:t>Werbung</a:t>
            </a:r>
          </a:p>
        </p:txBody>
      </p:sp>
      <p:sp>
        <p:nvSpPr>
          <p:cNvPr id="9" name="">
            <a:extLst xmlns:a="http://schemas.openxmlformats.org/drawingml/2006/main">
              <a:ext uri="{FF2B5EF4-FFF2-40B4-BE49-F238E27FC236}">
                <a16:creationId xmlns:a16="http://schemas.microsoft.com/office/drawing/2014/main" id="{D24D1B35-F22A-4757-9A5D-4B0DC762D84E}"/>
              </a:ext>
            </a:extLst>
          </p:cNvPr>
          <p:cNvSpPr>
            <a:spLocks xmlns:a="http://schemas.openxmlformats.org/drawingml/2006/main" noGrp="1"/>
          </p:cNvSpPr>
          <p:nvPr/>
        </p:nvSpPr>
        <p:spPr>
          <a:xfrm xmlns:a="http://schemas.openxmlformats.org/drawingml/2006/main">
            <a:off x="6858000" y="5048250"/>
            <a:ext cx="4572000" cy="533400"/>
          </a:xfrm>
          <a:prstGeom xmlns:a="http://schemas.openxmlformats.org/drawingml/2006/main" prst="roundRect">
            <a:avLst>
              <a:gd name="adj" fmla="val 32143"/>
            </a:avLst>
          </a:prstGeom>
          <a:solidFill xmlns:a="http://schemas.openxmlformats.org/drawingml/2006/main">
            <a:srgbClr val="FFFFFF"/>
          </a:solidFill>
          <a:ln xmlns:a="http://schemas.openxmlformats.org/drawingml/2006/main" w="9525">
            <a:solidFill>
              <a:srgbClr val="DDE3EA"/>
            </a:solidFill>
            <a:prstDash val="solid"/>
          </a:ln>
        </p:spPr>
        <p:txBody>
          <a:bodyPr xmlns:a="http://schemas.openxmlformats.org/drawingml/2006/main" wrap="square" lIns="171450" tIns="76200" rIns="133350" bIns="76200" anchor="ctr">
            <a:noAutofit/>
          </a:bodyPr>
          <a:lstStyle xmlns:a="http://schemas.openxmlformats.org/drawingml/2006/main"/>
          <a:p xmlns:a="http://schemas.openxmlformats.org/drawingml/2006/main">
            <a:pPr algn="l">
              <a:lnSpc>
                <a:spcPct val="108000"/>
              </a:lnSpc>
              <a:buNone/>
              <a:defRPr sz="1575" b="1">
                <a:solidFill>
                  <a:srgbClr val="0D1726"/>
                </a:solidFill>
                <a:latin typeface="DejaVu Sans"/>
                <a:ea typeface="DejaVu Sans"/>
                <a:cs typeface="DejaVu Sans"/>
              </a:defRPr>
            </a:pPr>
            <a:r>
              <a:rPr sz="1575" b="1">
                <a:solidFill>
                  <a:srgbClr val="0D1726"/>
                </a:solidFill>
                <a:latin typeface="DejaVu Sans"/>
                <a:ea typeface="DejaVu Sans"/>
                <a:cs typeface="DejaVu Sans"/>
              </a:rPr>
              <a:t>Lebensstil und Informationen</a:t>
            </a:r>
          </a:p>
        </p:txBody>
      </p:sp>
      <p:sp>
        <p:nvSpPr>
          <p:cNvPr id="10" name="">
            <a:extLst xmlns:a="http://schemas.openxmlformats.org/drawingml/2006/main">
              <a:ext uri="{FF2B5EF4-FFF2-40B4-BE49-F238E27FC236}">
                <a16:creationId xmlns:a16="http://schemas.microsoft.com/office/drawing/2014/main" id="{FB5E37A3-B046-4CCA-BE42-D1AB81021A95}"/>
              </a:ext>
            </a:extLst>
          </p:cNvPr>
          <p:cNvSpPr>
            <a:spLocks xmlns:a="http://schemas.openxmlformats.org/drawingml/2006/main" noGrp="1"/>
          </p:cNvSpPr>
          <p:nvPr/>
        </p:nvSpPr>
        <p:spPr>
          <a:xfrm xmlns:a="http://schemas.openxmlformats.org/drawingml/2006/main">
            <a:off x="666750" y="6553200"/>
            <a:ext cx="3429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Wirtschaft · Beruf · Klasse 7</a:t>
            </a:r>
          </a:p>
        </p:txBody>
      </p:sp>
      <p:sp>
        <p:nvSpPr>
          <p:cNvPr id="11" name="">
            <a:extLst xmlns:a="http://schemas.openxmlformats.org/drawingml/2006/main">
              <a:ext uri="{FF2B5EF4-FFF2-40B4-BE49-F238E27FC236}">
                <a16:creationId xmlns:a16="http://schemas.microsoft.com/office/drawing/2014/main" id="{A109984C-396D-409D-94B1-0740F19D10CE}"/>
              </a:ext>
            </a:extLst>
          </p:cNvPr>
          <p:cNvSpPr>
            <a:spLocks xmlns:a="http://schemas.openxmlformats.org/drawingml/2006/main" noGrp="1"/>
          </p:cNvSpPr>
          <p:nvPr/>
        </p:nvSpPr>
        <p:spPr>
          <a:xfrm xmlns:a="http://schemas.openxmlformats.org/drawingml/2006/main">
            <a:off x="11239500" y="655320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10</a:t>
            </a:r>
          </a:p>
        </p:txBody>
      </p:sp>
    </p:spTree>
    <p:extLst>
      <p:ext uri="{BB962C8B-B14F-4D97-AF65-F5344CB8AC3E}">
        <p14:creationId xmlns:p14="http://schemas.microsoft.com/office/powerpoint/2010/main" val="1469797795"/>
      </p:ext>
    </p:extLst>
  </p:cSld>
</p:sld>
</file>

<file path=ppt/slides/slide1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926D90C-39F5-4B4A-91C2-A479B49A9A16}"/>
              </a:ext>
            </a:extLst>
          </p:cNvPr>
          <p:cNvSpPr>
            <a:spLocks xmlns:a="http://schemas.openxmlformats.org/drawingml/2006/main" noGrp="1"/>
          </p:cNvSpPr>
          <p:nvPr/>
        </p:nvSpPr>
        <p:spPr>
          <a:xfrm xmlns:a="http://schemas.openxmlformats.org/drawingml/2006/main">
            <a:off x="666750" y="361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75" b="1">
                <a:solidFill>
                  <a:srgbClr val="28C69F"/>
                </a:solidFill>
                <a:latin typeface="DejaVu Sans"/>
                <a:ea typeface="DejaVu Sans"/>
                <a:cs typeface="DejaVu Sans"/>
              </a:defRPr>
            </a:pPr>
            <a:r>
              <a:rPr sz="975" b="1">
                <a:solidFill>
                  <a:srgbClr val="28C69F"/>
                </a:solidFill>
                <a:latin typeface="DejaVu Sans"/>
                <a:ea typeface="DejaVu Sans"/>
                <a:cs typeface="DejaVu Sans"/>
              </a:rPr>
              <a:t>EINFLUSS</a:t>
            </a:r>
          </a:p>
        </p:txBody>
      </p:sp>
      <p:sp>
        <p:nvSpPr>
          <p:cNvPr id="2" name="">
            <a:extLst xmlns:a="http://schemas.openxmlformats.org/drawingml/2006/main">
              <a:ext uri="{FF2B5EF4-FFF2-40B4-BE49-F238E27FC236}">
                <a16:creationId xmlns:a16="http://schemas.microsoft.com/office/drawing/2014/main" id="{5456B6E7-8EE8-4756-A5FD-2A1EB1B89398}"/>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000" b="1">
                <a:solidFill>
                  <a:srgbClr val="0D1726"/>
                </a:solidFill>
                <a:latin typeface="DejaVu Sans"/>
                <a:ea typeface="DejaVu Sans"/>
                <a:cs typeface="DejaVu Sans"/>
              </a:defRPr>
            </a:pPr>
            <a:r>
              <a:rPr sz="3000" b="1">
                <a:solidFill>
                  <a:srgbClr val="0D1726"/>
                </a:solidFill>
                <a:latin typeface="DejaVu Sans"/>
                <a:ea typeface="DejaVu Sans"/>
                <a:cs typeface="DejaVu Sans"/>
              </a:rPr>
              <a:t>Werbung und Peergroup verändern den Blick</a:t>
            </a:r>
          </a:p>
        </p:txBody>
      </p:sp>
      <p:sp>
        <p:nvSpPr>
          <p:cNvPr id="3" name="">
            <a:extLst xmlns:a="http://schemas.openxmlformats.org/drawingml/2006/main">
              <a:ext uri="{FF2B5EF4-FFF2-40B4-BE49-F238E27FC236}">
                <a16:creationId xmlns:a16="http://schemas.microsoft.com/office/drawing/2014/main" id="{F2A808C8-A295-4EBB-B77D-3D50051285EA}"/>
              </a:ext>
            </a:extLst>
          </p:cNvPr>
          <p:cNvSpPr>
            <a:spLocks xmlns:a="http://schemas.openxmlformats.org/drawingml/2006/main" noGrp="1"/>
          </p:cNvSpPr>
          <p:nvPr/>
        </p:nvSpPr>
        <p:spPr>
          <a:xfrm xmlns:a="http://schemas.openxmlformats.org/drawingml/2006/main">
            <a:off x="876300" y="1771650"/>
            <a:ext cx="4953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2000"/>
              </a:lnSpc>
              <a:buNone/>
              <a:defRPr sz="2550" b="1">
                <a:solidFill>
                  <a:srgbClr val="6E8BF7"/>
                </a:solidFill>
                <a:latin typeface="DejaVu Sans"/>
                <a:ea typeface="DejaVu Sans"/>
                <a:cs typeface="DejaVu Sans"/>
              </a:defRPr>
            </a:pPr>
            <a:r>
              <a:rPr sz="2550" b="1">
                <a:solidFill>
                  <a:srgbClr val="6E8BF7"/>
                </a:solidFill>
                <a:latin typeface="DejaVu Sans"/>
                <a:ea typeface="DejaVu Sans"/>
                <a:cs typeface="DejaVu Sans"/>
              </a:rPr>
              <a:t>„Alle in meiner Klasse haben das.“</a:t>
            </a:r>
          </a:p>
        </p:txBody>
      </p:sp>
      <p:sp>
        <p:nvSpPr>
          <p:cNvPr id="4" name="">
            <a:extLst xmlns:a="http://schemas.openxmlformats.org/drawingml/2006/main">
              <a:ext uri="{FF2B5EF4-FFF2-40B4-BE49-F238E27FC236}">
                <a16:creationId xmlns:a16="http://schemas.microsoft.com/office/drawing/2014/main" id="{25B36BD3-5BF4-4BA2-A292-FBECCCCA70FD}"/>
              </a:ext>
            </a:extLst>
          </p:cNvPr>
          <p:cNvSpPr>
            <a:spLocks xmlns:a="http://schemas.openxmlformats.org/drawingml/2006/main" noGrp="1"/>
          </p:cNvSpPr>
          <p:nvPr/>
        </p:nvSpPr>
        <p:spPr>
          <a:xfrm xmlns:a="http://schemas.openxmlformats.org/drawingml/2006/main">
            <a:off x="6362700" y="1771650"/>
            <a:ext cx="4953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2000"/>
              </a:lnSpc>
              <a:buNone/>
              <a:defRPr sz="2550" b="1">
                <a:solidFill>
                  <a:srgbClr val="E06B5F"/>
                </a:solidFill>
                <a:latin typeface="DejaVu Sans"/>
                <a:ea typeface="DejaVu Sans"/>
                <a:cs typeface="DejaVu Sans"/>
              </a:defRPr>
            </a:pPr>
            <a:r>
              <a:rPr sz="2550" b="1">
                <a:solidFill>
                  <a:srgbClr val="E06B5F"/>
                </a:solidFill>
                <a:latin typeface="DejaVu Sans"/>
                <a:ea typeface="DejaVu Sans"/>
                <a:cs typeface="DejaVu Sans"/>
              </a:rPr>
              <a:t>„Nur heute. Du brauchst das Upgrade.“</a:t>
            </a:r>
          </a:p>
        </p:txBody>
      </p:sp>
      <p:sp>
        <p:nvSpPr>
          <p:cNvPr id="5" name="">
            <a:extLst xmlns:a="http://schemas.openxmlformats.org/drawingml/2006/main">
              <a:ext uri="{FF2B5EF4-FFF2-40B4-BE49-F238E27FC236}">
                <a16:creationId xmlns:a16="http://schemas.microsoft.com/office/drawing/2014/main" id="{8D7035F8-0BC8-4A5E-A6A8-799232D4ABBE}"/>
              </a:ext>
            </a:extLst>
          </p:cNvPr>
          <p:cNvSpPr>
            <a:spLocks xmlns:a="http://schemas.openxmlformats.org/drawingml/2006/main" noGrp="1"/>
          </p:cNvSpPr>
          <p:nvPr/>
        </p:nvSpPr>
        <p:spPr>
          <a:xfrm xmlns:a="http://schemas.openxmlformats.org/drawingml/2006/main">
            <a:off x="1066800" y="3238500"/>
            <a:ext cx="4572000" cy="1200150"/>
          </a:xfrm>
          <a:prstGeom xmlns:a="http://schemas.openxmlformats.org/drawingml/2006/main" prst="roundRect">
            <a:avLst>
              <a:gd name="adj" fmla="val 14286"/>
            </a:avLst>
          </a:prstGeom>
          <a:solidFill xmlns:a="http://schemas.openxmlformats.org/drawingml/2006/main">
            <a:srgbClr val="EAF0FF"/>
          </a:solidFill>
          <a:ln xmlns:a="http://schemas.openxmlformats.org/drawingml/2006/main" w="9525">
            <a:solidFill>
              <a:srgbClr val="6E8BF7"/>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800" b="1">
                <a:solidFill>
                  <a:srgbClr val="0D1726"/>
                </a:solidFill>
                <a:latin typeface="DejaVu Sans"/>
                <a:ea typeface="DejaVu Sans"/>
                <a:cs typeface="DejaVu Sans"/>
              </a:defRPr>
            </a:pPr>
            <a:r>
              <a:rPr sz="1800" b="1">
                <a:solidFill>
                  <a:srgbClr val="0D1726"/>
                </a:solidFill>
                <a:latin typeface="DejaVu Sans"/>
                <a:ea typeface="DejaVu Sans"/>
                <a:cs typeface="DejaVu Sans"/>
              </a:rPr>
              <a:t>PEERGROUP</a:t>
            </a:r>
          </a:p>
          <a:p xmlns:a="http://schemas.openxmlformats.org/drawingml/2006/main">
            <a:pPr algn="ctr">
              <a:lnSpc>
                <a:spcPct val="108000"/>
              </a:lnSpc>
              <a:buNone/>
              <a:defRPr sz="1800" b="1">
                <a:solidFill>
                  <a:srgbClr val="0D1726"/>
                </a:solidFill>
                <a:latin typeface="DejaVu Sans"/>
                <a:ea typeface="DejaVu Sans"/>
                <a:cs typeface="DejaVu Sans"/>
              </a:defRPr>
            </a:pPr>
            <a:r>
              <a:rPr sz="1800" b="1">
                <a:solidFill>
                  <a:srgbClr val="0D1726"/>
                </a:solidFill>
                <a:latin typeface="DejaVu Sans"/>
                <a:ea typeface="DejaVu Sans"/>
                <a:cs typeface="DejaVu Sans"/>
              </a:rPr>
              <a:t>Zugehörigkeit und Anerkennung</a:t>
            </a:r>
          </a:p>
        </p:txBody>
      </p:sp>
      <p:sp>
        <p:nvSpPr>
          <p:cNvPr id="6" name="">
            <a:extLst xmlns:a="http://schemas.openxmlformats.org/drawingml/2006/main">
              <a:ext uri="{FF2B5EF4-FFF2-40B4-BE49-F238E27FC236}">
                <a16:creationId xmlns:a16="http://schemas.microsoft.com/office/drawing/2014/main" id="{8127AFAB-C6B6-47FF-B381-18030E33830F}"/>
              </a:ext>
            </a:extLst>
          </p:cNvPr>
          <p:cNvSpPr>
            <a:spLocks xmlns:a="http://schemas.openxmlformats.org/drawingml/2006/main" noGrp="1"/>
          </p:cNvSpPr>
          <p:nvPr/>
        </p:nvSpPr>
        <p:spPr>
          <a:xfrm xmlns:a="http://schemas.openxmlformats.org/drawingml/2006/main">
            <a:off x="6553200" y="3238500"/>
            <a:ext cx="4572000" cy="1200150"/>
          </a:xfrm>
          <a:prstGeom xmlns:a="http://schemas.openxmlformats.org/drawingml/2006/main" prst="roundRect">
            <a:avLst>
              <a:gd name="adj" fmla="val 14286"/>
            </a:avLst>
          </a:prstGeom>
          <a:solidFill xmlns:a="http://schemas.openxmlformats.org/drawingml/2006/main">
            <a:srgbClr val="FDECEA"/>
          </a:solidFill>
          <a:ln xmlns:a="http://schemas.openxmlformats.org/drawingml/2006/main" w="9525">
            <a:solidFill>
              <a:srgbClr val="E06B5F"/>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800" b="1">
                <a:solidFill>
                  <a:srgbClr val="0D1726"/>
                </a:solidFill>
                <a:latin typeface="DejaVu Sans"/>
                <a:ea typeface="DejaVu Sans"/>
                <a:cs typeface="DejaVu Sans"/>
              </a:defRPr>
            </a:pPr>
            <a:r>
              <a:rPr sz="1800" b="1">
                <a:solidFill>
                  <a:srgbClr val="0D1726"/>
                </a:solidFill>
                <a:latin typeface="DejaVu Sans"/>
                <a:ea typeface="DejaVu Sans"/>
                <a:cs typeface="DejaVu Sans"/>
              </a:rPr>
              <a:t>WERBUNG</a:t>
            </a:r>
          </a:p>
          <a:p xmlns:a="http://schemas.openxmlformats.org/drawingml/2006/main">
            <a:pPr algn="ctr">
              <a:lnSpc>
                <a:spcPct val="108000"/>
              </a:lnSpc>
              <a:buNone/>
              <a:defRPr sz="1800" b="1">
                <a:solidFill>
                  <a:srgbClr val="0D1726"/>
                </a:solidFill>
                <a:latin typeface="DejaVu Sans"/>
                <a:ea typeface="DejaVu Sans"/>
                <a:cs typeface="DejaVu Sans"/>
              </a:defRPr>
            </a:pPr>
            <a:r>
              <a:rPr sz="1800" b="1">
                <a:solidFill>
                  <a:srgbClr val="0D1726"/>
                </a:solidFill>
                <a:latin typeface="DejaVu Sans"/>
                <a:ea typeface="DejaVu Sans"/>
                <a:cs typeface="DejaVu Sans"/>
              </a:rPr>
              <a:t>Aufmerksamkeit und ein Kaufanreiz</a:t>
            </a:r>
          </a:p>
        </p:txBody>
      </p:sp>
      <p:sp>
        <p:nvSpPr>
          <p:cNvPr id="7" name="">
            <a:extLst xmlns:a="http://schemas.openxmlformats.org/drawingml/2006/main">
              <a:ext uri="{FF2B5EF4-FFF2-40B4-BE49-F238E27FC236}">
                <a16:creationId xmlns:a16="http://schemas.microsoft.com/office/drawing/2014/main" id="{950574D0-ADBD-4504-8F20-DAB958ECDB08}"/>
              </a:ext>
            </a:extLst>
          </p:cNvPr>
          <p:cNvSpPr>
            <a:spLocks xmlns:a="http://schemas.openxmlformats.org/drawingml/2006/main" noGrp="1"/>
          </p:cNvSpPr>
          <p:nvPr/>
        </p:nvSpPr>
        <p:spPr>
          <a:xfrm xmlns:a="http://schemas.openxmlformats.org/drawingml/2006/main">
            <a:off x="1619250" y="514350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950" b="1">
                <a:solidFill>
                  <a:srgbClr val="17324A"/>
                </a:solidFill>
                <a:latin typeface="DejaVu Sans"/>
                <a:ea typeface="DejaVu Sans"/>
                <a:cs typeface="DejaVu Sans"/>
              </a:defRPr>
            </a:pPr>
            <a:r>
              <a:rPr sz="1950" b="1">
                <a:solidFill>
                  <a:srgbClr val="17324A"/>
                </a:solidFill>
                <a:latin typeface="DejaVu Sans"/>
                <a:ea typeface="DejaVu Sans"/>
                <a:cs typeface="DejaVu Sans"/>
              </a:rPr>
              <a:t>Prüffrage: Welche Information ist überprüfbar und wer hat ein Interesse an meiner Entscheidung?</a:t>
            </a:r>
          </a:p>
        </p:txBody>
      </p:sp>
      <p:sp>
        <p:nvSpPr>
          <p:cNvPr id="8" name="">
            <a:extLst xmlns:a="http://schemas.openxmlformats.org/drawingml/2006/main">
              <a:ext uri="{FF2B5EF4-FFF2-40B4-BE49-F238E27FC236}">
                <a16:creationId xmlns:a16="http://schemas.microsoft.com/office/drawing/2014/main" id="{AB4EB274-44B0-4822-A32E-72AD2A195BBC}"/>
              </a:ext>
            </a:extLst>
          </p:cNvPr>
          <p:cNvSpPr>
            <a:spLocks xmlns:a="http://schemas.openxmlformats.org/drawingml/2006/main" noGrp="1"/>
          </p:cNvSpPr>
          <p:nvPr/>
        </p:nvSpPr>
        <p:spPr>
          <a:xfrm xmlns:a="http://schemas.openxmlformats.org/drawingml/2006/main">
            <a:off x="666750" y="6553200"/>
            <a:ext cx="3429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Wirtschaft · Beruf · Klasse 7</a:t>
            </a:r>
          </a:p>
        </p:txBody>
      </p:sp>
      <p:sp>
        <p:nvSpPr>
          <p:cNvPr id="9" name="">
            <a:extLst xmlns:a="http://schemas.openxmlformats.org/drawingml/2006/main">
              <a:ext uri="{FF2B5EF4-FFF2-40B4-BE49-F238E27FC236}">
                <a16:creationId xmlns:a16="http://schemas.microsoft.com/office/drawing/2014/main" id="{2434BFB8-56A8-4A02-902B-60F00C287D93}"/>
              </a:ext>
            </a:extLst>
          </p:cNvPr>
          <p:cNvSpPr>
            <a:spLocks xmlns:a="http://schemas.openxmlformats.org/drawingml/2006/main" noGrp="1"/>
          </p:cNvSpPr>
          <p:nvPr/>
        </p:nvSpPr>
        <p:spPr>
          <a:xfrm xmlns:a="http://schemas.openxmlformats.org/drawingml/2006/main">
            <a:off x="11239500" y="655320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11</a:t>
            </a:r>
          </a:p>
        </p:txBody>
      </p:sp>
    </p:spTree>
    <p:extLst>
      <p:ext uri="{BB962C8B-B14F-4D97-AF65-F5344CB8AC3E}">
        <p14:creationId xmlns:p14="http://schemas.microsoft.com/office/powerpoint/2010/main" val="743458658"/>
      </p:ext>
    </p:extLst>
  </p:cSld>
</p:sld>
</file>

<file path=ppt/slides/slide1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96A52D-4D0F-40DC-91EE-C365B38CF8D0}"/>
              </a:ext>
            </a:extLst>
          </p:cNvPr>
          <p:cNvSpPr>
            <a:spLocks xmlns:a="http://schemas.openxmlformats.org/drawingml/2006/main" noGrp="1"/>
          </p:cNvSpPr>
          <p:nvPr/>
        </p:nvSpPr>
        <p:spPr>
          <a:xfrm xmlns:a="http://schemas.openxmlformats.org/drawingml/2006/main">
            <a:off x="666750" y="361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75" b="1">
                <a:solidFill>
                  <a:srgbClr val="28C69F"/>
                </a:solidFill>
                <a:latin typeface="DejaVu Sans"/>
                <a:ea typeface="DejaVu Sans"/>
                <a:cs typeface="DejaVu Sans"/>
              </a:defRPr>
            </a:pPr>
            <a:r>
              <a:rPr sz="975" b="1">
                <a:solidFill>
                  <a:srgbClr val="28C69F"/>
                </a:solidFill>
                <a:latin typeface="DejaVu Sans"/>
                <a:ea typeface="DejaVu Sans"/>
                <a:cs typeface="DejaVu Sans"/>
              </a:rPr>
              <a:t>ABWÄGEN</a:t>
            </a:r>
          </a:p>
        </p:txBody>
      </p:sp>
      <p:sp>
        <p:nvSpPr>
          <p:cNvPr id="2" name="">
            <a:extLst xmlns:a="http://schemas.openxmlformats.org/drawingml/2006/main">
              <a:ext uri="{FF2B5EF4-FFF2-40B4-BE49-F238E27FC236}">
                <a16:creationId xmlns:a16="http://schemas.microsoft.com/office/drawing/2014/main" id="{A466C64E-82FC-42C7-AA68-E94350AC1A1B}"/>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000" b="1">
                <a:solidFill>
                  <a:srgbClr val="0D1726"/>
                </a:solidFill>
                <a:latin typeface="DejaVu Sans"/>
                <a:ea typeface="DejaVu Sans"/>
                <a:cs typeface="DejaVu Sans"/>
              </a:defRPr>
            </a:pPr>
            <a:r>
              <a:rPr sz="3000" b="1">
                <a:solidFill>
                  <a:srgbClr val="0D1726"/>
                </a:solidFill>
                <a:latin typeface="DejaVu Sans"/>
                <a:ea typeface="DejaVu Sans"/>
                <a:cs typeface="DejaVu Sans"/>
              </a:rPr>
              <a:t>Folgen einer Kaufentscheidung</a:t>
            </a:r>
          </a:p>
        </p:txBody>
      </p:sp>
      <p:graphicFrame>
        <p:nvGraphicFramePr>
          <p:cNvPr id="9" name=""/>
          <p:cNvGraphicFramePr/>
          <p:nvPr/>
        </p:nvGraphicFramePr>
        <p:xfrm>
          <a:off xmlns:a="http://schemas.openxmlformats.org/drawingml/2006/main" x="857250" y="1581150"/>
          <a:ext xmlns:a="http://schemas.openxmlformats.org/drawingml/2006/main" cx="10477500" cy="3333750"/>
        </p:xfrm>
        <a:graphic xmlns:a="http://schemas.openxmlformats.org/drawingml/2006/main">
          <a:graphicData uri="http://schemas.openxmlformats.org/drawingml/2006/table">
            <a:tbl>
              <a:tblPr/>
              <a:tblGrid>
                <a:gridCol w="2619375"/>
                <a:gridCol w="2619375"/>
                <a:gridCol w="2619375"/>
                <a:gridCol w="2619375"/>
              </a:tblGrid>
              <a:tr h="833438">
                <a:tc>
                  <a:txBody>
                    <a:bodyPr lIns="76200" tIns="57150" rIns="76200" bIns="57150">
                      <a:noAutofit/>
                    </a:bodyPr>
                    <a:lstStyle/>
                    <a:p>
                      <a:pPr algn="l"/>
                      <a:r>
                        <a:rPr sz="1350" b="1">
                          <a:solidFill>
                            <a:srgbClr val="FFFFFF"/>
                          </a:solidFill>
                          <a:latin typeface="DejaVu Sans"/>
                          <a:ea typeface="DejaVu Sans"/>
                          <a:cs typeface="DejaVu Sans"/>
                        </a:rPr>
                        <a:t>Alternative</a:t>
                      </a:r>
                    </a:p>
                  </a:txBody>
                  <a:tcPr marL="91440" marR="91440" marT="45720" marB="45720" anchor="ctr">
                    <a:solidFill>
                      <a:srgbClr val="0D1726"/>
                    </a:solidFill>
                  </a:tcPr>
                </a:tc>
                <a:tc>
                  <a:txBody>
                    <a:bodyPr lIns="76200" tIns="57150" rIns="76200" bIns="57150">
                      <a:noAutofit/>
                    </a:bodyPr>
                    <a:lstStyle/>
                    <a:p>
                      <a:pPr algn="ctr"/>
                      <a:r>
                        <a:rPr sz="1350" b="1">
                          <a:solidFill>
                            <a:srgbClr val="FFFFFF"/>
                          </a:solidFill>
                          <a:latin typeface="DejaVu Sans"/>
                          <a:ea typeface="DejaVu Sans"/>
                          <a:cs typeface="DejaVu Sans"/>
                        </a:rPr>
                        <a:t>Preis</a:t>
                      </a:r>
                    </a:p>
                  </a:txBody>
                  <a:tcPr marL="91440" marR="91440" marT="45720" marB="45720" anchor="ctr">
                    <a:solidFill>
                      <a:srgbClr val="0D1726"/>
                    </a:solidFill>
                  </a:tcPr>
                </a:tc>
                <a:tc>
                  <a:txBody>
                    <a:bodyPr lIns="76200" tIns="57150" rIns="76200" bIns="57150">
                      <a:noAutofit/>
                    </a:bodyPr>
                    <a:lstStyle/>
                    <a:p>
                      <a:pPr algn="ctr"/>
                      <a:r>
                        <a:rPr sz="1350" b="1">
                          <a:solidFill>
                            <a:srgbClr val="FFFFFF"/>
                          </a:solidFill>
                          <a:latin typeface="DejaVu Sans"/>
                          <a:ea typeface="DejaVu Sans"/>
                          <a:cs typeface="DejaVu Sans"/>
                        </a:rPr>
                        <a:t>Nutzung und Qualität</a:t>
                      </a:r>
                    </a:p>
                  </a:txBody>
                  <a:tcPr marL="91440" marR="91440" marT="45720" marB="45720" anchor="ctr">
                    <a:solidFill>
                      <a:srgbClr val="0D1726"/>
                    </a:solidFill>
                  </a:tcPr>
                </a:tc>
                <a:tc>
                  <a:txBody>
                    <a:bodyPr lIns="76200" tIns="57150" rIns="76200" bIns="57150">
                      <a:noAutofit/>
                    </a:bodyPr>
                    <a:lstStyle/>
                    <a:p>
                      <a:pPr algn="ctr"/>
                      <a:r>
                        <a:rPr sz="1350" b="1">
                          <a:solidFill>
                            <a:srgbClr val="FFFFFF"/>
                          </a:solidFill>
                          <a:latin typeface="DejaVu Sans"/>
                          <a:ea typeface="DejaVu Sans"/>
                          <a:cs typeface="DejaVu Sans"/>
                        </a:rPr>
                        <a:t>Umwelt und Soziales</a:t>
                      </a:r>
                    </a:p>
                  </a:txBody>
                  <a:tcPr marL="91440" marR="91440" marT="45720" marB="45720" anchor="ctr">
                    <a:solidFill>
                      <a:srgbClr val="0D1726"/>
                    </a:solidFill>
                  </a:tcPr>
                </a:tc>
              </a:tr>
              <a:tr h="833438">
                <a:tc>
                  <a:txBody>
                    <a:bodyPr lIns="76200" tIns="57150" rIns="76200" bIns="57150">
                      <a:noAutofit/>
                    </a:bodyPr>
                    <a:lstStyle/>
                    <a:p>
                      <a:pPr algn="l"/>
                      <a:r>
                        <a:rPr sz="1275" b="1">
                          <a:solidFill>
                            <a:srgbClr val="0D1726"/>
                          </a:solidFill>
                          <a:latin typeface="DejaVu Sans"/>
                          <a:ea typeface="DejaVu Sans"/>
                          <a:cs typeface="DejaVu Sans"/>
                        </a:rPr>
                        <a:t>billig neu</a:t>
                      </a:r>
                    </a:p>
                  </a:txBody>
                  <a:tcPr marL="91440" marR="91440" marT="45720" marB="45720" anchor="ctr">
                    <a:solidFill>
                      <a:srgbClr val="FFFFFF"/>
                    </a:solidFill>
                  </a:tcPr>
                </a:tc>
                <a:tc>
                  <a:txBody>
                    <a:bodyPr lIns="76200" tIns="57150" rIns="76200" bIns="57150">
                      <a:noAutofit/>
                    </a:bodyPr>
                    <a:lstStyle/>
                    <a:p>
                      <a:pPr algn="ctr"/>
                      <a:r>
                        <a:rPr sz="1275" b="0">
                          <a:solidFill>
                            <a:srgbClr val="0D1726"/>
                          </a:solidFill>
                          <a:latin typeface="DejaVu Sans"/>
                          <a:ea typeface="DejaVu Sans"/>
                          <a:cs typeface="DejaVu Sans"/>
                        </a:rPr>
                        <a:t>niedrig</a:t>
                      </a:r>
                    </a:p>
                  </a:txBody>
                  <a:tcPr marL="91440" marR="91440" marT="45720" marB="45720" anchor="ctr">
                    <a:solidFill>
                      <a:srgbClr val="FFFFFF"/>
                    </a:solidFill>
                  </a:tcPr>
                </a:tc>
                <a:tc>
                  <a:txBody>
                    <a:bodyPr lIns="76200" tIns="57150" rIns="76200" bIns="57150">
                      <a:noAutofit/>
                    </a:bodyPr>
                    <a:lstStyle/>
                    <a:p>
                      <a:pPr algn="ctr"/>
                      <a:r>
                        <a:rPr sz="1275" b="0">
                          <a:solidFill>
                            <a:srgbClr val="0D1726"/>
                          </a:solidFill>
                          <a:latin typeface="DejaVu Sans"/>
                          <a:ea typeface="DejaVu Sans"/>
                          <a:cs typeface="DejaVu Sans"/>
                        </a:rPr>
                        <a:t>möglicherweise kurze Nutzung</a:t>
                      </a:r>
                    </a:p>
                  </a:txBody>
                  <a:tcPr marL="91440" marR="91440" marT="45720" marB="45720" anchor="ctr">
                    <a:solidFill>
                      <a:srgbClr val="FFFFFF"/>
                    </a:solidFill>
                  </a:tcPr>
                </a:tc>
                <a:tc>
                  <a:txBody>
                    <a:bodyPr lIns="76200" tIns="57150" rIns="76200" bIns="57150">
                      <a:noAutofit/>
                    </a:bodyPr>
                    <a:lstStyle/>
                    <a:p>
                      <a:pPr algn="ctr"/>
                      <a:r>
                        <a:rPr sz="1275" b="0">
                          <a:solidFill>
                            <a:srgbClr val="0D1726"/>
                          </a:solidFill>
                          <a:latin typeface="DejaVu Sans"/>
                          <a:ea typeface="DejaVu Sans"/>
                          <a:cs typeface="DejaVu Sans"/>
                        </a:rPr>
                        <a:t>Herstellung und Entsorgung</a:t>
                      </a:r>
                    </a:p>
                  </a:txBody>
                  <a:tcPr marL="91440" marR="91440" marT="45720" marB="45720" anchor="ctr">
                    <a:solidFill>
                      <a:srgbClr val="FFFFFF"/>
                    </a:solidFill>
                  </a:tcPr>
                </a:tc>
              </a:tr>
              <a:tr h="833438">
                <a:tc>
                  <a:txBody>
                    <a:bodyPr lIns="76200" tIns="57150" rIns="76200" bIns="57150">
                      <a:noAutofit/>
                    </a:bodyPr>
                    <a:lstStyle/>
                    <a:p>
                      <a:pPr algn="l"/>
                      <a:r>
                        <a:rPr sz="1275" b="1">
                          <a:solidFill>
                            <a:srgbClr val="0D1726"/>
                          </a:solidFill>
                          <a:latin typeface="DejaVu Sans"/>
                          <a:ea typeface="DejaVu Sans"/>
                          <a:cs typeface="DejaVu Sans"/>
                        </a:rPr>
                        <a:t>haltbar neu</a:t>
                      </a:r>
                    </a:p>
                  </a:txBody>
                  <a:tcPr marL="91440" marR="91440" marT="45720" marB="45720" anchor="ctr">
                    <a:solidFill>
                      <a:srgbClr val="FFFFFF"/>
                    </a:solidFill>
                  </a:tcPr>
                </a:tc>
                <a:tc>
                  <a:txBody>
                    <a:bodyPr lIns="76200" tIns="57150" rIns="76200" bIns="57150">
                      <a:noAutofit/>
                    </a:bodyPr>
                    <a:lstStyle/>
                    <a:p>
                      <a:pPr algn="ctr"/>
                      <a:r>
                        <a:rPr sz="1275" b="0">
                          <a:solidFill>
                            <a:srgbClr val="0D1726"/>
                          </a:solidFill>
                          <a:latin typeface="DejaVu Sans"/>
                          <a:ea typeface="DejaVu Sans"/>
                          <a:cs typeface="DejaVu Sans"/>
                        </a:rPr>
                        <a:t>höher</a:t>
                      </a:r>
                    </a:p>
                  </a:txBody>
                  <a:tcPr marL="91440" marR="91440" marT="45720" marB="45720" anchor="ctr">
                    <a:solidFill>
                      <a:srgbClr val="FFFFFF"/>
                    </a:solidFill>
                  </a:tcPr>
                </a:tc>
                <a:tc>
                  <a:txBody>
                    <a:bodyPr lIns="76200" tIns="57150" rIns="76200" bIns="57150">
                      <a:noAutofit/>
                    </a:bodyPr>
                    <a:lstStyle/>
                    <a:p>
                      <a:pPr algn="ctr"/>
                      <a:r>
                        <a:rPr sz="1275" b="0">
                          <a:solidFill>
                            <a:srgbClr val="0D1726"/>
                          </a:solidFill>
                          <a:latin typeface="DejaVu Sans"/>
                          <a:ea typeface="DejaVu Sans"/>
                          <a:cs typeface="DejaVu Sans"/>
                        </a:rPr>
                        <a:t>längere Nutzung möglich</a:t>
                      </a:r>
                    </a:p>
                  </a:txBody>
                  <a:tcPr marL="91440" marR="91440" marT="45720" marB="45720" anchor="ctr">
                    <a:solidFill>
                      <a:srgbClr val="FFFFFF"/>
                    </a:solidFill>
                  </a:tcPr>
                </a:tc>
                <a:tc>
                  <a:txBody>
                    <a:bodyPr lIns="76200" tIns="57150" rIns="76200" bIns="57150">
                      <a:noAutofit/>
                    </a:bodyPr>
                    <a:lstStyle/>
                    <a:p>
                      <a:pPr algn="ctr"/>
                      <a:r>
                        <a:rPr sz="1275" b="0">
                          <a:solidFill>
                            <a:srgbClr val="0D1726"/>
                          </a:solidFill>
                          <a:latin typeface="DejaVu Sans"/>
                          <a:ea typeface="DejaVu Sans"/>
                          <a:cs typeface="DejaVu Sans"/>
                        </a:rPr>
                        <a:t>weniger Ersatzkäufe</a:t>
                      </a:r>
                    </a:p>
                  </a:txBody>
                  <a:tcPr marL="91440" marR="91440" marT="45720" marB="45720" anchor="ctr">
                    <a:solidFill>
                      <a:srgbClr val="FFFFFF"/>
                    </a:solidFill>
                  </a:tcPr>
                </a:tc>
              </a:tr>
              <a:tr h="833438">
                <a:tc>
                  <a:txBody>
                    <a:bodyPr lIns="76200" tIns="57150" rIns="76200" bIns="57150">
                      <a:noAutofit/>
                    </a:bodyPr>
                    <a:lstStyle/>
                    <a:p>
                      <a:pPr algn="l"/>
                      <a:r>
                        <a:rPr sz="1275" b="1">
                          <a:solidFill>
                            <a:srgbClr val="0D1726"/>
                          </a:solidFill>
                          <a:latin typeface="DejaVu Sans"/>
                          <a:ea typeface="DejaVu Sans"/>
                          <a:cs typeface="DejaVu Sans"/>
                        </a:rPr>
                        <a:t>gebraucht</a:t>
                      </a:r>
                    </a:p>
                  </a:txBody>
                  <a:tcPr marL="91440" marR="91440" marT="45720" marB="45720" anchor="ctr">
                    <a:solidFill>
                      <a:srgbClr val="E7F8F3"/>
                    </a:solidFill>
                  </a:tcPr>
                </a:tc>
                <a:tc>
                  <a:txBody>
                    <a:bodyPr lIns="76200" tIns="57150" rIns="76200" bIns="57150">
                      <a:noAutofit/>
                    </a:bodyPr>
                    <a:lstStyle/>
                    <a:p>
                      <a:pPr algn="ctr"/>
                      <a:r>
                        <a:rPr sz="1275" b="0">
                          <a:solidFill>
                            <a:srgbClr val="0D1726"/>
                          </a:solidFill>
                          <a:latin typeface="DejaVu Sans"/>
                          <a:ea typeface="DejaVu Sans"/>
                          <a:cs typeface="DejaVu Sans"/>
                        </a:rPr>
                        <a:t>oft niedrig</a:t>
                      </a:r>
                    </a:p>
                  </a:txBody>
                  <a:tcPr marL="91440" marR="91440" marT="45720" marB="45720" anchor="ctr">
                    <a:solidFill>
                      <a:srgbClr val="E7F8F3"/>
                    </a:solidFill>
                  </a:tcPr>
                </a:tc>
                <a:tc>
                  <a:txBody>
                    <a:bodyPr lIns="76200" tIns="57150" rIns="76200" bIns="57150">
                      <a:noAutofit/>
                    </a:bodyPr>
                    <a:lstStyle/>
                    <a:p>
                      <a:pPr algn="ctr"/>
                      <a:r>
                        <a:rPr sz="1275" b="0">
                          <a:solidFill>
                            <a:srgbClr val="0D1726"/>
                          </a:solidFill>
                          <a:latin typeface="DejaVu Sans"/>
                          <a:ea typeface="DejaVu Sans"/>
                          <a:cs typeface="DejaVu Sans"/>
                        </a:rPr>
                        <a:t>Zustand prüfen</a:t>
                      </a:r>
                    </a:p>
                  </a:txBody>
                  <a:tcPr marL="91440" marR="91440" marT="45720" marB="45720" anchor="ctr">
                    <a:solidFill>
                      <a:srgbClr val="E7F8F3"/>
                    </a:solidFill>
                  </a:tcPr>
                </a:tc>
                <a:tc>
                  <a:txBody>
                    <a:bodyPr lIns="76200" tIns="57150" rIns="76200" bIns="57150">
                      <a:noAutofit/>
                    </a:bodyPr>
                    <a:lstStyle/>
                    <a:p>
                      <a:pPr algn="ctr"/>
                      <a:r>
                        <a:rPr sz="1275" b="0">
                          <a:solidFill>
                            <a:srgbClr val="0D1726"/>
                          </a:solidFill>
                          <a:latin typeface="DejaVu Sans"/>
                          <a:ea typeface="DejaVu Sans"/>
                          <a:cs typeface="DejaVu Sans"/>
                        </a:rPr>
                        <a:t>vorhandenes Produkt weiter nutzen</a:t>
                      </a:r>
                    </a:p>
                  </a:txBody>
                  <a:tcPr marL="91440" marR="91440" marT="45720" marB="45720" anchor="ctr">
                    <a:solidFill>
                      <a:srgbClr val="E7F8F3"/>
                    </a:solidFill>
                  </a:tcPr>
                </a:tc>
              </a:tr>
            </a:tbl>
          </a:graphicData>
        </a:graphic>
      </p:graphicFrame>
      <p:sp>
        <p:nvSpPr>
          <p:cNvPr id="4" name="">
            <a:extLst xmlns:a="http://schemas.openxmlformats.org/drawingml/2006/main">
              <a:ext uri="{FF2B5EF4-FFF2-40B4-BE49-F238E27FC236}">
                <a16:creationId xmlns:a16="http://schemas.microsoft.com/office/drawing/2014/main" id="{BD8ED1B3-9790-432F-9AF8-0BC91C189F5C}"/>
              </a:ext>
            </a:extLst>
          </p:cNvPr>
          <p:cNvSpPr>
            <a:spLocks xmlns:a="http://schemas.openxmlformats.org/drawingml/2006/main" noGrp="1"/>
          </p:cNvSpPr>
          <p:nvPr/>
        </p:nvSpPr>
        <p:spPr>
          <a:xfrm xmlns:a="http://schemas.openxmlformats.org/drawingml/2006/main">
            <a:off x="1524000" y="5334000"/>
            <a:ext cx="914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875" b="1">
                <a:solidFill>
                  <a:srgbClr val="17324A"/>
                </a:solidFill>
                <a:latin typeface="DejaVu Sans"/>
                <a:ea typeface="DejaVu Sans"/>
                <a:cs typeface="DejaVu Sans"/>
              </a:defRPr>
            </a:pPr>
            <a:r>
              <a:rPr sz="1875" b="1">
                <a:solidFill>
                  <a:srgbClr val="17324A"/>
                </a:solidFill>
                <a:latin typeface="DejaVu Sans"/>
                <a:ea typeface="DejaVu Sans"/>
                <a:cs typeface="DejaVu Sans"/>
              </a:rPr>
              <a:t>Ein Kriterium entscheidet selten allein. Gewichte, was für dich und für andere wichtig ist.</a:t>
            </a:r>
          </a:p>
        </p:txBody>
      </p:sp>
      <p:sp>
        <p:nvSpPr>
          <p:cNvPr id="5" name="">
            <a:extLst xmlns:a="http://schemas.openxmlformats.org/drawingml/2006/main">
              <a:ext uri="{FF2B5EF4-FFF2-40B4-BE49-F238E27FC236}">
                <a16:creationId xmlns:a16="http://schemas.microsoft.com/office/drawing/2014/main" id="{ACB58D07-F1A7-4D89-B9FB-195D9AAA47F4}"/>
              </a:ext>
            </a:extLst>
          </p:cNvPr>
          <p:cNvSpPr>
            <a:spLocks xmlns:a="http://schemas.openxmlformats.org/drawingml/2006/main" noGrp="1"/>
          </p:cNvSpPr>
          <p:nvPr/>
        </p:nvSpPr>
        <p:spPr>
          <a:xfrm xmlns:a="http://schemas.openxmlformats.org/drawingml/2006/main">
            <a:off x="666750" y="6553200"/>
            <a:ext cx="3429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Wirtschaft · Beruf · Klasse 7</a:t>
            </a:r>
          </a:p>
        </p:txBody>
      </p:sp>
      <p:sp>
        <p:nvSpPr>
          <p:cNvPr id="6" name="">
            <a:extLst xmlns:a="http://schemas.openxmlformats.org/drawingml/2006/main">
              <a:ext uri="{FF2B5EF4-FFF2-40B4-BE49-F238E27FC236}">
                <a16:creationId xmlns:a16="http://schemas.microsoft.com/office/drawing/2014/main" id="{90513D58-E163-4DD9-A03A-53B721B59699}"/>
              </a:ext>
            </a:extLst>
          </p:cNvPr>
          <p:cNvSpPr>
            <a:spLocks xmlns:a="http://schemas.openxmlformats.org/drawingml/2006/main" noGrp="1"/>
          </p:cNvSpPr>
          <p:nvPr/>
        </p:nvSpPr>
        <p:spPr>
          <a:xfrm xmlns:a="http://schemas.openxmlformats.org/drawingml/2006/main">
            <a:off x="11239500" y="655320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12</a:t>
            </a:r>
          </a:p>
        </p:txBody>
      </p:sp>
    </p:spTree>
    <p:extLst>
      <p:ext uri="{BB962C8B-B14F-4D97-AF65-F5344CB8AC3E}">
        <p14:creationId xmlns:p14="http://schemas.microsoft.com/office/powerpoint/2010/main" val="578631603"/>
      </p:ext>
    </p:extLst>
  </p:cSld>
</p:sld>
</file>

<file path=ppt/slides/slide1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0856286-07FF-4CF6-AD1F-A725BFFA08E7}"/>
              </a:ext>
            </a:extLst>
          </p:cNvPr>
          <p:cNvSpPr>
            <a:spLocks xmlns:a="http://schemas.openxmlformats.org/drawingml/2006/main" noGrp="1"/>
          </p:cNvSpPr>
          <p:nvPr/>
        </p:nvSpPr>
        <p:spPr>
          <a:xfrm xmlns:a="http://schemas.openxmlformats.org/drawingml/2006/main">
            <a:off x="666750" y="361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75" b="1">
                <a:solidFill>
                  <a:srgbClr val="28C69F"/>
                </a:solidFill>
                <a:latin typeface="DejaVu Sans"/>
                <a:ea typeface="DejaVu Sans"/>
                <a:cs typeface="DejaVu Sans"/>
              </a:defRPr>
            </a:pPr>
            <a:r>
              <a:rPr sz="975" b="1">
                <a:solidFill>
                  <a:srgbClr val="28C69F"/>
                </a:solidFill>
                <a:latin typeface="DejaVu Sans"/>
                <a:ea typeface="DejaVu Sans"/>
                <a:cs typeface="DejaVu Sans"/>
              </a:rPr>
              <a:t>NACHHALTIGER KONSUM</a:t>
            </a:r>
          </a:p>
        </p:txBody>
      </p:sp>
      <p:sp>
        <p:nvSpPr>
          <p:cNvPr id="2" name="">
            <a:extLst xmlns:a="http://schemas.openxmlformats.org/drawingml/2006/main">
              <a:ext uri="{FF2B5EF4-FFF2-40B4-BE49-F238E27FC236}">
                <a16:creationId xmlns:a16="http://schemas.microsoft.com/office/drawing/2014/main" id="{D72FA9C5-7E40-45BC-B7F2-FEEB9B2E304C}"/>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000" b="1">
                <a:solidFill>
                  <a:srgbClr val="0D1726"/>
                </a:solidFill>
                <a:latin typeface="DejaVu Sans"/>
                <a:ea typeface="DejaVu Sans"/>
                <a:cs typeface="DejaVu Sans"/>
              </a:defRPr>
            </a:pPr>
            <a:r>
              <a:rPr sz="3000" b="1">
                <a:solidFill>
                  <a:srgbClr val="0D1726"/>
                </a:solidFill>
                <a:latin typeface="DejaVu Sans"/>
                <a:ea typeface="DejaVu Sans"/>
                <a:cs typeface="DejaVu Sans"/>
              </a:rPr>
              <a:t>Kaufen ist nur eine Möglichkeit</a:t>
            </a:r>
          </a:p>
        </p:txBody>
      </p:sp>
      <p:sp>
        <p:nvSpPr>
          <p:cNvPr id="3" name="">
            <a:extLst xmlns:a="http://schemas.openxmlformats.org/drawingml/2006/main">
              <a:ext uri="{FF2B5EF4-FFF2-40B4-BE49-F238E27FC236}">
                <a16:creationId xmlns:a16="http://schemas.microsoft.com/office/drawing/2014/main" id="{DCA0DA2B-2006-4445-9E93-9833089781B3}"/>
              </a:ext>
            </a:extLst>
          </p:cNvPr>
          <p:cNvSpPr>
            <a:spLocks xmlns:a="http://schemas.openxmlformats.org/drawingml/2006/main" noGrp="1"/>
          </p:cNvSpPr>
          <p:nvPr/>
        </p:nvSpPr>
        <p:spPr>
          <a:xfrm xmlns:a="http://schemas.openxmlformats.org/drawingml/2006/main">
            <a:off x="685800" y="156210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17324A"/>
                </a:solidFill>
                <a:latin typeface="DejaVu Sans"/>
                <a:ea typeface="DejaVu Sans"/>
                <a:cs typeface="DejaVu Sans"/>
              </a:defRPr>
            </a:pPr>
            <a:r>
              <a:rPr sz="1875" b="1">
                <a:solidFill>
                  <a:srgbClr val="17324A"/>
                </a:solidFill>
                <a:latin typeface="DejaVu Sans"/>
                <a:ea typeface="DejaVu Sans"/>
                <a:cs typeface="DejaVu Sans"/>
              </a:rPr>
              <a:t>Weitere Möglichkeiten:</a:t>
            </a:r>
          </a:p>
        </p:txBody>
      </p:sp>
      <p:sp>
        <p:nvSpPr>
          <p:cNvPr id="4" name="">
            <a:extLst xmlns:a="http://schemas.openxmlformats.org/drawingml/2006/main">
              <a:ext uri="{FF2B5EF4-FFF2-40B4-BE49-F238E27FC236}">
                <a16:creationId xmlns:a16="http://schemas.microsoft.com/office/drawing/2014/main" id="{AD0DA608-9582-4BF2-A2ED-0F632C4E1A01}"/>
              </a:ext>
            </a:extLst>
          </p:cNvPr>
          <p:cNvSpPr>
            <a:spLocks xmlns:a="http://schemas.openxmlformats.org/drawingml/2006/main" noGrp="1"/>
          </p:cNvSpPr>
          <p:nvPr/>
        </p:nvSpPr>
        <p:spPr>
          <a:xfrm xmlns:a="http://schemas.openxmlformats.org/drawingml/2006/main">
            <a:off x="685800" y="2152650"/>
            <a:ext cx="4095750" cy="514350"/>
          </a:xfrm>
          <a:prstGeom xmlns:a="http://schemas.openxmlformats.org/drawingml/2006/main" prst="roundRect">
            <a:avLst>
              <a:gd name="adj" fmla="val 33333"/>
            </a:avLst>
          </a:prstGeom>
          <a:solidFill xmlns:a="http://schemas.openxmlformats.org/drawingml/2006/main">
            <a:srgbClr val="FFFFFF"/>
          </a:solidFill>
          <a:ln xmlns:a="http://schemas.openxmlformats.org/drawingml/2006/main" w="9525">
            <a:solidFill>
              <a:srgbClr val="DDE3EA"/>
            </a:solidFill>
            <a:prstDash val="solid"/>
          </a:ln>
        </p:spPr>
        <p:txBody>
          <a:bodyPr xmlns:a="http://schemas.openxmlformats.org/drawingml/2006/main" wrap="square" lIns="171450" tIns="76200" rIns="133350" bIns="76200" anchor="ctr">
            <a:noAutofit/>
          </a:bodyPr>
          <a:lstStyle xmlns:a="http://schemas.openxmlformats.org/drawingml/2006/main"/>
          <a:p xmlns:a="http://schemas.openxmlformats.org/drawingml/2006/main">
            <a:pPr algn="l">
              <a:lnSpc>
                <a:spcPct val="108000"/>
              </a:lnSpc>
              <a:buNone/>
              <a:defRPr sz="1575" b="1">
                <a:solidFill>
                  <a:srgbClr val="0D1726"/>
                </a:solidFill>
                <a:latin typeface="DejaVu Sans"/>
                <a:ea typeface="DejaVu Sans"/>
                <a:cs typeface="DejaVu Sans"/>
              </a:defRPr>
            </a:pPr>
            <a:r>
              <a:rPr sz="1575" b="1">
                <a:solidFill>
                  <a:srgbClr val="0D1726"/>
                </a:solidFill>
                <a:latin typeface="DejaVu Sans"/>
                <a:ea typeface="DejaVu Sans"/>
                <a:cs typeface="DejaVu Sans"/>
              </a:rPr>
              <a:t>weiter nutzen</a:t>
            </a:r>
          </a:p>
        </p:txBody>
      </p:sp>
      <p:sp>
        <p:nvSpPr>
          <p:cNvPr id="5" name="">
            <a:extLst xmlns:a="http://schemas.openxmlformats.org/drawingml/2006/main">
              <a:ext uri="{FF2B5EF4-FFF2-40B4-BE49-F238E27FC236}">
                <a16:creationId xmlns:a16="http://schemas.microsoft.com/office/drawing/2014/main" id="{35DB5A44-C16A-45BB-8C8B-48DAD3A59691}"/>
              </a:ext>
            </a:extLst>
          </p:cNvPr>
          <p:cNvSpPr>
            <a:spLocks xmlns:a="http://schemas.openxmlformats.org/drawingml/2006/main" noGrp="1"/>
          </p:cNvSpPr>
          <p:nvPr/>
        </p:nvSpPr>
        <p:spPr>
          <a:xfrm xmlns:a="http://schemas.openxmlformats.org/drawingml/2006/main">
            <a:off x="685800" y="2838450"/>
            <a:ext cx="4095750" cy="514350"/>
          </a:xfrm>
          <a:prstGeom xmlns:a="http://schemas.openxmlformats.org/drawingml/2006/main" prst="roundRect">
            <a:avLst>
              <a:gd name="adj" fmla="val 33333"/>
            </a:avLst>
          </a:prstGeom>
          <a:solidFill xmlns:a="http://schemas.openxmlformats.org/drawingml/2006/main">
            <a:srgbClr val="28C69F"/>
          </a:solidFill>
          <a:ln xmlns:a="http://schemas.openxmlformats.org/drawingml/2006/main" w="9525">
            <a:solidFill>
              <a:srgbClr val="28C69F"/>
            </a:solidFill>
            <a:prstDash val="solid"/>
          </a:ln>
        </p:spPr>
        <p:txBody>
          <a:bodyPr xmlns:a="http://schemas.openxmlformats.org/drawingml/2006/main" wrap="square" lIns="171450" tIns="76200" rIns="133350" bIns="76200" anchor="ctr">
            <a:noAutofit/>
          </a:bodyPr>
          <a:lstStyle xmlns:a="http://schemas.openxmlformats.org/drawingml/2006/main"/>
          <a:p xmlns:a="http://schemas.openxmlformats.org/drawingml/2006/main">
            <a:pPr algn="l">
              <a:lnSpc>
                <a:spcPct val="108000"/>
              </a:lnSpc>
              <a:buNone/>
              <a:defRPr sz="1575" b="1">
                <a:solidFill>
                  <a:srgbClr val="0D1726"/>
                </a:solidFill>
                <a:latin typeface="DejaVu Sans"/>
                <a:ea typeface="DejaVu Sans"/>
                <a:cs typeface="DejaVu Sans"/>
              </a:defRPr>
            </a:pPr>
            <a:r>
              <a:rPr sz="1575" b="1">
                <a:solidFill>
                  <a:srgbClr val="0D1726"/>
                </a:solidFill>
                <a:latin typeface="DejaVu Sans"/>
                <a:ea typeface="DejaVu Sans"/>
                <a:cs typeface="DejaVu Sans"/>
              </a:rPr>
              <a:t>reparieren</a:t>
            </a:r>
          </a:p>
        </p:txBody>
      </p:sp>
      <p:sp>
        <p:nvSpPr>
          <p:cNvPr id="6" name="">
            <a:extLst xmlns:a="http://schemas.openxmlformats.org/drawingml/2006/main">
              <a:ext uri="{FF2B5EF4-FFF2-40B4-BE49-F238E27FC236}">
                <a16:creationId xmlns:a16="http://schemas.microsoft.com/office/drawing/2014/main" id="{BE22C8A6-628F-4B69-BF6D-241E2408D715}"/>
              </a:ext>
            </a:extLst>
          </p:cNvPr>
          <p:cNvSpPr>
            <a:spLocks xmlns:a="http://schemas.openxmlformats.org/drawingml/2006/main" noGrp="1"/>
          </p:cNvSpPr>
          <p:nvPr/>
        </p:nvSpPr>
        <p:spPr>
          <a:xfrm xmlns:a="http://schemas.openxmlformats.org/drawingml/2006/main">
            <a:off x="685800" y="3524250"/>
            <a:ext cx="4095750" cy="514350"/>
          </a:xfrm>
          <a:prstGeom xmlns:a="http://schemas.openxmlformats.org/drawingml/2006/main" prst="roundRect">
            <a:avLst>
              <a:gd name="adj" fmla="val 33333"/>
            </a:avLst>
          </a:prstGeom>
          <a:solidFill xmlns:a="http://schemas.openxmlformats.org/drawingml/2006/main">
            <a:srgbClr val="FFFFFF"/>
          </a:solidFill>
          <a:ln xmlns:a="http://schemas.openxmlformats.org/drawingml/2006/main" w="9525">
            <a:solidFill>
              <a:srgbClr val="DDE3EA"/>
            </a:solidFill>
            <a:prstDash val="solid"/>
          </a:ln>
        </p:spPr>
        <p:txBody>
          <a:bodyPr xmlns:a="http://schemas.openxmlformats.org/drawingml/2006/main" wrap="square" lIns="171450" tIns="76200" rIns="133350" bIns="76200" anchor="ctr">
            <a:noAutofit/>
          </a:bodyPr>
          <a:lstStyle xmlns:a="http://schemas.openxmlformats.org/drawingml/2006/main"/>
          <a:p xmlns:a="http://schemas.openxmlformats.org/drawingml/2006/main">
            <a:pPr algn="l">
              <a:lnSpc>
                <a:spcPct val="108000"/>
              </a:lnSpc>
              <a:buNone/>
              <a:defRPr sz="1575" b="1">
                <a:solidFill>
                  <a:srgbClr val="0D1726"/>
                </a:solidFill>
                <a:latin typeface="DejaVu Sans"/>
                <a:ea typeface="DejaVu Sans"/>
                <a:cs typeface="DejaVu Sans"/>
              </a:defRPr>
            </a:pPr>
            <a:r>
              <a:rPr sz="1575" b="1">
                <a:solidFill>
                  <a:srgbClr val="0D1726"/>
                </a:solidFill>
                <a:latin typeface="DejaVu Sans"/>
                <a:ea typeface="DejaVu Sans"/>
                <a:cs typeface="DejaVu Sans"/>
              </a:rPr>
              <a:t>leihen oder teilen</a:t>
            </a:r>
          </a:p>
        </p:txBody>
      </p:sp>
      <p:sp>
        <p:nvSpPr>
          <p:cNvPr id="7" name="">
            <a:extLst xmlns:a="http://schemas.openxmlformats.org/drawingml/2006/main">
              <a:ext uri="{FF2B5EF4-FFF2-40B4-BE49-F238E27FC236}">
                <a16:creationId xmlns:a16="http://schemas.microsoft.com/office/drawing/2014/main" id="{2BC94CCD-0FDB-470F-B3D4-965B773F1987}"/>
              </a:ext>
            </a:extLst>
          </p:cNvPr>
          <p:cNvSpPr>
            <a:spLocks xmlns:a="http://schemas.openxmlformats.org/drawingml/2006/main" noGrp="1"/>
          </p:cNvSpPr>
          <p:nvPr/>
        </p:nvSpPr>
        <p:spPr>
          <a:xfrm xmlns:a="http://schemas.openxmlformats.org/drawingml/2006/main">
            <a:off x="685800" y="4210050"/>
            <a:ext cx="4095750" cy="514350"/>
          </a:xfrm>
          <a:prstGeom xmlns:a="http://schemas.openxmlformats.org/drawingml/2006/main" prst="roundRect">
            <a:avLst>
              <a:gd name="adj" fmla="val 33333"/>
            </a:avLst>
          </a:prstGeom>
          <a:solidFill xmlns:a="http://schemas.openxmlformats.org/drawingml/2006/main">
            <a:srgbClr val="FFFFFF"/>
          </a:solidFill>
          <a:ln xmlns:a="http://schemas.openxmlformats.org/drawingml/2006/main" w="9525">
            <a:solidFill>
              <a:srgbClr val="DDE3EA"/>
            </a:solidFill>
            <a:prstDash val="solid"/>
          </a:ln>
        </p:spPr>
        <p:txBody>
          <a:bodyPr xmlns:a="http://schemas.openxmlformats.org/drawingml/2006/main" wrap="square" lIns="171450" tIns="76200" rIns="133350" bIns="76200" anchor="ctr">
            <a:noAutofit/>
          </a:bodyPr>
          <a:lstStyle xmlns:a="http://schemas.openxmlformats.org/drawingml/2006/main"/>
          <a:p xmlns:a="http://schemas.openxmlformats.org/drawingml/2006/main">
            <a:pPr algn="l">
              <a:lnSpc>
                <a:spcPct val="108000"/>
              </a:lnSpc>
              <a:buNone/>
              <a:defRPr sz="1575" b="1">
                <a:solidFill>
                  <a:srgbClr val="0D1726"/>
                </a:solidFill>
                <a:latin typeface="DejaVu Sans"/>
                <a:ea typeface="DejaVu Sans"/>
                <a:cs typeface="DejaVu Sans"/>
              </a:defRPr>
            </a:pPr>
            <a:r>
              <a:rPr sz="1575" b="1">
                <a:solidFill>
                  <a:srgbClr val="0D1726"/>
                </a:solidFill>
                <a:latin typeface="DejaVu Sans"/>
                <a:ea typeface="DejaVu Sans"/>
                <a:cs typeface="DejaVu Sans"/>
              </a:rPr>
              <a:t>gebraucht kaufen</a:t>
            </a:r>
          </a:p>
        </p:txBody>
      </p:sp>
      <p:sp>
        <p:nvSpPr>
          <p:cNvPr id="8" name="">
            <a:extLst xmlns:a="http://schemas.openxmlformats.org/drawingml/2006/main">
              <a:ext uri="{FF2B5EF4-FFF2-40B4-BE49-F238E27FC236}">
                <a16:creationId xmlns:a16="http://schemas.microsoft.com/office/drawing/2014/main" id="{49374F9C-4CC0-4776-920E-6411379C54CF}"/>
              </a:ext>
            </a:extLst>
          </p:cNvPr>
          <p:cNvSpPr>
            <a:spLocks xmlns:a="http://schemas.openxmlformats.org/drawingml/2006/main" noGrp="1"/>
          </p:cNvSpPr>
          <p:nvPr/>
        </p:nvSpPr>
        <p:spPr>
          <a:xfrm xmlns:a="http://schemas.openxmlformats.org/drawingml/2006/main">
            <a:off x="685800" y="4895850"/>
            <a:ext cx="4095750" cy="514350"/>
          </a:xfrm>
          <a:prstGeom xmlns:a="http://schemas.openxmlformats.org/drawingml/2006/main" prst="roundRect">
            <a:avLst>
              <a:gd name="adj" fmla="val 33333"/>
            </a:avLst>
          </a:prstGeom>
          <a:solidFill xmlns:a="http://schemas.openxmlformats.org/drawingml/2006/main">
            <a:srgbClr val="FFFFFF"/>
          </a:solidFill>
          <a:ln xmlns:a="http://schemas.openxmlformats.org/drawingml/2006/main" w="9525">
            <a:solidFill>
              <a:srgbClr val="DDE3EA"/>
            </a:solidFill>
            <a:prstDash val="solid"/>
          </a:ln>
        </p:spPr>
        <p:txBody>
          <a:bodyPr xmlns:a="http://schemas.openxmlformats.org/drawingml/2006/main" wrap="square" lIns="171450" tIns="76200" rIns="133350" bIns="76200" anchor="ctr">
            <a:noAutofit/>
          </a:bodyPr>
          <a:lstStyle xmlns:a="http://schemas.openxmlformats.org/drawingml/2006/main"/>
          <a:p xmlns:a="http://schemas.openxmlformats.org/drawingml/2006/main">
            <a:pPr algn="l">
              <a:lnSpc>
                <a:spcPct val="108000"/>
              </a:lnSpc>
              <a:buNone/>
              <a:defRPr sz="1575" b="1">
                <a:solidFill>
                  <a:srgbClr val="0D1726"/>
                </a:solidFill>
                <a:latin typeface="DejaVu Sans"/>
                <a:ea typeface="DejaVu Sans"/>
                <a:cs typeface="DejaVu Sans"/>
              </a:defRPr>
            </a:pPr>
            <a:r>
              <a:rPr sz="1575" b="1">
                <a:solidFill>
                  <a:srgbClr val="0D1726"/>
                </a:solidFill>
                <a:latin typeface="DejaVu Sans"/>
                <a:ea typeface="DejaVu Sans"/>
                <a:cs typeface="DejaVu Sans"/>
              </a:rPr>
              <a:t>verzichten</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2901d8a62324764"/>
          <a:srcRect xmlns:a="http://schemas.openxmlformats.org/drawingml/2006/main" l="11682" t="0" r="11682" b="0"/>
          <a:stretch xmlns:a="http://schemas.openxmlformats.org/drawingml/2006/main">
            <a:fillRect l="0" t="0" r="0" b="0"/>
          </a:stretch>
        </p:blipFill>
        <p:spPr>
          <a:xfrm xmlns:a="http://schemas.openxmlformats.org/drawingml/2006/main">
            <a:off x="5429250" y="1390650"/>
            <a:ext cx="6096000" cy="4476750"/>
          </a:xfrm>
          <a:prstGeom xmlns:a="http://schemas.openxmlformats.org/drawingml/2006/main" prst="roundRect">
            <a:avLst>
              <a:gd name="adj" fmla="val 4681"/>
            </a:avLst>
          </a:prstGeom>
        </p:spPr>
      </p:pic>
      <p:sp>
        <p:nvSpPr>
          <p:cNvPr id="10" name="">
            <a:extLst xmlns:a="http://schemas.openxmlformats.org/drawingml/2006/main">
              <a:ext uri="{FF2B5EF4-FFF2-40B4-BE49-F238E27FC236}">
                <a16:creationId xmlns:a16="http://schemas.microsoft.com/office/drawing/2014/main" id="{8E975D65-430F-4BCF-BBC9-F21E471F7398}"/>
              </a:ext>
            </a:extLst>
          </p:cNvPr>
          <p:cNvSpPr>
            <a:spLocks xmlns:a="http://schemas.openxmlformats.org/drawingml/2006/main" noGrp="1"/>
          </p:cNvSpPr>
          <p:nvPr/>
        </p:nvSpPr>
        <p:spPr>
          <a:xfrm xmlns:a="http://schemas.openxmlformats.org/drawingml/2006/main">
            <a:off x="666750" y="6553200"/>
            <a:ext cx="3429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Wirtschaft · Beruf · Klasse 7</a:t>
            </a:r>
          </a:p>
        </p:txBody>
      </p:sp>
      <p:sp>
        <p:nvSpPr>
          <p:cNvPr id="11" name="">
            <a:extLst xmlns:a="http://schemas.openxmlformats.org/drawingml/2006/main">
              <a:ext uri="{FF2B5EF4-FFF2-40B4-BE49-F238E27FC236}">
                <a16:creationId xmlns:a16="http://schemas.microsoft.com/office/drawing/2014/main" id="{DEF29461-AD27-41F4-B815-58F8F72B453A}"/>
              </a:ext>
            </a:extLst>
          </p:cNvPr>
          <p:cNvSpPr>
            <a:spLocks xmlns:a="http://schemas.openxmlformats.org/drawingml/2006/main" noGrp="1"/>
          </p:cNvSpPr>
          <p:nvPr/>
        </p:nvSpPr>
        <p:spPr>
          <a:xfrm xmlns:a="http://schemas.openxmlformats.org/drawingml/2006/main">
            <a:off x="11239500" y="655320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13</a:t>
            </a:r>
          </a:p>
        </p:txBody>
      </p:sp>
    </p:spTree>
    <p:extLst>
      <p:ext uri="{BB962C8B-B14F-4D97-AF65-F5344CB8AC3E}">
        <p14:creationId xmlns:p14="http://schemas.microsoft.com/office/powerpoint/2010/main" val="1845264582"/>
      </p:ext>
    </p:extLst>
  </p:cSld>
</p:sld>
</file>

<file path=ppt/slides/slide1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D4C1537-1221-46B0-8123-23895F9807B9}"/>
              </a:ext>
            </a:extLst>
          </p:cNvPr>
          <p:cNvSpPr>
            <a:spLocks xmlns:a="http://schemas.openxmlformats.org/drawingml/2006/main" noGrp="1"/>
          </p:cNvSpPr>
          <p:nvPr/>
        </p:nvSpPr>
        <p:spPr>
          <a:xfrm xmlns:a="http://schemas.openxmlformats.org/drawingml/2006/main">
            <a:off x="666750" y="361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75" b="1">
                <a:solidFill>
                  <a:srgbClr val="28C69F"/>
                </a:solidFill>
                <a:latin typeface="DejaVu Sans"/>
                <a:ea typeface="DejaVu Sans"/>
                <a:cs typeface="DejaVu Sans"/>
              </a:defRPr>
            </a:pPr>
            <a:r>
              <a:rPr sz="975" b="1">
                <a:solidFill>
                  <a:srgbClr val="28C69F"/>
                </a:solidFill>
                <a:latin typeface="DejaVu Sans"/>
                <a:ea typeface="DejaVu Sans"/>
                <a:cs typeface="DejaVu Sans"/>
              </a:rPr>
              <a:t>ZUSAMMENHANG</a:t>
            </a:r>
          </a:p>
        </p:txBody>
      </p:sp>
      <p:sp>
        <p:nvSpPr>
          <p:cNvPr id="2" name="">
            <a:extLst xmlns:a="http://schemas.openxmlformats.org/drawingml/2006/main">
              <a:ext uri="{FF2B5EF4-FFF2-40B4-BE49-F238E27FC236}">
                <a16:creationId xmlns:a16="http://schemas.microsoft.com/office/drawing/2014/main" id="{EC7C8B74-0DB9-452E-8BE1-E1E3B8FA08A2}"/>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000" b="1">
                <a:solidFill>
                  <a:srgbClr val="0D1726"/>
                </a:solidFill>
                <a:latin typeface="DejaVu Sans"/>
                <a:ea typeface="DejaVu Sans"/>
                <a:cs typeface="DejaVu Sans"/>
              </a:defRPr>
            </a:pPr>
            <a:r>
              <a:rPr sz="3000" b="1">
                <a:solidFill>
                  <a:srgbClr val="0D1726"/>
                </a:solidFill>
                <a:latin typeface="DejaVu Sans"/>
                <a:ea typeface="DejaVu Sans"/>
                <a:cs typeface="DejaVu Sans"/>
              </a:rPr>
              <a:t>So entsteht eine Konsumentscheidung</a:t>
            </a:r>
          </a:p>
        </p:txBody>
      </p:sp>
      <p:sp>
        <p:nvSpPr>
          <p:cNvPr id="3" name="">
            <a:extLst xmlns:a="http://schemas.openxmlformats.org/drawingml/2006/main">
              <a:ext uri="{FF2B5EF4-FFF2-40B4-BE49-F238E27FC236}">
                <a16:creationId xmlns:a16="http://schemas.microsoft.com/office/drawing/2014/main" id="{CE482744-F2EE-4BA7-B40B-B4F53863B941}"/>
              </a:ext>
            </a:extLst>
          </p:cNvPr>
          <p:cNvSpPr>
            <a:spLocks xmlns:a="http://schemas.openxmlformats.org/drawingml/2006/main" noGrp="1"/>
          </p:cNvSpPr>
          <p:nvPr/>
        </p:nvSpPr>
        <p:spPr>
          <a:xfrm xmlns:a="http://schemas.openxmlformats.org/drawingml/2006/main">
            <a:off x="666750" y="1809750"/>
            <a:ext cx="2381250" cy="781050"/>
          </a:xfrm>
          <a:prstGeom xmlns:a="http://schemas.openxmlformats.org/drawingml/2006/main" prst="roundRect">
            <a:avLst>
              <a:gd name="adj" fmla="val 21951"/>
            </a:avLst>
          </a:prstGeom>
          <a:solidFill xmlns:a="http://schemas.openxmlformats.org/drawingml/2006/main">
            <a:srgbClr val="E7F8F3"/>
          </a:solidFill>
          <a:ln xmlns:a="http://schemas.openxmlformats.org/drawingml/2006/main" w="9525">
            <a:solidFill>
              <a:srgbClr val="28C69F"/>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725" b="1">
                <a:solidFill>
                  <a:srgbClr val="0D1726"/>
                </a:solidFill>
                <a:latin typeface="DejaVu Sans"/>
                <a:ea typeface="DejaVu Sans"/>
                <a:cs typeface="DejaVu Sans"/>
              </a:defRPr>
            </a:pPr>
            <a:r>
              <a:rPr sz="1725" b="1">
                <a:solidFill>
                  <a:srgbClr val="0D1726"/>
                </a:solidFill>
                <a:latin typeface="DejaVu Sans"/>
                <a:ea typeface="DejaVu Sans"/>
                <a:cs typeface="DejaVu Sans"/>
              </a:rPr>
              <a:t>BEDÜRFNIS</a:t>
            </a:r>
          </a:p>
        </p:txBody>
      </p:sp>
      <p:sp>
        <p:nvSpPr>
          <p:cNvPr id="4" name="">
            <a:extLst xmlns:a="http://schemas.openxmlformats.org/drawingml/2006/main">
              <a:ext uri="{FF2B5EF4-FFF2-40B4-BE49-F238E27FC236}">
                <a16:creationId xmlns:a16="http://schemas.microsoft.com/office/drawing/2014/main" id="{6C129CBE-2026-41CE-8DF3-D4562AB69018}"/>
              </a:ext>
            </a:extLst>
          </p:cNvPr>
          <p:cNvSpPr>
            <a:spLocks xmlns:a="http://schemas.openxmlformats.org/drawingml/2006/main" noGrp="1"/>
          </p:cNvSpPr>
          <p:nvPr/>
        </p:nvSpPr>
        <p:spPr>
          <a:xfrm xmlns:a="http://schemas.openxmlformats.org/drawingml/2006/main">
            <a:off x="3619500" y="1809750"/>
            <a:ext cx="2095500" cy="781050"/>
          </a:xfrm>
          <a:prstGeom xmlns:a="http://schemas.openxmlformats.org/drawingml/2006/main" prst="roundRect">
            <a:avLst>
              <a:gd name="adj" fmla="val 21951"/>
            </a:avLst>
          </a:prstGeom>
          <a:solidFill xmlns:a="http://schemas.openxmlformats.org/drawingml/2006/main">
            <a:srgbClr val="FFF4D7"/>
          </a:solidFill>
          <a:ln xmlns:a="http://schemas.openxmlformats.org/drawingml/2006/main" w="9525">
            <a:solidFill>
              <a:srgbClr val="E7B84B"/>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725" b="1">
                <a:solidFill>
                  <a:srgbClr val="0D1726"/>
                </a:solidFill>
                <a:latin typeface="DejaVu Sans"/>
                <a:ea typeface="DejaVu Sans"/>
                <a:cs typeface="DejaVu Sans"/>
              </a:defRPr>
            </a:pPr>
            <a:r>
              <a:rPr sz="1725" b="1">
                <a:solidFill>
                  <a:srgbClr val="0D1726"/>
                </a:solidFill>
                <a:latin typeface="DejaVu Sans"/>
                <a:ea typeface="DejaVu Sans"/>
                <a:cs typeface="DejaVu Sans"/>
              </a:rPr>
              <a:t>BUDGET</a:t>
            </a:r>
          </a:p>
        </p:txBody>
      </p:sp>
      <p:sp>
        <p:nvSpPr>
          <p:cNvPr id="5" name="">
            <a:extLst xmlns:a="http://schemas.openxmlformats.org/drawingml/2006/main">
              <a:ext uri="{FF2B5EF4-FFF2-40B4-BE49-F238E27FC236}">
                <a16:creationId xmlns:a16="http://schemas.microsoft.com/office/drawing/2014/main" id="{DE583B38-F8A7-4AB6-B61F-D7382987B7E6}"/>
              </a:ext>
            </a:extLst>
          </p:cNvPr>
          <p:cNvSpPr>
            <a:spLocks xmlns:a="http://schemas.openxmlformats.org/drawingml/2006/main" noGrp="1"/>
          </p:cNvSpPr>
          <p:nvPr/>
        </p:nvSpPr>
        <p:spPr>
          <a:xfrm xmlns:a="http://schemas.openxmlformats.org/drawingml/2006/main">
            <a:off x="6286500" y="1714500"/>
            <a:ext cx="4286250" cy="971550"/>
          </a:xfrm>
          <a:prstGeom xmlns:a="http://schemas.openxmlformats.org/drawingml/2006/main" prst="roundRect">
            <a:avLst>
              <a:gd name="adj" fmla="val 17647"/>
            </a:avLst>
          </a:prstGeom>
          <a:solidFill xmlns:a="http://schemas.openxmlformats.org/drawingml/2006/main">
            <a:srgbClr val="EAF0FF"/>
          </a:solidFill>
          <a:ln xmlns:a="http://schemas.openxmlformats.org/drawingml/2006/main" w="9525">
            <a:solidFill>
              <a:srgbClr val="6E8BF7"/>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650" b="1">
                <a:solidFill>
                  <a:srgbClr val="0D1726"/>
                </a:solidFill>
                <a:latin typeface="DejaVu Sans"/>
                <a:ea typeface="DejaVu Sans"/>
                <a:cs typeface="DejaVu Sans"/>
              </a:defRPr>
            </a:pPr>
            <a:r>
              <a:rPr sz="1650" b="1">
                <a:solidFill>
                  <a:srgbClr val="0D1726"/>
                </a:solidFill>
                <a:latin typeface="DejaVu Sans"/>
                <a:ea typeface="DejaVu Sans"/>
                <a:cs typeface="DejaVu Sans"/>
              </a:rPr>
              <a:t>INFORMATIONEN</a:t>
            </a:r>
          </a:p>
          <a:p xmlns:a="http://schemas.openxmlformats.org/drawingml/2006/main">
            <a:pPr algn="ctr">
              <a:lnSpc>
                <a:spcPct val="108000"/>
              </a:lnSpc>
              <a:buNone/>
              <a:defRPr sz="1650" b="1">
                <a:solidFill>
                  <a:srgbClr val="0D1726"/>
                </a:solidFill>
                <a:latin typeface="DejaVu Sans"/>
                <a:ea typeface="DejaVu Sans"/>
                <a:cs typeface="DejaVu Sans"/>
              </a:defRPr>
            </a:pPr>
            <a:r>
              <a:rPr sz="1650" b="1">
                <a:solidFill>
                  <a:srgbClr val="0D1726"/>
                </a:solidFill>
                <a:latin typeface="DejaVu Sans"/>
                <a:ea typeface="DejaVu Sans"/>
                <a:cs typeface="DejaVu Sans"/>
              </a:rPr>
              <a:t>UND EINFLÜSSE</a:t>
            </a:r>
          </a:p>
        </p:txBody>
      </p:sp>
      <p:sp>
        <p:nvSpPr>
          <p:cNvPr id="6" name="">
            <a:extLst xmlns:a="http://schemas.openxmlformats.org/drawingml/2006/main">
              <a:ext uri="{FF2B5EF4-FFF2-40B4-BE49-F238E27FC236}">
                <a16:creationId xmlns:a16="http://schemas.microsoft.com/office/drawing/2014/main" id="{80DF4CF8-F88E-4576-B40D-B032457ACFDB}"/>
              </a:ext>
            </a:extLst>
          </p:cNvPr>
          <p:cNvSpPr>
            <a:spLocks xmlns:a="http://schemas.openxmlformats.org/drawingml/2006/main" noGrp="1"/>
          </p:cNvSpPr>
          <p:nvPr/>
        </p:nvSpPr>
        <p:spPr>
          <a:xfrm xmlns:a="http://schemas.openxmlformats.org/drawingml/2006/main">
            <a:off x="3048000" y="2200275"/>
            <a:ext cx="571500" cy="0"/>
          </a:xfrm>
          <a:prstGeom xmlns:a="http://schemas.openxmlformats.org/drawingml/2006/main" prst="line">
            <a:avLst/>
          </a:prstGeom>
          <a:noFill xmlns:a="http://schemas.openxmlformats.org/drawingml/2006/main"/>
          <a:ln xmlns:a="http://schemas.openxmlformats.org/drawingml/2006/main" w="28575">
            <a:solidFill>
              <a:srgbClr val="DDE3EA"/>
            </a:solidFill>
            <a:prstDash val="solid"/>
          </a:ln>
        </p:spPr>
      </p:sp>
      <p:sp>
        <p:nvSpPr>
          <p:cNvPr id="7" name="">
            <a:extLst xmlns:a="http://schemas.openxmlformats.org/drawingml/2006/main">
              <a:ext uri="{FF2B5EF4-FFF2-40B4-BE49-F238E27FC236}">
                <a16:creationId xmlns:a16="http://schemas.microsoft.com/office/drawing/2014/main" id="{8521BC24-9D56-486A-8FA5-D6C8183D25CD}"/>
              </a:ext>
            </a:extLst>
          </p:cNvPr>
          <p:cNvSpPr>
            <a:spLocks xmlns:a="http://schemas.openxmlformats.org/drawingml/2006/main" noGrp="1"/>
          </p:cNvSpPr>
          <p:nvPr/>
        </p:nvSpPr>
        <p:spPr>
          <a:xfrm xmlns:a="http://schemas.openxmlformats.org/drawingml/2006/main">
            <a:off x="5715000" y="2200275"/>
            <a:ext cx="571500" cy="0"/>
          </a:xfrm>
          <a:prstGeom xmlns:a="http://schemas.openxmlformats.org/drawingml/2006/main" prst="line">
            <a:avLst/>
          </a:prstGeom>
          <a:noFill xmlns:a="http://schemas.openxmlformats.org/drawingml/2006/main"/>
          <a:ln xmlns:a="http://schemas.openxmlformats.org/drawingml/2006/main" w="28575">
            <a:solidFill>
              <a:srgbClr val="DDE3EA"/>
            </a:solidFill>
            <a:prstDash val="solid"/>
          </a:ln>
        </p:spPr>
      </p:sp>
      <p:sp>
        <p:nvSpPr>
          <p:cNvPr id="8" name="">
            <a:extLst xmlns:a="http://schemas.openxmlformats.org/drawingml/2006/main">
              <a:ext uri="{FF2B5EF4-FFF2-40B4-BE49-F238E27FC236}">
                <a16:creationId xmlns:a16="http://schemas.microsoft.com/office/drawing/2014/main" id="{67A5E2B3-6ECB-4B89-8505-CA81B1E1D328}"/>
              </a:ext>
            </a:extLst>
          </p:cNvPr>
          <p:cNvSpPr>
            <a:spLocks xmlns:a="http://schemas.openxmlformats.org/drawingml/2006/main" noGrp="1"/>
          </p:cNvSpPr>
          <p:nvPr/>
        </p:nvSpPr>
        <p:spPr>
          <a:xfrm xmlns:a="http://schemas.openxmlformats.org/drawingml/2006/main">
            <a:off x="3333750" y="3429000"/>
            <a:ext cx="5524500" cy="819150"/>
          </a:xfrm>
          <a:prstGeom xmlns:a="http://schemas.openxmlformats.org/drawingml/2006/main" prst="roundRect">
            <a:avLst>
              <a:gd name="adj" fmla="val 20930"/>
            </a:avLst>
          </a:prstGeom>
          <a:solidFill xmlns:a="http://schemas.openxmlformats.org/drawingml/2006/main">
            <a:srgbClr val="FFFFFF"/>
          </a:solidFill>
          <a:ln xmlns:a="http://schemas.openxmlformats.org/drawingml/2006/main" w="19050">
            <a:solidFill>
              <a:srgbClr val="17324A"/>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950" b="1">
                <a:solidFill>
                  <a:srgbClr val="0D1726"/>
                </a:solidFill>
                <a:latin typeface="DejaVu Sans"/>
                <a:ea typeface="DejaVu Sans"/>
                <a:cs typeface="DejaVu Sans"/>
              </a:defRPr>
            </a:pPr>
            <a:r>
              <a:rPr sz="1950" b="1">
                <a:solidFill>
                  <a:srgbClr val="0D1726"/>
                </a:solidFill>
                <a:latin typeface="DejaVu Sans"/>
                <a:ea typeface="DejaVu Sans"/>
                <a:cs typeface="DejaVu Sans"/>
              </a:rPr>
              <a:t>ABWÄGUNG NACH KRITERIEN</a:t>
            </a:r>
          </a:p>
        </p:txBody>
      </p:sp>
      <p:sp>
        <p:nvSpPr>
          <p:cNvPr id="9" name="">
            <a:extLst xmlns:a="http://schemas.openxmlformats.org/drawingml/2006/main">
              <a:ext uri="{FF2B5EF4-FFF2-40B4-BE49-F238E27FC236}">
                <a16:creationId xmlns:a16="http://schemas.microsoft.com/office/drawing/2014/main" id="{7F7889F3-6CEE-4159-B9D8-8F9E82D132F2}"/>
              </a:ext>
            </a:extLst>
          </p:cNvPr>
          <p:cNvSpPr>
            <a:spLocks xmlns:a="http://schemas.openxmlformats.org/drawingml/2006/main" noGrp="1"/>
          </p:cNvSpPr>
          <p:nvPr/>
        </p:nvSpPr>
        <p:spPr>
          <a:xfrm xmlns:a="http://schemas.openxmlformats.org/drawingml/2006/main">
            <a:off x="6096000" y="2686050"/>
            <a:ext cx="0" cy="742950"/>
          </a:xfrm>
          <a:prstGeom xmlns:a="http://schemas.openxmlformats.org/drawingml/2006/main" prst="line">
            <a:avLst/>
          </a:prstGeom>
          <a:noFill xmlns:a="http://schemas.openxmlformats.org/drawingml/2006/main"/>
          <a:ln xmlns:a="http://schemas.openxmlformats.org/drawingml/2006/main" w="28575">
            <a:solidFill>
              <a:srgbClr val="DDE3EA"/>
            </a:solidFill>
            <a:prstDash val="solid"/>
          </a:ln>
        </p:spPr>
      </p:sp>
      <p:sp>
        <p:nvSpPr>
          <p:cNvPr id="10" name="">
            <a:extLst xmlns:a="http://schemas.openxmlformats.org/drawingml/2006/main">
              <a:ext uri="{FF2B5EF4-FFF2-40B4-BE49-F238E27FC236}">
                <a16:creationId xmlns:a16="http://schemas.microsoft.com/office/drawing/2014/main" id="{DF180841-C3E7-452B-A2B7-ACA03318156E}"/>
              </a:ext>
            </a:extLst>
          </p:cNvPr>
          <p:cNvSpPr>
            <a:spLocks xmlns:a="http://schemas.openxmlformats.org/drawingml/2006/main" noGrp="1"/>
          </p:cNvSpPr>
          <p:nvPr/>
        </p:nvSpPr>
        <p:spPr>
          <a:xfrm xmlns:a="http://schemas.openxmlformats.org/drawingml/2006/main">
            <a:off x="2857500" y="5048250"/>
            <a:ext cx="6477000" cy="762000"/>
          </a:xfrm>
          <a:prstGeom xmlns:a="http://schemas.openxmlformats.org/drawingml/2006/main" prst="roundRect">
            <a:avLst>
              <a:gd name="adj" fmla="val 22500"/>
            </a:avLst>
          </a:prstGeom>
          <a:solidFill xmlns:a="http://schemas.openxmlformats.org/drawingml/2006/main">
            <a:srgbClr val="0D1726"/>
          </a:solidFill>
          <a:ln xmlns:a="http://schemas.openxmlformats.org/drawingml/2006/main" w="9525">
            <a:solidFill>
              <a:srgbClr val="0D1726"/>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KAUF, ANDERE MÖGLICHKEIT ODER VERZICHT</a:t>
            </a:r>
          </a:p>
        </p:txBody>
      </p:sp>
      <p:sp>
        <p:nvSpPr>
          <p:cNvPr id="11" name="">
            <a:extLst xmlns:a="http://schemas.openxmlformats.org/drawingml/2006/main">
              <a:ext uri="{FF2B5EF4-FFF2-40B4-BE49-F238E27FC236}">
                <a16:creationId xmlns:a16="http://schemas.microsoft.com/office/drawing/2014/main" id="{5906C13E-47AD-485B-94E1-39EB6A2687DF}"/>
              </a:ext>
            </a:extLst>
          </p:cNvPr>
          <p:cNvSpPr>
            <a:spLocks xmlns:a="http://schemas.openxmlformats.org/drawingml/2006/main" noGrp="1"/>
          </p:cNvSpPr>
          <p:nvPr/>
        </p:nvSpPr>
        <p:spPr>
          <a:xfrm xmlns:a="http://schemas.openxmlformats.org/drawingml/2006/main">
            <a:off x="6096000" y="4248150"/>
            <a:ext cx="0" cy="800100"/>
          </a:xfrm>
          <a:prstGeom xmlns:a="http://schemas.openxmlformats.org/drawingml/2006/main" prst="line">
            <a:avLst/>
          </a:prstGeom>
          <a:noFill xmlns:a="http://schemas.openxmlformats.org/drawingml/2006/main"/>
          <a:ln xmlns:a="http://schemas.openxmlformats.org/drawingml/2006/main" w="28575">
            <a:solidFill>
              <a:srgbClr val="DDE3EA"/>
            </a:solidFill>
            <a:prstDash val="solid"/>
          </a:ln>
        </p:spPr>
      </p:sp>
      <p:sp>
        <p:nvSpPr>
          <p:cNvPr id="12" name="">
            <a:extLst xmlns:a="http://schemas.openxmlformats.org/drawingml/2006/main">
              <a:ext uri="{FF2B5EF4-FFF2-40B4-BE49-F238E27FC236}">
                <a16:creationId xmlns:a16="http://schemas.microsoft.com/office/drawing/2014/main" id="{901D84A2-3D6D-4B30-8303-79A6377574FD}"/>
              </a:ext>
            </a:extLst>
          </p:cNvPr>
          <p:cNvSpPr>
            <a:spLocks xmlns:a="http://schemas.openxmlformats.org/drawingml/2006/main" noGrp="1"/>
          </p:cNvSpPr>
          <p:nvPr/>
        </p:nvSpPr>
        <p:spPr>
          <a:xfrm xmlns:a="http://schemas.openxmlformats.org/drawingml/2006/main">
            <a:off x="666750" y="6553200"/>
            <a:ext cx="3429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Wirtschaft · Beruf · Klasse 7</a:t>
            </a:r>
          </a:p>
        </p:txBody>
      </p:sp>
      <p:sp>
        <p:nvSpPr>
          <p:cNvPr id="13" name="">
            <a:extLst xmlns:a="http://schemas.openxmlformats.org/drawingml/2006/main">
              <a:ext uri="{FF2B5EF4-FFF2-40B4-BE49-F238E27FC236}">
                <a16:creationId xmlns:a16="http://schemas.microsoft.com/office/drawing/2014/main" id="{E39BBF55-61FB-45F8-932E-9ED567A71132}"/>
              </a:ext>
            </a:extLst>
          </p:cNvPr>
          <p:cNvSpPr>
            <a:spLocks xmlns:a="http://schemas.openxmlformats.org/drawingml/2006/main" noGrp="1"/>
          </p:cNvSpPr>
          <p:nvPr/>
        </p:nvSpPr>
        <p:spPr>
          <a:xfrm xmlns:a="http://schemas.openxmlformats.org/drawingml/2006/main">
            <a:off x="11239500" y="655320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14</a:t>
            </a:r>
          </a:p>
        </p:txBody>
      </p:sp>
    </p:spTree>
    <p:extLst>
      <p:ext uri="{BB962C8B-B14F-4D97-AF65-F5344CB8AC3E}">
        <p14:creationId xmlns:p14="http://schemas.microsoft.com/office/powerpoint/2010/main" val="825476349"/>
      </p:ext>
    </p:extLst>
  </p:cSld>
</p:sld>
</file>

<file path=ppt/slides/slide1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72F7ECB-CA30-4D2F-8EBC-965D01022639}"/>
              </a:ext>
            </a:extLst>
          </p:cNvPr>
          <p:cNvSpPr>
            <a:spLocks xmlns:a="http://schemas.openxmlformats.org/drawingml/2006/main" noGrp="1"/>
          </p:cNvSpPr>
          <p:nvPr/>
        </p:nvSpPr>
        <p:spPr>
          <a:xfrm xmlns:a="http://schemas.openxmlformats.org/drawingml/2006/main">
            <a:off x="666750" y="361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75" b="1">
                <a:solidFill>
                  <a:srgbClr val="28C69F"/>
                </a:solidFill>
                <a:latin typeface="DejaVu Sans"/>
                <a:ea typeface="DejaVu Sans"/>
                <a:cs typeface="DejaVu Sans"/>
              </a:defRPr>
            </a:pPr>
            <a:r>
              <a:rPr sz="975" b="1">
                <a:solidFill>
                  <a:srgbClr val="28C69F"/>
                </a:solidFill>
                <a:latin typeface="DejaVu Sans"/>
                <a:ea typeface="DejaVu Sans"/>
                <a:cs typeface="DejaVu Sans"/>
              </a:rPr>
              <a:t>ARBEITSAUFTRAG</a:t>
            </a:r>
          </a:p>
        </p:txBody>
      </p:sp>
      <p:sp>
        <p:nvSpPr>
          <p:cNvPr id="2" name="">
            <a:extLst xmlns:a="http://schemas.openxmlformats.org/drawingml/2006/main">
              <a:ext uri="{FF2B5EF4-FFF2-40B4-BE49-F238E27FC236}">
                <a16:creationId xmlns:a16="http://schemas.microsoft.com/office/drawing/2014/main" id="{CE38DE92-B5ED-4628-B26D-4A77279D0B6B}"/>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000" b="1">
                <a:solidFill>
                  <a:srgbClr val="0D1726"/>
                </a:solidFill>
                <a:latin typeface="DejaVu Sans"/>
                <a:ea typeface="DejaVu Sans"/>
                <a:cs typeface="DejaVu Sans"/>
              </a:defRPr>
            </a:pPr>
            <a:r>
              <a:rPr sz="3000" b="1">
                <a:solidFill>
                  <a:srgbClr val="0D1726"/>
                </a:solidFill>
                <a:latin typeface="DejaVu Sans"/>
                <a:ea typeface="DejaVu Sans"/>
                <a:cs typeface="DejaVu Sans"/>
              </a:rPr>
              <a:t>Leons Kopfhörer-Entscheidung</a:t>
            </a:r>
          </a:p>
        </p:txBody>
      </p:sp>
      <p:sp>
        <p:nvSpPr>
          <p:cNvPr id="3" name="">
            <a:extLst xmlns:a="http://schemas.openxmlformats.org/drawingml/2006/main">
              <a:ext uri="{FF2B5EF4-FFF2-40B4-BE49-F238E27FC236}">
                <a16:creationId xmlns:a16="http://schemas.microsoft.com/office/drawing/2014/main" id="{CACC6028-62E0-4626-8C73-75B7088B6148}"/>
              </a:ext>
            </a:extLst>
          </p:cNvPr>
          <p:cNvSpPr>
            <a:spLocks xmlns:a="http://schemas.openxmlformats.org/drawingml/2006/main" noGrp="1"/>
          </p:cNvSpPr>
          <p:nvPr/>
        </p:nvSpPr>
        <p:spPr>
          <a:xfrm xmlns:a="http://schemas.openxmlformats.org/drawingml/2006/main">
            <a:off x="685800" y="1524000"/>
            <a:ext cx="4953000" cy="1390650"/>
          </a:xfrm>
          <a:prstGeom xmlns:a="http://schemas.openxmlformats.org/drawingml/2006/main" prst="roundRect">
            <a:avLst>
              <a:gd name="adj" fmla="val 12329"/>
            </a:avLst>
          </a:prstGeom>
          <a:solidFill xmlns:a="http://schemas.openxmlformats.org/drawingml/2006/main">
            <a:srgbClr val="FFFFFF"/>
          </a:solidFill>
          <a:ln xmlns:a="http://schemas.openxmlformats.org/drawingml/2006/main" w="9525">
            <a:solidFill>
              <a:srgbClr val="DDE3EA"/>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l">
              <a:lnSpc>
                <a:spcPct val="108000"/>
              </a:lnSpc>
              <a:buNone/>
              <a:defRPr sz="1725" b="1">
                <a:solidFill>
                  <a:srgbClr val="0D1726"/>
                </a:solidFill>
                <a:latin typeface="DejaVu Sans"/>
                <a:ea typeface="DejaVu Sans"/>
                <a:cs typeface="DejaVu Sans"/>
              </a:defRPr>
            </a:pPr>
            <a:r>
              <a:rPr sz="1725" b="1">
                <a:solidFill>
                  <a:srgbClr val="0D1726"/>
                </a:solidFill>
                <a:latin typeface="DejaVu Sans"/>
                <a:ea typeface="DejaVu Sans"/>
                <a:cs typeface="DejaVu Sans"/>
              </a:rPr>
              <a:t>Ausgangslage</a:t>
            </a:r>
          </a:p>
          <a:p xmlns:a="http://schemas.openxmlformats.org/drawingml/2006/main">
            <a:pPr algn="l">
              <a:lnSpc>
                <a:spcPct val="108000"/>
              </a:lnSpc>
              <a:buNone/>
              <a:defRPr sz="1725" b="1">
                <a:solidFill>
                  <a:srgbClr val="0D1726"/>
                </a:solidFill>
                <a:latin typeface="DejaVu Sans"/>
                <a:ea typeface="DejaVu Sans"/>
                <a:cs typeface="DejaVu Sans"/>
              </a:defRPr>
            </a:pPr>
            <a:r>
              <a:rPr sz="1725" b="1">
                <a:solidFill>
                  <a:srgbClr val="0D1726"/>
                </a:solidFill>
                <a:latin typeface="DejaVu Sans"/>
                <a:ea typeface="DejaVu Sans"/>
                <a:cs typeface="DejaVu Sans"/>
              </a:rPr>
              <a:t>Leon hat 45 Euro. Seine alten Kopfhörer funktionieren nur noch auf einer Seite.</a:t>
            </a:r>
          </a:p>
        </p:txBody>
      </p:sp>
      <p:sp>
        <p:nvSpPr>
          <p:cNvPr id="4" name="">
            <a:extLst xmlns:a="http://schemas.openxmlformats.org/drawingml/2006/main">
              <a:ext uri="{FF2B5EF4-FFF2-40B4-BE49-F238E27FC236}">
                <a16:creationId xmlns:a16="http://schemas.microsoft.com/office/drawing/2014/main" id="{C0245C87-CB34-4529-99AB-1F9A9F28E427}"/>
              </a:ext>
            </a:extLst>
          </p:cNvPr>
          <p:cNvSpPr>
            <a:spLocks xmlns:a="http://schemas.openxmlformats.org/drawingml/2006/main" noGrp="1"/>
          </p:cNvSpPr>
          <p:nvPr/>
        </p:nvSpPr>
        <p:spPr>
          <a:xfrm xmlns:a="http://schemas.openxmlformats.org/drawingml/2006/main">
            <a:off x="685800" y="3333750"/>
            <a:ext cx="3238500" cy="1200150"/>
          </a:xfrm>
          <a:prstGeom xmlns:a="http://schemas.openxmlformats.org/drawingml/2006/main" prst="roundRect">
            <a:avLst>
              <a:gd name="adj" fmla="val 14286"/>
            </a:avLst>
          </a:prstGeom>
          <a:solidFill xmlns:a="http://schemas.openxmlformats.org/drawingml/2006/main">
            <a:srgbClr val="E7F8F3"/>
          </a:solidFill>
          <a:ln xmlns:a="http://schemas.openxmlformats.org/drawingml/2006/main" w="9525">
            <a:solidFill>
              <a:srgbClr val="28C69F"/>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650" b="1">
                <a:solidFill>
                  <a:srgbClr val="0D1726"/>
                </a:solidFill>
                <a:latin typeface="DejaVu Sans"/>
                <a:ea typeface="DejaVu Sans"/>
                <a:cs typeface="DejaVu Sans"/>
              </a:defRPr>
            </a:pPr>
            <a:r>
              <a:rPr sz="1650" b="1">
                <a:solidFill>
                  <a:srgbClr val="0D1726"/>
                </a:solidFill>
                <a:latin typeface="DejaVu Sans"/>
                <a:ea typeface="DejaVu Sans"/>
                <a:cs typeface="DejaVu Sans"/>
              </a:rPr>
              <a:t>Modell A · 24 €</a:t>
            </a:r>
          </a:p>
          <a:p xmlns:a="http://schemas.openxmlformats.org/drawingml/2006/main">
            <a:pPr algn="ctr">
              <a:lnSpc>
                <a:spcPct val="108000"/>
              </a:lnSpc>
              <a:buNone/>
              <a:defRPr sz="1650" b="1">
                <a:solidFill>
                  <a:srgbClr val="0D1726"/>
                </a:solidFill>
                <a:latin typeface="DejaVu Sans"/>
                <a:ea typeface="DejaVu Sans"/>
                <a:cs typeface="DejaVu Sans"/>
              </a:defRPr>
            </a:pPr>
            <a:r>
              <a:rPr sz="1650" b="1">
                <a:solidFill>
                  <a:srgbClr val="0D1726"/>
                </a:solidFill>
                <a:latin typeface="DejaVu Sans"/>
                <a:ea typeface="DejaVu Sans"/>
                <a:cs typeface="DejaVu Sans"/>
              </a:rPr>
              <a:t>guter Klang · nicht reparierbar</a:t>
            </a:r>
          </a:p>
        </p:txBody>
      </p:sp>
      <p:sp>
        <p:nvSpPr>
          <p:cNvPr id="5" name="">
            <a:extLst xmlns:a="http://schemas.openxmlformats.org/drawingml/2006/main">
              <a:ext uri="{FF2B5EF4-FFF2-40B4-BE49-F238E27FC236}">
                <a16:creationId xmlns:a16="http://schemas.microsoft.com/office/drawing/2014/main" id="{1F77A54F-7245-4DF8-82CE-77E1B794A990}"/>
              </a:ext>
            </a:extLst>
          </p:cNvPr>
          <p:cNvSpPr>
            <a:spLocks xmlns:a="http://schemas.openxmlformats.org/drawingml/2006/main" noGrp="1"/>
          </p:cNvSpPr>
          <p:nvPr/>
        </p:nvSpPr>
        <p:spPr>
          <a:xfrm xmlns:a="http://schemas.openxmlformats.org/drawingml/2006/main">
            <a:off x="4267200" y="3333750"/>
            <a:ext cx="3657600" cy="1200150"/>
          </a:xfrm>
          <a:prstGeom xmlns:a="http://schemas.openxmlformats.org/drawingml/2006/main" prst="roundRect">
            <a:avLst>
              <a:gd name="adj" fmla="val 14286"/>
            </a:avLst>
          </a:prstGeom>
          <a:solidFill xmlns:a="http://schemas.openxmlformats.org/drawingml/2006/main">
            <a:srgbClr val="EAF0FF"/>
          </a:solidFill>
          <a:ln xmlns:a="http://schemas.openxmlformats.org/drawingml/2006/main" w="9525">
            <a:solidFill>
              <a:srgbClr val="6E8BF7"/>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650" b="1">
                <a:solidFill>
                  <a:srgbClr val="0D1726"/>
                </a:solidFill>
                <a:latin typeface="DejaVu Sans"/>
                <a:ea typeface="DejaVu Sans"/>
                <a:cs typeface="DejaVu Sans"/>
              </a:defRPr>
            </a:pPr>
            <a:r>
              <a:rPr sz="1650" b="1">
                <a:solidFill>
                  <a:srgbClr val="0D1726"/>
                </a:solidFill>
                <a:latin typeface="DejaVu Sans"/>
                <a:ea typeface="DejaVu Sans"/>
                <a:cs typeface="DejaVu Sans"/>
              </a:rPr>
              <a:t>Modell B · 39 €</a:t>
            </a:r>
          </a:p>
          <a:p xmlns:a="http://schemas.openxmlformats.org/drawingml/2006/main">
            <a:pPr algn="ctr">
              <a:lnSpc>
                <a:spcPct val="108000"/>
              </a:lnSpc>
              <a:buNone/>
              <a:defRPr sz="1650" b="1">
                <a:solidFill>
                  <a:srgbClr val="0D1726"/>
                </a:solidFill>
                <a:latin typeface="DejaVu Sans"/>
                <a:ea typeface="DejaVu Sans"/>
                <a:cs typeface="DejaVu Sans"/>
              </a:defRPr>
            </a:pPr>
            <a:r>
              <a:rPr sz="1650" b="1">
                <a:solidFill>
                  <a:srgbClr val="0D1726"/>
                </a:solidFill>
                <a:latin typeface="DejaVu Sans"/>
                <a:ea typeface="DejaVu Sans"/>
                <a:cs typeface="DejaVu Sans"/>
              </a:rPr>
              <a:t>guter Klang · Ersatzteile erhältlich</a:t>
            </a:r>
          </a:p>
        </p:txBody>
      </p:sp>
      <p:sp>
        <p:nvSpPr>
          <p:cNvPr id="6" name="">
            <a:extLst xmlns:a="http://schemas.openxmlformats.org/drawingml/2006/main">
              <a:ext uri="{FF2B5EF4-FFF2-40B4-BE49-F238E27FC236}">
                <a16:creationId xmlns:a16="http://schemas.microsoft.com/office/drawing/2014/main" id="{DD5461E0-8D7B-4DC9-8351-41D0594F0F43}"/>
              </a:ext>
            </a:extLst>
          </p:cNvPr>
          <p:cNvSpPr>
            <a:spLocks xmlns:a="http://schemas.openxmlformats.org/drawingml/2006/main" noGrp="1"/>
          </p:cNvSpPr>
          <p:nvPr/>
        </p:nvSpPr>
        <p:spPr>
          <a:xfrm xmlns:a="http://schemas.openxmlformats.org/drawingml/2006/main">
            <a:off x="8267700" y="3333750"/>
            <a:ext cx="3238500" cy="1200150"/>
          </a:xfrm>
          <a:prstGeom xmlns:a="http://schemas.openxmlformats.org/drawingml/2006/main" prst="roundRect">
            <a:avLst>
              <a:gd name="adj" fmla="val 14286"/>
            </a:avLst>
          </a:prstGeom>
          <a:solidFill xmlns:a="http://schemas.openxmlformats.org/drawingml/2006/main">
            <a:srgbClr val="FFF4D7"/>
          </a:solidFill>
          <a:ln xmlns:a="http://schemas.openxmlformats.org/drawingml/2006/main" w="9525">
            <a:solidFill>
              <a:srgbClr val="E7B84B"/>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lnSpc>
                <a:spcPct val="108000"/>
              </a:lnSpc>
              <a:buNone/>
              <a:defRPr sz="1650" b="1">
                <a:solidFill>
                  <a:srgbClr val="0D1726"/>
                </a:solidFill>
                <a:latin typeface="DejaVu Sans"/>
                <a:ea typeface="DejaVu Sans"/>
                <a:cs typeface="DejaVu Sans"/>
              </a:defRPr>
            </a:pPr>
            <a:r>
              <a:rPr sz="1650" b="1">
                <a:solidFill>
                  <a:srgbClr val="0D1726"/>
                </a:solidFill>
                <a:latin typeface="DejaVu Sans"/>
                <a:ea typeface="DejaVu Sans"/>
                <a:cs typeface="DejaVu Sans"/>
              </a:rPr>
              <a:t>Alternative</a:t>
            </a:r>
          </a:p>
          <a:p xmlns:a="http://schemas.openxmlformats.org/drawingml/2006/main">
            <a:pPr algn="ctr">
              <a:lnSpc>
                <a:spcPct val="108000"/>
              </a:lnSpc>
              <a:buNone/>
              <a:defRPr sz="1650" b="1">
                <a:solidFill>
                  <a:srgbClr val="0D1726"/>
                </a:solidFill>
                <a:latin typeface="DejaVu Sans"/>
                <a:ea typeface="DejaVu Sans"/>
                <a:cs typeface="DejaVu Sans"/>
              </a:defRPr>
            </a:pPr>
            <a:r>
              <a:rPr sz="1650" b="1">
                <a:solidFill>
                  <a:srgbClr val="0D1726"/>
                </a:solidFill>
                <a:latin typeface="DejaVu Sans"/>
                <a:ea typeface="DejaVu Sans"/>
                <a:cs typeface="DejaVu Sans"/>
              </a:rPr>
              <a:t>alte Kopfhörer reparieren · 15 €</a:t>
            </a:r>
          </a:p>
        </p:txBody>
      </p:sp>
      <p:sp>
        <p:nvSpPr>
          <p:cNvPr id="7" name="">
            <a:extLst xmlns:a="http://schemas.openxmlformats.org/drawingml/2006/main">
              <a:ext uri="{FF2B5EF4-FFF2-40B4-BE49-F238E27FC236}">
                <a16:creationId xmlns:a16="http://schemas.microsoft.com/office/drawing/2014/main" id="{CE85D111-DBBD-492D-88CE-3495AD9D1801}"/>
              </a:ext>
            </a:extLst>
          </p:cNvPr>
          <p:cNvSpPr>
            <a:spLocks xmlns:a="http://schemas.openxmlformats.org/drawingml/2006/main" noGrp="1"/>
          </p:cNvSpPr>
          <p:nvPr/>
        </p:nvSpPr>
        <p:spPr>
          <a:xfrm xmlns:a="http://schemas.openxmlformats.org/drawingml/2006/main">
            <a:off x="6572250" y="1524000"/>
            <a:ext cx="4762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650" b="1">
                <a:solidFill>
                  <a:srgbClr val="17324A"/>
                </a:solidFill>
                <a:latin typeface="DejaVu Sans"/>
                <a:ea typeface="DejaVu Sans"/>
                <a:cs typeface="DejaVu Sans"/>
              </a:defRPr>
            </a:pPr>
            <a:r>
              <a:rPr sz="1650" b="1">
                <a:solidFill>
                  <a:srgbClr val="17324A"/>
                </a:solidFill>
                <a:latin typeface="DejaVu Sans"/>
                <a:ea typeface="DejaVu Sans"/>
                <a:cs typeface="DejaVu Sans"/>
              </a:rPr>
              <a:t>1  Benenne Bedürfnis, Bedarf und mögliche Nachfrage.</a:t>
            </a:r>
          </a:p>
          <a:p xmlns:a="http://schemas.openxmlformats.org/drawingml/2006/main">
            <a:pPr algn="l">
              <a:lnSpc>
                <a:spcPct val="135000"/>
              </a:lnSpc>
              <a:buNone/>
              <a:defRPr sz="1650" b="1">
                <a:solidFill>
                  <a:srgbClr val="17324A"/>
                </a:solidFill>
                <a:latin typeface="DejaVu Sans"/>
                <a:ea typeface="DejaVu Sans"/>
                <a:cs typeface="DejaVu Sans"/>
              </a:defRPr>
            </a:pPr>
            <a:r>
              <a:rPr sz="1650" b="1">
                <a:solidFill>
                  <a:srgbClr val="17324A"/>
                </a:solidFill>
                <a:latin typeface="DejaVu Sans"/>
                <a:ea typeface="DejaVu Sans"/>
                <a:cs typeface="DejaVu Sans"/>
              </a:rPr>
              <a:t>2  Notiere vier Einflussfaktoren.</a:t>
            </a:r>
          </a:p>
          <a:p xmlns:a="http://schemas.openxmlformats.org/drawingml/2006/main">
            <a:pPr algn="l">
              <a:lnSpc>
                <a:spcPct val="135000"/>
              </a:lnSpc>
              <a:buNone/>
              <a:defRPr sz="1650" b="1">
                <a:solidFill>
                  <a:srgbClr val="17324A"/>
                </a:solidFill>
                <a:latin typeface="DejaVu Sans"/>
                <a:ea typeface="DejaVu Sans"/>
                <a:cs typeface="DejaVu Sans"/>
              </a:defRPr>
            </a:pPr>
            <a:r>
              <a:rPr sz="1650" b="1">
                <a:solidFill>
                  <a:srgbClr val="17324A"/>
                </a:solidFill>
                <a:latin typeface="DejaVu Sans"/>
                <a:ea typeface="DejaVu Sans"/>
                <a:cs typeface="DejaVu Sans"/>
              </a:rPr>
              <a:t>3  Entscheide und begründe mit Preis, Nutzen und Folgen.</a:t>
            </a:r>
          </a:p>
        </p:txBody>
      </p:sp>
      <p:sp>
        <p:nvSpPr>
          <p:cNvPr id="8" name="">
            <a:extLst xmlns:a="http://schemas.openxmlformats.org/drawingml/2006/main">
              <a:ext uri="{FF2B5EF4-FFF2-40B4-BE49-F238E27FC236}">
                <a16:creationId xmlns:a16="http://schemas.microsoft.com/office/drawing/2014/main" id="{541AA6D5-8EF1-4080-904B-1E8760F7316E}"/>
              </a:ext>
            </a:extLst>
          </p:cNvPr>
          <p:cNvSpPr>
            <a:spLocks xmlns:a="http://schemas.openxmlformats.org/drawingml/2006/main" noGrp="1"/>
          </p:cNvSpPr>
          <p:nvPr/>
        </p:nvSpPr>
        <p:spPr>
          <a:xfrm xmlns:a="http://schemas.openxmlformats.org/drawingml/2006/main">
            <a:off x="685800" y="535305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800" b="1">
                <a:solidFill>
                  <a:srgbClr val="E06B5F"/>
                </a:solidFill>
                <a:latin typeface="DejaVu Sans"/>
                <a:ea typeface="DejaVu Sans"/>
                <a:cs typeface="DejaVu Sans"/>
              </a:defRPr>
            </a:pPr>
            <a:r>
              <a:rPr sz="1800" b="1">
                <a:solidFill>
                  <a:srgbClr val="E06B5F"/>
                </a:solidFill>
                <a:latin typeface="DejaVu Sans"/>
                <a:ea typeface="DejaVu Sans"/>
                <a:cs typeface="DejaVu Sans"/>
              </a:rPr>
              <a:t>Arbeitsblatt, Aufgabe 5</a:t>
            </a:r>
          </a:p>
        </p:txBody>
      </p:sp>
      <p:sp>
        <p:nvSpPr>
          <p:cNvPr id="9" name="">
            <a:extLst xmlns:a="http://schemas.openxmlformats.org/drawingml/2006/main">
              <a:ext uri="{FF2B5EF4-FFF2-40B4-BE49-F238E27FC236}">
                <a16:creationId xmlns:a16="http://schemas.microsoft.com/office/drawing/2014/main" id="{B89622A1-D1AE-40A5-A33D-BD487C748CB5}"/>
              </a:ext>
            </a:extLst>
          </p:cNvPr>
          <p:cNvSpPr>
            <a:spLocks xmlns:a="http://schemas.openxmlformats.org/drawingml/2006/main" noGrp="1"/>
          </p:cNvSpPr>
          <p:nvPr/>
        </p:nvSpPr>
        <p:spPr>
          <a:xfrm xmlns:a="http://schemas.openxmlformats.org/drawingml/2006/main">
            <a:off x="666750" y="6553200"/>
            <a:ext cx="3429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Wirtschaft · Beruf · Klasse 7</a:t>
            </a:r>
          </a:p>
        </p:txBody>
      </p:sp>
      <p:sp>
        <p:nvSpPr>
          <p:cNvPr id="10" name="">
            <a:extLst xmlns:a="http://schemas.openxmlformats.org/drawingml/2006/main">
              <a:ext uri="{FF2B5EF4-FFF2-40B4-BE49-F238E27FC236}">
                <a16:creationId xmlns:a16="http://schemas.microsoft.com/office/drawing/2014/main" id="{CD049CEF-C452-4D84-83B9-38D461E509AF}"/>
              </a:ext>
            </a:extLst>
          </p:cNvPr>
          <p:cNvSpPr>
            <a:spLocks xmlns:a="http://schemas.openxmlformats.org/drawingml/2006/main" noGrp="1"/>
          </p:cNvSpPr>
          <p:nvPr/>
        </p:nvSpPr>
        <p:spPr>
          <a:xfrm xmlns:a="http://schemas.openxmlformats.org/drawingml/2006/main">
            <a:off x="11239500" y="655320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15</a:t>
            </a:r>
          </a:p>
        </p:txBody>
      </p:sp>
    </p:spTree>
    <p:extLst>
      <p:ext uri="{BB962C8B-B14F-4D97-AF65-F5344CB8AC3E}">
        <p14:creationId xmlns:p14="http://schemas.microsoft.com/office/powerpoint/2010/main" val="833668570"/>
      </p:ext>
    </p:extLst>
  </p:cSld>
</p:sld>
</file>

<file path=ppt/slides/slide1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BE6A0CA-D02B-40F3-8E51-48B5AE59C749}"/>
              </a:ext>
            </a:extLst>
          </p:cNvPr>
          <p:cNvSpPr>
            <a:spLocks xmlns:a="http://schemas.openxmlformats.org/drawingml/2006/main" noGrp="1"/>
          </p:cNvSpPr>
          <p:nvPr/>
        </p:nvSpPr>
        <p:spPr>
          <a:xfrm xmlns:a="http://schemas.openxmlformats.org/drawingml/2006/main">
            <a:off x="666750" y="361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75" b="1">
                <a:solidFill>
                  <a:srgbClr val="28C69F"/>
                </a:solidFill>
                <a:latin typeface="DejaVu Sans"/>
                <a:ea typeface="DejaVu Sans"/>
                <a:cs typeface="DejaVu Sans"/>
              </a:defRPr>
            </a:pPr>
            <a:r>
              <a:rPr sz="975" b="1">
                <a:solidFill>
                  <a:srgbClr val="28C69F"/>
                </a:solidFill>
                <a:latin typeface="DejaVu Sans"/>
                <a:ea typeface="DejaVu Sans"/>
                <a:cs typeface="DejaVu Sans"/>
              </a:rPr>
              <a:t>SICHERUNG</a:t>
            </a:r>
          </a:p>
        </p:txBody>
      </p:sp>
      <p:sp>
        <p:nvSpPr>
          <p:cNvPr id="2" name="">
            <a:extLst xmlns:a="http://schemas.openxmlformats.org/drawingml/2006/main">
              <a:ext uri="{FF2B5EF4-FFF2-40B4-BE49-F238E27FC236}">
                <a16:creationId xmlns:a16="http://schemas.microsoft.com/office/drawing/2014/main" id="{35D80935-BA8F-4B43-84E7-E158513C461C}"/>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000" b="1">
                <a:solidFill>
                  <a:srgbClr val="0D1726"/>
                </a:solidFill>
                <a:latin typeface="DejaVu Sans"/>
                <a:ea typeface="DejaVu Sans"/>
                <a:cs typeface="DejaVu Sans"/>
              </a:defRPr>
            </a:pPr>
            <a:r>
              <a:rPr sz="3000" b="1">
                <a:solidFill>
                  <a:srgbClr val="0D1726"/>
                </a:solidFill>
                <a:latin typeface="DejaVu Sans"/>
                <a:ea typeface="DejaVu Sans"/>
                <a:cs typeface="DejaVu Sans"/>
              </a:rPr>
              <a:t>Zum Schluss: vier Sätze</a:t>
            </a:r>
          </a:p>
        </p:txBody>
      </p:sp>
      <p:sp>
        <p:nvSpPr>
          <p:cNvPr id="3" name="">
            <a:extLst xmlns:a="http://schemas.openxmlformats.org/drawingml/2006/main">
              <a:ext uri="{FF2B5EF4-FFF2-40B4-BE49-F238E27FC236}">
                <a16:creationId xmlns:a16="http://schemas.microsoft.com/office/drawing/2014/main" id="{42F48970-84C0-4E87-841E-89300682D801}"/>
              </a:ext>
            </a:extLst>
          </p:cNvPr>
          <p:cNvSpPr>
            <a:spLocks xmlns:a="http://schemas.openxmlformats.org/drawingml/2006/main" noGrp="1"/>
          </p:cNvSpPr>
          <p:nvPr/>
        </p:nvSpPr>
        <p:spPr>
          <a:xfrm xmlns:a="http://schemas.openxmlformats.org/drawingml/2006/main">
            <a:off x="1047750" y="1504950"/>
            <a:ext cx="10096500" cy="723900"/>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9525">
            <a:solidFill>
              <a:srgbClr val="DDE3EA"/>
            </a:solidFill>
            <a:prstDash val="solid"/>
          </a:ln>
        </p:spPr>
        <p:txBody>
          <a:bodyPr xmlns:a="http://schemas.openxmlformats.org/drawingml/2006/main" wrap="square" lIns="209550" tIns="114300" rIns="190500" bIns="114300" anchor="ctr">
            <a:noAutofit/>
          </a:bodyPr>
          <a:lstStyle xmlns:a="http://schemas.openxmlformats.org/drawingml/2006/main"/>
          <a:p xmlns:a="http://schemas.openxmlformats.org/drawingml/2006/main">
            <a:pPr algn="l">
              <a:lnSpc>
                <a:spcPct val="108000"/>
              </a:lnSpc>
              <a:buNone/>
              <a:defRPr sz="1725" b="1">
                <a:solidFill>
                  <a:srgbClr val="0D1726"/>
                </a:solidFill>
                <a:latin typeface="DejaVu Sans"/>
                <a:ea typeface="DejaVu Sans"/>
                <a:cs typeface="DejaVu Sans"/>
              </a:defRPr>
            </a:pPr>
            <a:r>
              <a:rPr sz="1725" b="1">
                <a:solidFill>
                  <a:srgbClr val="0D1726"/>
                </a:solidFill>
                <a:latin typeface="DejaVu Sans"/>
                <a:ea typeface="DejaVu Sans"/>
                <a:cs typeface="DejaVu Sans"/>
              </a:rPr>
              <a:t>1  Ein Konsument ist ...</a:t>
            </a:r>
          </a:p>
        </p:txBody>
      </p:sp>
      <p:sp>
        <p:nvSpPr>
          <p:cNvPr id="4" name="">
            <a:extLst xmlns:a="http://schemas.openxmlformats.org/drawingml/2006/main">
              <a:ext uri="{FF2B5EF4-FFF2-40B4-BE49-F238E27FC236}">
                <a16:creationId xmlns:a16="http://schemas.microsoft.com/office/drawing/2014/main" id="{55821D32-1436-47D0-82B1-672EBC3E4978}"/>
              </a:ext>
            </a:extLst>
          </p:cNvPr>
          <p:cNvSpPr>
            <a:spLocks xmlns:a="http://schemas.openxmlformats.org/drawingml/2006/main" noGrp="1"/>
          </p:cNvSpPr>
          <p:nvPr/>
        </p:nvSpPr>
        <p:spPr>
          <a:xfrm xmlns:a="http://schemas.openxmlformats.org/drawingml/2006/main">
            <a:off x="1047750" y="2533650"/>
            <a:ext cx="10096500" cy="723900"/>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9525">
            <a:solidFill>
              <a:srgbClr val="DDE3EA"/>
            </a:solidFill>
            <a:prstDash val="solid"/>
          </a:ln>
        </p:spPr>
        <p:txBody>
          <a:bodyPr xmlns:a="http://schemas.openxmlformats.org/drawingml/2006/main" wrap="square" lIns="209550" tIns="114300" rIns="190500" bIns="114300" anchor="ctr">
            <a:noAutofit/>
          </a:bodyPr>
          <a:lstStyle xmlns:a="http://schemas.openxmlformats.org/drawingml/2006/main"/>
          <a:p xmlns:a="http://schemas.openxmlformats.org/drawingml/2006/main">
            <a:pPr algn="l">
              <a:lnSpc>
                <a:spcPct val="108000"/>
              </a:lnSpc>
              <a:buNone/>
              <a:defRPr sz="1725" b="1">
                <a:solidFill>
                  <a:srgbClr val="0D1726"/>
                </a:solidFill>
                <a:latin typeface="DejaVu Sans"/>
                <a:ea typeface="DejaVu Sans"/>
                <a:cs typeface="DejaVu Sans"/>
              </a:defRPr>
            </a:pPr>
            <a:r>
              <a:rPr sz="1725" b="1">
                <a:solidFill>
                  <a:srgbClr val="0D1726"/>
                </a:solidFill>
                <a:latin typeface="DejaVu Sans"/>
                <a:ea typeface="DejaVu Sans"/>
                <a:cs typeface="DejaVu Sans"/>
              </a:rPr>
              <a:t>2  Knappheit führt dazu, dass ...</a:t>
            </a:r>
          </a:p>
        </p:txBody>
      </p:sp>
      <p:sp>
        <p:nvSpPr>
          <p:cNvPr id="5" name="">
            <a:extLst xmlns:a="http://schemas.openxmlformats.org/drawingml/2006/main">
              <a:ext uri="{FF2B5EF4-FFF2-40B4-BE49-F238E27FC236}">
                <a16:creationId xmlns:a16="http://schemas.microsoft.com/office/drawing/2014/main" id="{877EB21F-81A1-45B9-A815-DBEAE56A23FE}"/>
              </a:ext>
            </a:extLst>
          </p:cNvPr>
          <p:cNvSpPr>
            <a:spLocks xmlns:a="http://schemas.openxmlformats.org/drawingml/2006/main" noGrp="1"/>
          </p:cNvSpPr>
          <p:nvPr/>
        </p:nvSpPr>
        <p:spPr>
          <a:xfrm xmlns:a="http://schemas.openxmlformats.org/drawingml/2006/main">
            <a:off x="1047750" y="3562350"/>
            <a:ext cx="10096500" cy="723900"/>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9525">
            <a:solidFill>
              <a:srgbClr val="DDE3EA"/>
            </a:solidFill>
            <a:prstDash val="solid"/>
          </a:ln>
        </p:spPr>
        <p:txBody>
          <a:bodyPr xmlns:a="http://schemas.openxmlformats.org/drawingml/2006/main" wrap="square" lIns="209550" tIns="114300" rIns="190500" bIns="114300" anchor="ctr">
            <a:noAutofit/>
          </a:bodyPr>
          <a:lstStyle xmlns:a="http://schemas.openxmlformats.org/drawingml/2006/main"/>
          <a:p xmlns:a="http://schemas.openxmlformats.org/drawingml/2006/main">
            <a:pPr algn="l">
              <a:lnSpc>
                <a:spcPct val="108000"/>
              </a:lnSpc>
              <a:buNone/>
              <a:defRPr sz="1725" b="1">
                <a:solidFill>
                  <a:srgbClr val="0D1726"/>
                </a:solidFill>
                <a:latin typeface="DejaVu Sans"/>
                <a:ea typeface="DejaVu Sans"/>
                <a:cs typeface="DejaVu Sans"/>
              </a:defRPr>
            </a:pPr>
            <a:r>
              <a:rPr sz="1725" b="1">
                <a:solidFill>
                  <a:srgbClr val="0D1726"/>
                </a:solidFill>
                <a:latin typeface="DejaVu Sans"/>
                <a:ea typeface="DejaVu Sans"/>
                <a:cs typeface="DejaVu Sans"/>
              </a:rPr>
              <a:t>3  Minimum- und Maximumprinzip unterscheiden sich, weil ...</a:t>
            </a:r>
          </a:p>
        </p:txBody>
      </p:sp>
      <p:sp>
        <p:nvSpPr>
          <p:cNvPr id="6" name="">
            <a:extLst xmlns:a="http://schemas.openxmlformats.org/drawingml/2006/main">
              <a:ext uri="{FF2B5EF4-FFF2-40B4-BE49-F238E27FC236}">
                <a16:creationId xmlns:a16="http://schemas.microsoft.com/office/drawing/2014/main" id="{42B7A7D4-D5CA-4F82-98A3-F1C1EAF1F3A8}"/>
              </a:ext>
            </a:extLst>
          </p:cNvPr>
          <p:cNvSpPr>
            <a:spLocks xmlns:a="http://schemas.openxmlformats.org/drawingml/2006/main" noGrp="1"/>
          </p:cNvSpPr>
          <p:nvPr/>
        </p:nvSpPr>
        <p:spPr>
          <a:xfrm xmlns:a="http://schemas.openxmlformats.org/drawingml/2006/main">
            <a:off x="1047750" y="4591050"/>
            <a:ext cx="10096500" cy="723900"/>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9525">
            <a:solidFill>
              <a:srgbClr val="28C69F"/>
            </a:solidFill>
            <a:prstDash val="solid"/>
          </a:ln>
        </p:spPr>
        <p:txBody>
          <a:bodyPr xmlns:a="http://schemas.openxmlformats.org/drawingml/2006/main" wrap="square" lIns="209550" tIns="114300" rIns="190500" bIns="114300" anchor="ctr">
            <a:noAutofit/>
          </a:bodyPr>
          <a:lstStyle xmlns:a="http://schemas.openxmlformats.org/drawingml/2006/main"/>
          <a:p xmlns:a="http://schemas.openxmlformats.org/drawingml/2006/main">
            <a:pPr algn="l">
              <a:lnSpc>
                <a:spcPct val="108000"/>
              </a:lnSpc>
              <a:buNone/>
              <a:defRPr sz="1725" b="1">
                <a:solidFill>
                  <a:srgbClr val="0D1726"/>
                </a:solidFill>
                <a:latin typeface="DejaVu Sans"/>
                <a:ea typeface="DejaVu Sans"/>
                <a:cs typeface="DejaVu Sans"/>
              </a:defRPr>
            </a:pPr>
            <a:r>
              <a:rPr sz="1725" b="1">
                <a:solidFill>
                  <a:srgbClr val="0D1726"/>
                </a:solidFill>
                <a:latin typeface="DejaVu Sans"/>
                <a:ea typeface="DejaVu Sans"/>
                <a:cs typeface="DejaVu Sans"/>
              </a:rPr>
              <a:t>4  Meine nächste Kaufentscheidung prüfe ich mit ...</a:t>
            </a:r>
          </a:p>
        </p:txBody>
      </p:sp>
      <p:sp>
        <p:nvSpPr>
          <p:cNvPr id="7" name="">
            <a:extLst xmlns:a="http://schemas.openxmlformats.org/drawingml/2006/main">
              <a:ext uri="{FF2B5EF4-FFF2-40B4-BE49-F238E27FC236}">
                <a16:creationId xmlns:a16="http://schemas.microsoft.com/office/drawing/2014/main" id="{C71E0195-C323-45FB-86EB-503D99B05A26}"/>
              </a:ext>
            </a:extLst>
          </p:cNvPr>
          <p:cNvSpPr>
            <a:spLocks xmlns:a="http://schemas.openxmlformats.org/drawingml/2006/main" noGrp="1"/>
          </p:cNvSpPr>
          <p:nvPr/>
        </p:nvSpPr>
        <p:spPr>
          <a:xfrm xmlns:a="http://schemas.openxmlformats.org/drawingml/2006/main">
            <a:off x="1714500" y="5905500"/>
            <a:ext cx="876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00" b="1">
                <a:solidFill>
                  <a:srgbClr val="28C69F"/>
                </a:solidFill>
                <a:latin typeface="DejaVu Sans"/>
                <a:ea typeface="DejaVu Sans"/>
                <a:cs typeface="DejaVu Sans"/>
              </a:defRPr>
            </a:pPr>
            <a:r>
              <a:rPr sz="1500" b="1">
                <a:solidFill>
                  <a:srgbClr val="28C69F"/>
                </a:solidFill>
                <a:latin typeface="DejaVu Sans"/>
                <a:ea typeface="DejaVu Sans"/>
                <a:cs typeface="DejaVu Sans"/>
              </a:rPr>
              <a:t>Begriffe verbinden · Entscheidung begründen · Folgen mitdenken</a:t>
            </a:r>
          </a:p>
        </p:txBody>
      </p:sp>
      <p:sp>
        <p:nvSpPr>
          <p:cNvPr id="8" name="">
            <a:extLst xmlns:a="http://schemas.openxmlformats.org/drawingml/2006/main">
              <a:ext uri="{FF2B5EF4-FFF2-40B4-BE49-F238E27FC236}">
                <a16:creationId xmlns:a16="http://schemas.microsoft.com/office/drawing/2014/main" id="{60BF2158-856C-47B4-8DE4-63E6F7169389}"/>
              </a:ext>
            </a:extLst>
          </p:cNvPr>
          <p:cNvSpPr>
            <a:spLocks xmlns:a="http://schemas.openxmlformats.org/drawingml/2006/main" noGrp="1"/>
          </p:cNvSpPr>
          <p:nvPr/>
        </p:nvSpPr>
        <p:spPr>
          <a:xfrm xmlns:a="http://schemas.openxmlformats.org/drawingml/2006/main">
            <a:off x="666750" y="6553200"/>
            <a:ext cx="3429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Wirtschaft · Beruf · Klasse 7</a:t>
            </a:r>
          </a:p>
        </p:txBody>
      </p:sp>
      <p:sp>
        <p:nvSpPr>
          <p:cNvPr id="9" name="">
            <a:extLst xmlns:a="http://schemas.openxmlformats.org/drawingml/2006/main">
              <a:ext uri="{FF2B5EF4-FFF2-40B4-BE49-F238E27FC236}">
                <a16:creationId xmlns:a16="http://schemas.microsoft.com/office/drawing/2014/main" id="{0904F6C3-E151-4FDB-A1C9-BA116ED98E66}"/>
              </a:ext>
            </a:extLst>
          </p:cNvPr>
          <p:cNvSpPr>
            <a:spLocks xmlns:a="http://schemas.openxmlformats.org/drawingml/2006/main" noGrp="1"/>
          </p:cNvSpPr>
          <p:nvPr/>
        </p:nvSpPr>
        <p:spPr>
          <a:xfrm xmlns:a="http://schemas.openxmlformats.org/drawingml/2006/main">
            <a:off x="11239500" y="655320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675" b="0">
                <a:solidFill>
                  <a:srgbClr val="8A94A3"/>
                </a:solidFill>
                <a:latin typeface="DejaVu Sans"/>
                <a:ea typeface="DejaVu Sans"/>
                <a:cs typeface="DejaVu Sans"/>
              </a:defRPr>
            </a:pPr>
            <a:r>
              <a:rPr sz="675" b="0">
                <a:solidFill>
                  <a:srgbClr val="8A94A3"/>
                </a:solidFill>
                <a:latin typeface="DejaVu Sans"/>
                <a:ea typeface="DejaVu Sans"/>
                <a:cs typeface="DejaVu Sans"/>
              </a:rPr>
              <a:t>16</a:t>
            </a:r>
          </a:p>
        </p:txBody>
      </p:sp>
    </p:spTree>
    <p:extLst>
      <p:ext uri="{BB962C8B-B14F-4D97-AF65-F5344CB8AC3E}">
        <p14:creationId xmlns:p14="http://schemas.microsoft.com/office/powerpoint/2010/main" val="11082559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2026-09-14T20:32:29.8320000Z</dcterms:created>
  <dcterms:modified xsi:type="dcterms:W3CDTF">2026-09-14T20:32:29.8320000Z</dcterms:modified>
</coreProperties>
</file>